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79" r:id="rId2"/>
    <p:sldId id="280" r:id="rId3"/>
    <p:sldId id="281" r:id="rId4"/>
  </p:sldIdLst>
  <p:sldSz cx="9906000" cy="6858000" type="A4"/>
  <p:notesSz cx="6797675" cy="9926638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37" userDrawn="1">
          <p15:clr>
            <a:srgbClr val="A4A3A4"/>
          </p15:clr>
        </p15:guide>
        <p15:guide id="2" pos="3120" userDrawn="1">
          <p15:clr>
            <a:srgbClr val="A4A3A4"/>
          </p15:clr>
        </p15:guide>
        <p15:guide id="3" orient="horz" pos="754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FF33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517" autoAdjust="0"/>
    <p:restoredTop sz="94660"/>
  </p:normalViewPr>
  <p:slideViewPr>
    <p:cSldViewPr snapToGrid="0">
      <p:cViewPr varScale="1">
        <p:scale>
          <a:sx n="160" d="100"/>
          <a:sy n="160" d="100"/>
        </p:scale>
        <p:origin x="750" y="138"/>
      </p:cViewPr>
      <p:guideLst>
        <p:guide orient="horz" pos="2137"/>
        <p:guide pos="3120"/>
        <p:guide orient="horz" pos="754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3224748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0919686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855898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8554436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877045132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701791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74665223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5749762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 편집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4965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95561734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984220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 편집</a:t>
            </a:r>
          </a:p>
          <a:p>
            <a:pPr lvl="1"/>
            <a:r>
              <a:rPr lang="ko-KR" altLang="en-US"/>
              <a:t>둘째 수준</a:t>
            </a:r>
          </a:p>
          <a:p>
            <a:pPr lvl="2"/>
            <a:r>
              <a:rPr lang="ko-KR" altLang="en-US"/>
              <a:t>셋째 수준</a:t>
            </a:r>
          </a:p>
          <a:p>
            <a:pPr lvl="3"/>
            <a:r>
              <a:rPr lang="ko-KR" altLang="en-US"/>
              <a:t>넷째 수준</a:t>
            </a:r>
          </a:p>
          <a:p>
            <a:pPr lvl="4"/>
            <a:r>
              <a:rPr lang="ko-KR" altLang="en-US"/>
              <a:t>다섯째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A1AF11A8-AD3C-42A3-847F-ACACF296C852}" type="datetimeFigureOut">
              <a:rPr lang="ko-KR" altLang="en-US" smtClean="0"/>
              <a:t>2026-10-09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2069F87-D20B-48C9-B2C3-107C9B1A91DB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58145863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BB8F2-5D06-623B-E736-C634F1C565EE}"/>
              </a:ext>
            </a:extLst>
          </p:cNvPr>
          <p:cNvSpPr txBox="1"/>
          <p:nvPr/>
        </p:nvSpPr>
        <p:spPr>
          <a:xfrm>
            <a:off x="231876" y="176073"/>
            <a:ext cx="626004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&gt;&gt;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대기행렬 이론 활용한 시설 </a:t>
            </a:r>
            <a:r>
              <a:rPr lang="ko-KR" alt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수용량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및 혼잡 해소시간 예측 방법 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(1)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5D8D2A7B-A12A-A4A5-3FE1-EDD2040B6E14}"/>
              </a:ext>
            </a:extLst>
          </p:cNvPr>
          <p:cNvSpPr/>
          <p:nvPr/>
        </p:nvSpPr>
        <p:spPr>
          <a:xfrm>
            <a:off x="2610480" y="2918943"/>
            <a:ext cx="2295557" cy="47897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00" dirty="0">
                <a:solidFill>
                  <a:schemeClr val="tx1"/>
                </a:solidFill>
              </a:rPr>
              <a:t>인원</a:t>
            </a:r>
            <a:r>
              <a:rPr lang="en-US" altLang="ko-KR" sz="1400" dirty="0">
                <a:solidFill>
                  <a:schemeClr val="tx1"/>
                </a:solidFill>
              </a:rPr>
              <a:t>(</a:t>
            </a:r>
            <a:r>
              <a:rPr lang="en-US" altLang="ko-KR" sz="1400" dirty="0" err="1">
                <a:solidFill>
                  <a:schemeClr val="tx1"/>
                </a:solidFill>
              </a:rPr>
              <a:t>L_q</a:t>
            </a:r>
            <a:r>
              <a:rPr lang="en-US" altLang="ko-KR" sz="1400" dirty="0">
                <a:solidFill>
                  <a:schemeClr val="tx1"/>
                </a:solidFill>
              </a:rPr>
              <a:t>)</a:t>
            </a:r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AB1886F-1E1A-B5CF-7137-5DB661516FC3}"/>
              </a:ext>
            </a:extLst>
          </p:cNvPr>
          <p:cNvSpPr txBox="1"/>
          <p:nvPr/>
        </p:nvSpPr>
        <p:spPr>
          <a:xfrm>
            <a:off x="1070671" y="2189340"/>
            <a:ext cx="5640822" cy="30976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획득할 정보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유입량</a:t>
            </a:r>
            <a:r>
              <a:rPr lang="en-US" altLang="ko-KR" dirty="0">
                <a:solidFill>
                  <a:schemeClr val="tx1"/>
                </a:solidFill>
              </a:rPr>
              <a:t>),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처리량</a:t>
            </a:r>
            <a:r>
              <a:rPr lang="en-US" altLang="ko-KR" dirty="0">
                <a:solidFill>
                  <a:schemeClr val="tx1"/>
                </a:solidFill>
              </a:rPr>
              <a:t>), </a:t>
            </a:r>
            <a:r>
              <a:rPr lang="ko-KR" altLang="en-US" dirty="0">
                <a:solidFill>
                  <a:schemeClr val="tx1"/>
                </a:solidFill>
              </a:rPr>
              <a:t>인원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en-US" altLang="ko-KR" dirty="0">
                <a:solidFill>
                  <a:schemeClr val="tx1"/>
                </a:solidFill>
              </a:rPr>
              <a:t>), </a:t>
            </a:r>
            <a:r>
              <a:rPr lang="ko-KR" altLang="en-US" dirty="0" err="1">
                <a:solidFill>
                  <a:schemeClr val="tx1"/>
                </a:solidFill>
              </a:rPr>
              <a:t>시설수</a:t>
            </a:r>
            <a:r>
              <a:rPr lang="en-US" altLang="ko-KR" dirty="0">
                <a:solidFill>
                  <a:schemeClr val="tx1"/>
                </a:solidFill>
              </a:rPr>
              <a:t>(s)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A5345086-40DB-0E84-ADEE-4DDBEA2A95E5}"/>
              </a:ext>
            </a:extLst>
          </p:cNvPr>
          <p:cNvSpPr txBox="1"/>
          <p:nvPr/>
        </p:nvSpPr>
        <p:spPr>
          <a:xfrm>
            <a:off x="1299232" y="3003548"/>
            <a:ext cx="85492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람다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l-GR" altLang="ko-KR" sz="1200" dirty="0">
                <a:solidFill>
                  <a:schemeClr val="tx1"/>
                </a:solidFill>
              </a:rPr>
              <a:t>λ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유입량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99FF0AC4-DF85-BD9D-76DD-A11D4B67B21A}"/>
              </a:ext>
            </a:extLst>
          </p:cNvPr>
          <p:cNvSpPr txBox="1"/>
          <p:nvPr/>
        </p:nvSpPr>
        <p:spPr>
          <a:xfrm>
            <a:off x="5910230" y="2998700"/>
            <a:ext cx="979575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뮤</a:t>
            </a:r>
            <a:r>
              <a:rPr lang="en-US" altLang="ko-KR" sz="1200" dirty="0">
                <a:solidFill>
                  <a:schemeClr val="tx1"/>
                </a:solidFill>
              </a:rPr>
              <a:t>(</a:t>
            </a:r>
            <a:r>
              <a:rPr lang="el-GR" altLang="ko-KR" sz="1200" dirty="0">
                <a:solidFill>
                  <a:schemeClr val="tx1"/>
                </a:solidFill>
              </a:rPr>
              <a:t>μ</a:t>
            </a:r>
            <a:r>
              <a:rPr lang="en-US" altLang="ko-KR" sz="1200" dirty="0">
                <a:solidFill>
                  <a:schemeClr val="tx1"/>
                </a:solidFill>
              </a:rPr>
              <a:t>) </a:t>
            </a:r>
          </a:p>
          <a:p>
            <a:pPr algn="ctr"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유출량</a:t>
            </a:r>
          </a:p>
        </p:txBody>
      </p:sp>
      <p:sp>
        <p:nvSpPr>
          <p:cNvPr id="10" name="타원 9">
            <a:extLst>
              <a:ext uri="{FF2B5EF4-FFF2-40B4-BE49-F238E27FC236}">
                <a16:creationId xmlns:a16="http://schemas.microsoft.com/office/drawing/2014/main" id="{2E8D2601-4569-2F28-892B-F050E84096D6}"/>
              </a:ext>
            </a:extLst>
          </p:cNvPr>
          <p:cNvSpPr/>
          <p:nvPr/>
        </p:nvSpPr>
        <p:spPr>
          <a:xfrm>
            <a:off x="5211799" y="2615476"/>
            <a:ext cx="283579" cy="28357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1" name="타원 10">
            <a:extLst>
              <a:ext uri="{FF2B5EF4-FFF2-40B4-BE49-F238E27FC236}">
                <a16:creationId xmlns:a16="http://schemas.microsoft.com/office/drawing/2014/main" id="{32A28827-6C35-C648-8DE5-3FC10739E59E}"/>
              </a:ext>
            </a:extLst>
          </p:cNvPr>
          <p:cNvSpPr/>
          <p:nvPr/>
        </p:nvSpPr>
        <p:spPr>
          <a:xfrm>
            <a:off x="5205048" y="3013761"/>
            <a:ext cx="283579" cy="28357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12" name="타원 11">
            <a:extLst>
              <a:ext uri="{FF2B5EF4-FFF2-40B4-BE49-F238E27FC236}">
                <a16:creationId xmlns:a16="http://schemas.microsoft.com/office/drawing/2014/main" id="{86168AB9-5460-498A-C641-66218FD0EDAD}"/>
              </a:ext>
            </a:extLst>
          </p:cNvPr>
          <p:cNvSpPr/>
          <p:nvPr/>
        </p:nvSpPr>
        <p:spPr>
          <a:xfrm>
            <a:off x="5210834" y="3400472"/>
            <a:ext cx="283579" cy="283579"/>
          </a:xfrm>
          <a:prstGeom prst="ellipse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cxnSp>
        <p:nvCxnSpPr>
          <p:cNvPr id="14" name="직선 화살표 연결선 13">
            <a:extLst>
              <a:ext uri="{FF2B5EF4-FFF2-40B4-BE49-F238E27FC236}">
                <a16:creationId xmlns:a16="http://schemas.microsoft.com/office/drawing/2014/main" id="{C617459F-E259-5A89-52D8-BD17450371E9}"/>
              </a:ext>
            </a:extLst>
          </p:cNvPr>
          <p:cNvCxnSpPr>
            <a:stCxn id="5" idx="3"/>
            <a:endCxn id="10" idx="2"/>
          </p:cNvCxnSpPr>
          <p:nvPr/>
        </p:nvCxnSpPr>
        <p:spPr>
          <a:xfrm flipV="1">
            <a:off x="4906037" y="2757266"/>
            <a:ext cx="305762" cy="40116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직선 화살표 연결선 14">
            <a:extLst>
              <a:ext uri="{FF2B5EF4-FFF2-40B4-BE49-F238E27FC236}">
                <a16:creationId xmlns:a16="http://schemas.microsoft.com/office/drawing/2014/main" id="{50A924AE-45E3-F583-8563-4C1239BAA4FA}"/>
              </a:ext>
            </a:extLst>
          </p:cNvPr>
          <p:cNvCxnSpPr>
            <a:cxnSpLocks/>
            <a:stCxn id="5" idx="3"/>
            <a:endCxn id="11" idx="2"/>
          </p:cNvCxnSpPr>
          <p:nvPr/>
        </p:nvCxnSpPr>
        <p:spPr>
          <a:xfrm flipV="1">
            <a:off x="4906037" y="3155551"/>
            <a:ext cx="299011" cy="2878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0" name="직선 화살표 연결선 19">
            <a:extLst>
              <a:ext uri="{FF2B5EF4-FFF2-40B4-BE49-F238E27FC236}">
                <a16:creationId xmlns:a16="http://schemas.microsoft.com/office/drawing/2014/main" id="{90AA97DE-265F-B51E-3A1D-D5D9A02C1AAD}"/>
              </a:ext>
            </a:extLst>
          </p:cNvPr>
          <p:cNvCxnSpPr>
            <a:cxnSpLocks/>
            <a:stCxn id="5" idx="3"/>
            <a:endCxn id="12" idx="2"/>
          </p:cNvCxnSpPr>
          <p:nvPr/>
        </p:nvCxnSpPr>
        <p:spPr>
          <a:xfrm>
            <a:off x="4906037" y="3158429"/>
            <a:ext cx="304797" cy="383833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직선 화살표 연결선 22">
            <a:extLst>
              <a:ext uri="{FF2B5EF4-FFF2-40B4-BE49-F238E27FC236}">
                <a16:creationId xmlns:a16="http://schemas.microsoft.com/office/drawing/2014/main" id="{C229D53B-8A99-CD00-37E5-8A057B27EAB1}"/>
              </a:ext>
            </a:extLst>
          </p:cNvPr>
          <p:cNvCxnSpPr>
            <a:cxnSpLocks/>
            <a:stCxn id="7" idx="3"/>
            <a:endCxn id="5" idx="1"/>
          </p:cNvCxnSpPr>
          <p:nvPr/>
        </p:nvCxnSpPr>
        <p:spPr>
          <a:xfrm>
            <a:off x="2154153" y="3158429"/>
            <a:ext cx="456327" cy="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0" name="직선 화살표 연결선 29">
            <a:extLst>
              <a:ext uri="{FF2B5EF4-FFF2-40B4-BE49-F238E27FC236}">
                <a16:creationId xmlns:a16="http://schemas.microsoft.com/office/drawing/2014/main" id="{CDF35C41-F7EE-2BBC-C6FC-180F30CCD230}"/>
              </a:ext>
            </a:extLst>
          </p:cNvPr>
          <p:cNvCxnSpPr>
            <a:cxnSpLocks/>
            <a:stCxn id="11" idx="6"/>
            <a:endCxn id="8" idx="1"/>
          </p:cNvCxnSpPr>
          <p:nvPr/>
        </p:nvCxnSpPr>
        <p:spPr>
          <a:xfrm flipV="1">
            <a:off x="5488627" y="3153581"/>
            <a:ext cx="421603" cy="1970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5" name="TextBox 34">
            <a:extLst>
              <a:ext uri="{FF2B5EF4-FFF2-40B4-BE49-F238E27FC236}">
                <a16:creationId xmlns:a16="http://schemas.microsoft.com/office/drawing/2014/main" id="{30D56266-2B0A-9394-26A9-F67D5B979620}"/>
              </a:ext>
            </a:extLst>
          </p:cNvPr>
          <p:cNvSpPr txBox="1"/>
          <p:nvPr/>
        </p:nvSpPr>
        <p:spPr>
          <a:xfrm>
            <a:off x="4625302" y="3652441"/>
            <a:ext cx="145657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ko-KR" altLang="en-US" sz="1200" dirty="0" err="1">
                <a:solidFill>
                  <a:schemeClr val="tx1"/>
                </a:solidFill>
              </a:rPr>
              <a:t>시설수</a:t>
            </a:r>
            <a:r>
              <a:rPr lang="en-US" altLang="ko-KR" sz="1200" dirty="0">
                <a:solidFill>
                  <a:schemeClr val="tx1"/>
                </a:solidFill>
              </a:rPr>
              <a:t>(s)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36" name="TextBox 35">
            <a:extLst>
              <a:ext uri="{FF2B5EF4-FFF2-40B4-BE49-F238E27FC236}">
                <a16:creationId xmlns:a16="http://schemas.microsoft.com/office/drawing/2014/main" id="{C82C506A-0EDC-35B7-9BC9-8C170C1950F8}"/>
              </a:ext>
            </a:extLst>
          </p:cNvPr>
          <p:cNvSpPr txBox="1"/>
          <p:nvPr/>
        </p:nvSpPr>
        <p:spPr>
          <a:xfrm>
            <a:off x="436258" y="521253"/>
            <a:ext cx="9351918" cy="13498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ko-KR" altLang="en-US" dirty="0">
                <a:solidFill>
                  <a:schemeClr val="tx1"/>
                </a:solidFill>
              </a:rPr>
              <a:t>공항운영 시설은 전형적인 </a:t>
            </a:r>
            <a:r>
              <a:rPr lang="en-US" altLang="ko-KR" dirty="0">
                <a:solidFill>
                  <a:schemeClr val="tx1"/>
                </a:solidFill>
              </a:rPr>
              <a:t>M/M/s </a:t>
            </a:r>
            <a:r>
              <a:rPr lang="ko-KR" altLang="en-US" dirty="0">
                <a:solidFill>
                  <a:schemeClr val="tx1"/>
                </a:solidFill>
              </a:rPr>
              <a:t>모형</a:t>
            </a:r>
            <a:r>
              <a:rPr lang="en-US" altLang="ko-KR" dirty="0">
                <a:solidFill>
                  <a:schemeClr val="tx1"/>
                </a:solidFill>
              </a:rPr>
              <a:t>(Erlang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C)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→ </a:t>
            </a:r>
            <a:r>
              <a:rPr lang="ko-KR" altLang="en-US" dirty="0">
                <a:solidFill>
                  <a:schemeClr val="tx1"/>
                </a:solidFill>
              </a:rPr>
              <a:t>큐가 있고 처리시설은 여러 개 형태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- </a:t>
            </a:r>
            <a:r>
              <a:rPr lang="ko-KR" altLang="en-US" dirty="0">
                <a:solidFill>
                  <a:schemeClr val="tx1"/>
                </a:solidFill>
              </a:rPr>
              <a:t>단</a:t>
            </a:r>
            <a:r>
              <a:rPr lang="en-US" altLang="ko-KR" dirty="0">
                <a:solidFill>
                  <a:schemeClr val="tx1"/>
                </a:solidFill>
              </a:rPr>
              <a:t>,   </a:t>
            </a:r>
            <a:r>
              <a:rPr lang="ko-KR" altLang="en-US" dirty="0">
                <a:solidFill>
                  <a:schemeClr val="tx1"/>
                </a:solidFill>
              </a:rPr>
              <a:t>이 모형은 비정상 상황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유입량</a:t>
            </a:r>
            <a:r>
              <a:rPr lang="en-US" altLang="ko-KR" dirty="0">
                <a:solidFill>
                  <a:schemeClr val="tx1"/>
                </a:solidFill>
              </a:rPr>
              <a:t>&gt;</a:t>
            </a:r>
            <a:r>
              <a:rPr lang="ko-KR" altLang="en-US" dirty="0">
                <a:solidFill>
                  <a:schemeClr val="tx1"/>
                </a:solidFill>
              </a:rPr>
              <a:t>처리량</a:t>
            </a:r>
            <a:r>
              <a:rPr lang="en-US" altLang="ko-KR" dirty="0">
                <a:solidFill>
                  <a:schemeClr val="tx1"/>
                </a:solidFill>
              </a:rPr>
              <a:t>) </a:t>
            </a:r>
            <a:r>
              <a:rPr lang="ko-KR" altLang="en-US" dirty="0">
                <a:solidFill>
                  <a:schemeClr val="tx1"/>
                </a:solidFill>
              </a:rPr>
              <a:t>경우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인원이 계속 증가하여 대기시간이 발산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az-Cyrl-AZ" altLang="ko-KR" dirty="0">
                <a:solidFill>
                  <a:schemeClr val="tx1"/>
                </a:solidFill>
              </a:rPr>
              <a:t>ꚙ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함</a:t>
            </a:r>
            <a:r>
              <a:rPr lang="en-US" altLang="ko-KR" dirty="0">
                <a:solidFill>
                  <a:schemeClr val="tx1"/>
                </a:solidFill>
              </a:rPr>
              <a:t>. </a:t>
            </a:r>
            <a:r>
              <a:rPr lang="ko-KR" altLang="en-US" dirty="0">
                <a:solidFill>
                  <a:schemeClr val="tx1"/>
                </a:solidFill>
              </a:rPr>
              <a:t>계산 대안 필요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1. Erlang C → </a:t>
            </a:r>
            <a:r>
              <a:rPr lang="ko-KR" altLang="en-US" dirty="0" err="1">
                <a:solidFill>
                  <a:schemeClr val="tx1"/>
                </a:solidFill>
              </a:rPr>
              <a:t>에를랑</a:t>
            </a:r>
            <a:r>
              <a:rPr lang="en-US" altLang="ko-KR" dirty="0">
                <a:solidFill>
                  <a:schemeClr val="tx1"/>
                </a:solidFill>
              </a:rPr>
              <a:t>a =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/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 , T = C(s,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a) / (s*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), </a:t>
            </a:r>
            <a:r>
              <a:rPr lang="ko-KR" altLang="en-US" dirty="0">
                <a:solidFill>
                  <a:schemeClr val="tx1"/>
                </a:solidFill>
              </a:rPr>
              <a:t>부하</a:t>
            </a:r>
            <a:r>
              <a:rPr lang="en-US" altLang="ko-KR" dirty="0">
                <a:solidFill>
                  <a:schemeClr val="tx1"/>
                </a:solidFill>
              </a:rPr>
              <a:t>p = a / s,  </a:t>
            </a:r>
            <a:r>
              <a:rPr lang="ko-KR" altLang="en-US" dirty="0">
                <a:solidFill>
                  <a:schemeClr val="tx1"/>
                </a:solidFill>
              </a:rPr>
              <a:t>대기확률</a:t>
            </a:r>
            <a:r>
              <a:rPr lang="en-US" altLang="ko-KR" dirty="0">
                <a:solidFill>
                  <a:schemeClr val="tx1"/>
                </a:solidFill>
              </a:rPr>
              <a:t>C(s, a) = B(</a:t>
            </a:r>
            <a:r>
              <a:rPr lang="en-US" altLang="ko-KR" dirty="0" err="1">
                <a:solidFill>
                  <a:schemeClr val="tx1"/>
                </a:solidFill>
              </a:rPr>
              <a:t>s,a</a:t>
            </a:r>
            <a:r>
              <a:rPr lang="en-US" altLang="ko-KR" dirty="0">
                <a:solidFill>
                  <a:schemeClr val="tx1"/>
                </a:solidFill>
              </a:rPr>
              <a:t>)/(1-p*(1-B(</a:t>
            </a:r>
            <a:r>
              <a:rPr lang="en-US" altLang="ko-KR" dirty="0" err="1">
                <a:solidFill>
                  <a:schemeClr val="tx1"/>
                </a:solidFill>
              </a:rPr>
              <a:t>s,a</a:t>
            </a:r>
            <a:r>
              <a:rPr lang="en-US" altLang="ko-KR" dirty="0">
                <a:solidFill>
                  <a:schemeClr val="tx1"/>
                </a:solidFill>
              </a:rPr>
              <a:t>))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2. Little’s Law → </a:t>
            </a:r>
            <a:r>
              <a:rPr lang="ko-KR" altLang="en-US" dirty="0">
                <a:solidFill>
                  <a:schemeClr val="tx1"/>
                </a:solidFill>
              </a:rPr>
              <a:t>인원</a:t>
            </a:r>
            <a:r>
              <a:rPr lang="en-US" altLang="ko-KR" dirty="0">
                <a:solidFill>
                  <a:schemeClr val="tx1"/>
                </a:solidFill>
              </a:rPr>
              <a:t>L =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* </a:t>
            </a:r>
            <a:r>
              <a:rPr lang="ko-KR" altLang="en-US" dirty="0">
                <a:solidFill>
                  <a:schemeClr val="tx1"/>
                </a:solidFill>
              </a:rPr>
              <a:t>시간</a:t>
            </a:r>
            <a:r>
              <a:rPr lang="en-US" altLang="ko-KR" dirty="0">
                <a:solidFill>
                  <a:schemeClr val="tx1"/>
                </a:solidFill>
              </a:rPr>
              <a:t>W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38" name="TextBox 37">
            <a:extLst>
              <a:ext uri="{FF2B5EF4-FFF2-40B4-BE49-F238E27FC236}">
                <a16:creationId xmlns:a16="http://schemas.microsoft.com/office/drawing/2014/main" id="{BC047013-129C-3CF8-5836-46E4D2745E68}"/>
              </a:ext>
            </a:extLst>
          </p:cNvPr>
          <p:cNvSpPr txBox="1"/>
          <p:nvPr/>
        </p:nvSpPr>
        <p:spPr>
          <a:xfrm>
            <a:off x="501953" y="4078577"/>
            <a:ext cx="8967788" cy="30976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az-Cyrl-AZ" altLang="ko-KR" dirty="0">
                <a:solidFill>
                  <a:schemeClr val="tx1"/>
                </a:solidFill>
              </a:rPr>
              <a:t>※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en-US" altLang="ko-KR" dirty="0" err="1">
                <a:solidFill>
                  <a:schemeClr val="tx1"/>
                </a:solidFill>
              </a:rPr>
              <a:t>Xovis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나 </a:t>
            </a:r>
            <a:r>
              <a:rPr lang="en-US" altLang="ko-KR" dirty="0">
                <a:solidFill>
                  <a:schemeClr val="tx1"/>
                </a:solidFill>
              </a:rPr>
              <a:t>CAST SW</a:t>
            </a:r>
            <a:r>
              <a:rPr lang="ko-KR" altLang="en-US" dirty="0">
                <a:solidFill>
                  <a:schemeClr val="tx1"/>
                </a:solidFill>
              </a:rPr>
              <a:t> 처럼 흐름 모니터링이나 시뮬레이션에서 나온 결과 데이터는 처리시간과 인원 수 정보를 나열한 형태일 수 밖에 없고 대기행렬 이론으로 적용이 가능함</a:t>
            </a:r>
          </a:p>
        </p:txBody>
      </p:sp>
      <p:graphicFrame>
        <p:nvGraphicFramePr>
          <p:cNvPr id="41" name="표 40">
            <a:extLst>
              <a:ext uri="{FF2B5EF4-FFF2-40B4-BE49-F238E27FC236}">
                <a16:creationId xmlns:a16="http://schemas.microsoft.com/office/drawing/2014/main" id="{039264E8-F065-DF93-F7A3-7B7C5BF783B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92176731"/>
              </p:ext>
            </p:extLst>
          </p:nvPr>
        </p:nvGraphicFramePr>
        <p:xfrm>
          <a:off x="599460" y="4591331"/>
          <a:ext cx="8638326" cy="20116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59814">
                  <a:extLst>
                    <a:ext uri="{9D8B030D-6E8A-4147-A177-3AD203B41FA5}">
                      <a16:colId xmlns:a16="http://schemas.microsoft.com/office/drawing/2014/main" val="2642405265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1085034199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3248096430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284989073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4081927795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756810278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1628472215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3960216945"/>
                    </a:ext>
                  </a:extLst>
                </a:gridCol>
                <a:gridCol w="959814">
                  <a:extLst>
                    <a:ext uri="{9D8B030D-6E8A-4147-A177-3AD203B41FA5}">
                      <a16:colId xmlns:a16="http://schemas.microsoft.com/office/drawing/2014/main" val="1614622290"/>
                    </a:ext>
                  </a:extLst>
                </a:gridCol>
              </a:tblGrid>
              <a:tr h="23427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dirty="0"/>
                        <a:t>생성시간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아일랜드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Desk/</a:t>
                      </a:r>
                    </a:p>
                    <a:p>
                      <a:pPr latinLnBrk="1"/>
                      <a:r>
                        <a:rPr lang="en-US" altLang="ko-KR" sz="1000" dirty="0"/>
                        <a:t>Queue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대기열</a:t>
                      </a:r>
                      <a:r>
                        <a:rPr lang="en-US" altLang="ko-KR" sz="1000" dirty="0"/>
                        <a:t>ID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 err="1"/>
                        <a:t>대기열</a:t>
                      </a:r>
                      <a:endParaRPr lang="en-US" altLang="ko-KR" sz="1000" dirty="0"/>
                    </a:p>
                    <a:p>
                      <a:pPr latinLnBrk="1"/>
                      <a:r>
                        <a:rPr lang="ko-KR" altLang="en-US" sz="1000" dirty="0"/>
                        <a:t>길이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ko-KR" altLang="en-US" sz="1000" dirty="0"/>
                        <a:t>대기시간</a:t>
                      </a:r>
                      <a:r>
                        <a:rPr lang="en-US" altLang="ko-KR" sz="1000" dirty="0"/>
                        <a:t>(Sec)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Desk</a:t>
                      </a:r>
                    </a:p>
                    <a:p>
                      <a:pPr latinLnBrk="1"/>
                      <a:r>
                        <a:rPr lang="ko-KR" altLang="en-US" sz="1000" dirty="0"/>
                        <a:t>사용여부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Desk</a:t>
                      </a:r>
                    </a:p>
                    <a:p>
                      <a:pPr latinLnBrk="1"/>
                      <a:r>
                        <a:rPr lang="ko-KR" altLang="en-US" sz="1000" dirty="0"/>
                        <a:t>유출속도</a:t>
                      </a:r>
                      <a:r>
                        <a:rPr lang="en-US" altLang="ko-KR" sz="1000" dirty="0"/>
                        <a:t>(PAX/hour)</a:t>
                      </a:r>
                      <a:endParaRPr lang="ko-KR" altLang="en-US" sz="1000" dirty="0"/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Desk</a:t>
                      </a:r>
                    </a:p>
                    <a:p>
                      <a:pPr latinLnBrk="1"/>
                      <a:r>
                        <a:rPr lang="ko-KR" altLang="en-US" sz="1000" dirty="0" err="1"/>
                        <a:t>떠난여객</a:t>
                      </a:r>
                      <a:endParaRPr lang="ko-KR" altLang="en-US" sz="1000" dirty="0"/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2513751885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6:10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Queue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51940950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6:20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Queue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138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357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57825873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6:30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Queue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157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1119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6141169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6:40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Queue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1688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72730464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6:50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Desk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134996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7:00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dirty="0"/>
                        <a:t>C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dirty="0"/>
                        <a:t>Desk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3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12</a:t>
                      </a:r>
                      <a:endParaRPr lang="ko-KR" altLang="en-US" sz="1000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atinLnBrk="1"/>
                      <a:r>
                        <a:rPr lang="en-US" altLang="ko-KR" sz="1000" dirty="0"/>
                        <a:t>4</a:t>
                      </a:r>
                      <a:endParaRPr lang="ko-KR" altLang="en-US" sz="1000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113962684"/>
                  </a:ext>
                </a:extLst>
              </a:tr>
            </a:tbl>
          </a:graphicData>
        </a:graphic>
      </p:graphicFrame>
      <p:sp>
        <p:nvSpPr>
          <p:cNvPr id="44" name="TextBox 43">
            <a:extLst>
              <a:ext uri="{FF2B5EF4-FFF2-40B4-BE49-F238E27FC236}">
                <a16:creationId xmlns:a16="http://schemas.microsoft.com/office/drawing/2014/main" id="{94030F94-1AB4-0AF0-7181-B0FE1782C8A4}"/>
              </a:ext>
            </a:extLst>
          </p:cNvPr>
          <p:cNvSpPr txBox="1"/>
          <p:nvPr/>
        </p:nvSpPr>
        <p:spPr>
          <a:xfrm>
            <a:off x="6996618" y="6603011"/>
            <a:ext cx="2791558" cy="254989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en-US" altLang="ko-KR" sz="800" dirty="0">
                <a:solidFill>
                  <a:schemeClr val="tx1"/>
                </a:solidFill>
              </a:rPr>
              <a:t>[ </a:t>
            </a:r>
            <a:r>
              <a:rPr lang="ko-KR" altLang="en-US" sz="800" dirty="0">
                <a:solidFill>
                  <a:schemeClr val="tx1"/>
                </a:solidFill>
              </a:rPr>
              <a:t>분석 대상 데이터 형태 </a:t>
            </a:r>
            <a:r>
              <a:rPr lang="en-US" altLang="ko-KR" sz="800" dirty="0">
                <a:solidFill>
                  <a:schemeClr val="tx1"/>
                </a:solidFill>
              </a:rPr>
              <a:t>- </a:t>
            </a:r>
            <a:r>
              <a:rPr lang="en-US" altLang="ko-KR" sz="800" dirty="0" err="1">
                <a:solidFill>
                  <a:schemeClr val="tx1"/>
                </a:solidFill>
              </a:rPr>
              <a:t>Xovis</a:t>
            </a:r>
            <a:r>
              <a:rPr lang="en-US" altLang="ko-KR" sz="800" dirty="0">
                <a:solidFill>
                  <a:schemeClr val="tx1"/>
                </a:solidFill>
              </a:rPr>
              <a:t> </a:t>
            </a:r>
            <a:r>
              <a:rPr lang="ko-KR" altLang="en-US" sz="800" dirty="0">
                <a:solidFill>
                  <a:schemeClr val="tx1"/>
                </a:solidFill>
              </a:rPr>
              <a:t>수신데이터 발췌 </a:t>
            </a:r>
            <a:r>
              <a:rPr lang="en-US" altLang="ko-KR" sz="800" dirty="0">
                <a:solidFill>
                  <a:schemeClr val="tx1"/>
                </a:solidFill>
              </a:rPr>
              <a:t>]</a:t>
            </a:r>
            <a:endParaRPr lang="ko-KR" altLang="en-US" sz="800" dirty="0">
              <a:solidFill>
                <a:schemeClr val="tx1"/>
              </a:solidFill>
            </a:endParaRPr>
          </a:p>
        </p:txBody>
      </p:sp>
      <p:sp>
        <p:nvSpPr>
          <p:cNvPr id="45" name="TextBox 44">
            <a:extLst>
              <a:ext uri="{FF2B5EF4-FFF2-40B4-BE49-F238E27FC236}">
                <a16:creationId xmlns:a16="http://schemas.microsoft.com/office/drawing/2014/main" id="{DF88CAD2-62A0-9BDC-7DE4-EA2708DC00FF}"/>
              </a:ext>
            </a:extLst>
          </p:cNvPr>
          <p:cNvSpPr txBox="1"/>
          <p:nvPr/>
        </p:nvSpPr>
        <p:spPr>
          <a:xfrm>
            <a:off x="839165" y="1913617"/>
            <a:ext cx="8703778" cy="30976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/>
            <a:r>
              <a:rPr lang="ko-KR" altLang="en-US" b="1" dirty="0">
                <a:solidFill>
                  <a:schemeClr val="tx1"/>
                </a:solidFill>
              </a:rPr>
              <a:t>대상 데이터에서 다음 </a:t>
            </a:r>
            <a:r>
              <a:rPr lang="en-US" altLang="ko-KR" b="1" dirty="0">
                <a:solidFill>
                  <a:schemeClr val="tx1"/>
                </a:solidFill>
              </a:rPr>
              <a:t>4</a:t>
            </a:r>
            <a:r>
              <a:rPr lang="ko-KR" altLang="en-US" b="1" dirty="0">
                <a:solidFill>
                  <a:schemeClr val="tx1"/>
                </a:solidFill>
              </a:rPr>
              <a:t>가지 요소를 찾고</a:t>
            </a:r>
            <a:r>
              <a:rPr lang="en-US" altLang="ko-KR" b="1" dirty="0">
                <a:solidFill>
                  <a:schemeClr val="tx1"/>
                </a:solidFill>
              </a:rPr>
              <a:t>, </a:t>
            </a:r>
            <a:r>
              <a:rPr lang="ko-KR" altLang="en-US" b="1" dirty="0">
                <a:solidFill>
                  <a:schemeClr val="tx1"/>
                </a:solidFill>
              </a:rPr>
              <a:t>없는 요소는 갖고 있는 정보로 나머지를 도출해야 함</a:t>
            </a:r>
          </a:p>
        </p:txBody>
      </p:sp>
      <p:sp>
        <p:nvSpPr>
          <p:cNvPr id="47" name="TextBox 46">
            <a:extLst>
              <a:ext uri="{FF2B5EF4-FFF2-40B4-BE49-F238E27FC236}">
                <a16:creationId xmlns:a16="http://schemas.microsoft.com/office/drawing/2014/main" id="{134AC9B9-2904-E6B3-F3FA-E98B423FEC2D}"/>
              </a:ext>
            </a:extLst>
          </p:cNvPr>
          <p:cNvSpPr txBox="1"/>
          <p:nvPr/>
        </p:nvSpPr>
        <p:spPr>
          <a:xfrm>
            <a:off x="7077584" y="3088153"/>
            <a:ext cx="1905180" cy="30976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r>
              <a:rPr lang="ko-KR" altLang="en-US" dirty="0">
                <a:solidFill>
                  <a:schemeClr val="tx1"/>
                </a:solidFill>
              </a:rPr>
              <a:t>공항운영 시설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ko-KR" altLang="en-US" dirty="0">
                <a:solidFill>
                  <a:schemeClr val="tx1"/>
                </a:solidFill>
              </a:rPr>
              <a:t>모형</a:t>
            </a:r>
            <a:endParaRPr lang="en-US" altLang="ko-KR" dirty="0">
              <a:solidFill>
                <a:schemeClr val="tx1"/>
              </a:solidFill>
            </a:endParaRPr>
          </a:p>
          <a:p>
            <a:r>
              <a:rPr lang="en-US" altLang="ko-KR" dirty="0">
                <a:solidFill>
                  <a:schemeClr val="tx1"/>
                </a:solidFill>
              </a:rPr>
              <a:t>(M/M/s)</a:t>
            </a:r>
            <a:endParaRPr lang="ko-KR" altLang="en-US" dirty="0">
              <a:solidFill>
                <a:schemeClr val="tx1"/>
              </a:solidFill>
            </a:endParaRPr>
          </a:p>
        </p:txBody>
      </p:sp>
      <p:sp>
        <p:nvSpPr>
          <p:cNvPr id="48" name="오른쪽 중괄호 47">
            <a:extLst>
              <a:ext uri="{FF2B5EF4-FFF2-40B4-BE49-F238E27FC236}">
                <a16:creationId xmlns:a16="http://schemas.microsoft.com/office/drawing/2014/main" id="{BD84B6AC-EDDA-410C-4C22-B6E48F0977EE}"/>
              </a:ext>
            </a:extLst>
          </p:cNvPr>
          <p:cNvSpPr/>
          <p:nvPr/>
        </p:nvSpPr>
        <p:spPr>
          <a:xfrm>
            <a:off x="6711493" y="2585160"/>
            <a:ext cx="178312" cy="1257420"/>
          </a:xfrm>
          <a:prstGeom prst="rightBrace">
            <a:avLst>
              <a:gd name="adj1" fmla="val 31052"/>
              <a:gd name="adj2" fmla="val 50000"/>
            </a:avLst>
          </a:prstGeom>
          <a:ln w="19050">
            <a:tailEnd type="non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6113285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BB8F2-5D06-623B-E736-C634F1C565EE}"/>
              </a:ext>
            </a:extLst>
          </p:cNvPr>
          <p:cNvSpPr txBox="1"/>
          <p:nvPr/>
        </p:nvSpPr>
        <p:spPr>
          <a:xfrm>
            <a:off x="231876" y="176073"/>
            <a:ext cx="7295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&gt;&gt;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대기행렬 이론 활용한 시설 </a:t>
            </a:r>
            <a:r>
              <a:rPr lang="ko-KR" alt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수용량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및 혼잡 해소시간 예측 방법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(2) – </a:t>
            </a:r>
            <a:r>
              <a:rPr lang="en-US" altLang="ko-KR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Xovis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</a:t>
            </a:r>
            <a:endParaRPr lang="en-US" altLang="ko-K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3FC6407-884E-FD92-6BFB-6FB041C13A88}"/>
              </a:ext>
            </a:extLst>
          </p:cNvPr>
          <p:cNvSpPr txBox="1"/>
          <p:nvPr/>
        </p:nvSpPr>
        <p:spPr>
          <a:xfrm>
            <a:off x="436258" y="521253"/>
            <a:ext cx="8967788" cy="38036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⃝ </a:t>
            </a:r>
            <a:r>
              <a:rPr lang="ko-KR" altLang="en-US" dirty="0">
                <a:solidFill>
                  <a:schemeClr val="tx1"/>
                </a:solidFill>
              </a:rPr>
              <a:t>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ko-KR" altLang="en-US" dirty="0">
                <a:solidFill>
                  <a:schemeClr val="tx1"/>
                </a:solidFill>
              </a:rPr>
              <a:t>은 유입인원과 유출인원이 관측된 시간에서 유동적이다는 점을 감안해야 함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60FEADB2-1CE4-1647-1CCA-E83004B1421D}"/>
              </a:ext>
            </a:extLst>
          </p:cNvPr>
          <p:cNvSpPr/>
          <p:nvPr/>
        </p:nvSpPr>
        <p:spPr>
          <a:xfrm>
            <a:off x="2057715" y="1641014"/>
            <a:ext cx="502121" cy="702857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(10)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1A53BE2C-2030-CA3E-2A0F-BBE08D0532AE}"/>
              </a:ext>
            </a:extLst>
          </p:cNvPr>
          <p:cNvSpPr txBox="1"/>
          <p:nvPr/>
        </p:nvSpPr>
        <p:spPr>
          <a:xfrm>
            <a:off x="1445976" y="2337190"/>
            <a:ext cx="126682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ko-KR" altLang="en-US" sz="1200" dirty="0">
                <a:solidFill>
                  <a:schemeClr val="tx1"/>
                </a:solidFill>
              </a:rPr>
              <a:t>시간대     </a:t>
            </a:r>
            <a:r>
              <a:rPr lang="en-US" altLang="ko-KR" sz="1200" dirty="0">
                <a:solidFill>
                  <a:schemeClr val="tx1"/>
                </a:solidFill>
              </a:rPr>
              <a:t>6:10 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C46114C7-7B8F-08B4-C1B8-9BCC881AE79D}"/>
              </a:ext>
            </a:extLst>
          </p:cNvPr>
          <p:cNvSpPr txBox="1"/>
          <p:nvPr/>
        </p:nvSpPr>
        <p:spPr>
          <a:xfrm>
            <a:off x="3392203" y="2328600"/>
            <a:ext cx="85492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6:20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94B13C48-13C3-3702-8BBE-025F11F6A105}"/>
              </a:ext>
            </a:extLst>
          </p:cNvPr>
          <p:cNvSpPr/>
          <p:nvPr/>
        </p:nvSpPr>
        <p:spPr>
          <a:xfrm>
            <a:off x="3778087" y="1617366"/>
            <a:ext cx="502121" cy="726505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(10)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DE2BF51A-2488-8C1E-E122-6F1E3B684BD2}"/>
              </a:ext>
            </a:extLst>
          </p:cNvPr>
          <p:cNvSpPr/>
          <p:nvPr/>
        </p:nvSpPr>
        <p:spPr>
          <a:xfrm>
            <a:off x="3201045" y="2034109"/>
            <a:ext cx="502121" cy="30976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707F4B6F-FE0A-3484-7C14-96E62EBEEA84}"/>
              </a:ext>
            </a:extLst>
          </p:cNvPr>
          <p:cNvSpPr/>
          <p:nvPr/>
        </p:nvSpPr>
        <p:spPr>
          <a:xfrm>
            <a:off x="3201044" y="1613074"/>
            <a:ext cx="502121" cy="30976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유입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1" name="화살표: 아래쪽 20">
            <a:extLst>
              <a:ext uri="{FF2B5EF4-FFF2-40B4-BE49-F238E27FC236}">
                <a16:creationId xmlns:a16="http://schemas.microsoft.com/office/drawing/2014/main" id="{A061C40A-4307-76FB-2BDF-1A767CA0A1A1}"/>
              </a:ext>
            </a:extLst>
          </p:cNvPr>
          <p:cNvSpPr/>
          <p:nvPr/>
        </p:nvSpPr>
        <p:spPr>
          <a:xfrm>
            <a:off x="3359115" y="1899188"/>
            <a:ext cx="185977" cy="13492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2" name="화살표: 아래쪽 21">
            <a:extLst>
              <a:ext uri="{FF2B5EF4-FFF2-40B4-BE49-F238E27FC236}">
                <a16:creationId xmlns:a16="http://schemas.microsoft.com/office/drawing/2014/main" id="{EAB2650E-E505-CC4F-C948-86B814695132}"/>
              </a:ext>
            </a:extLst>
          </p:cNvPr>
          <p:cNvSpPr/>
          <p:nvPr/>
        </p:nvSpPr>
        <p:spPr>
          <a:xfrm>
            <a:off x="3359115" y="2320223"/>
            <a:ext cx="185977" cy="13492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9FE17F8-59F3-DD51-CE64-D46C4B26DB35}"/>
              </a:ext>
            </a:extLst>
          </p:cNvPr>
          <p:cNvSpPr txBox="1"/>
          <p:nvPr/>
        </p:nvSpPr>
        <p:spPr>
          <a:xfrm>
            <a:off x="6307415" y="2304952"/>
            <a:ext cx="85492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6:30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26" name="직사각형 25">
            <a:extLst>
              <a:ext uri="{FF2B5EF4-FFF2-40B4-BE49-F238E27FC236}">
                <a16:creationId xmlns:a16="http://schemas.microsoft.com/office/drawing/2014/main" id="{65AD2C68-8349-BC9E-3EAC-A1A77E0F7CF9}"/>
              </a:ext>
            </a:extLst>
          </p:cNvPr>
          <p:cNvSpPr/>
          <p:nvPr/>
        </p:nvSpPr>
        <p:spPr>
          <a:xfrm>
            <a:off x="6693299" y="1307604"/>
            <a:ext cx="502121" cy="1012620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인원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(15)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7" name="직사각형 26">
            <a:extLst>
              <a:ext uri="{FF2B5EF4-FFF2-40B4-BE49-F238E27FC236}">
                <a16:creationId xmlns:a16="http://schemas.microsoft.com/office/drawing/2014/main" id="{BFA39874-6AEB-6C83-39AD-7835FC9C54D8}"/>
              </a:ext>
            </a:extLst>
          </p:cNvPr>
          <p:cNvSpPr/>
          <p:nvPr/>
        </p:nvSpPr>
        <p:spPr>
          <a:xfrm>
            <a:off x="6116257" y="2010461"/>
            <a:ext cx="502121" cy="309762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유출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(5)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8" name="직사각형 27">
            <a:extLst>
              <a:ext uri="{FF2B5EF4-FFF2-40B4-BE49-F238E27FC236}">
                <a16:creationId xmlns:a16="http://schemas.microsoft.com/office/drawing/2014/main" id="{6D978E05-DF49-0EC1-1D4C-609BF9580B3F}"/>
              </a:ext>
            </a:extLst>
          </p:cNvPr>
          <p:cNvSpPr/>
          <p:nvPr/>
        </p:nvSpPr>
        <p:spPr>
          <a:xfrm>
            <a:off x="6116256" y="1305782"/>
            <a:ext cx="502121" cy="595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유입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(10)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29" name="화살표: 아래쪽 28">
            <a:extLst>
              <a:ext uri="{FF2B5EF4-FFF2-40B4-BE49-F238E27FC236}">
                <a16:creationId xmlns:a16="http://schemas.microsoft.com/office/drawing/2014/main" id="{685FC8D3-AB55-0670-4941-ED8339FD2F40}"/>
              </a:ext>
            </a:extLst>
          </p:cNvPr>
          <p:cNvSpPr/>
          <p:nvPr/>
        </p:nvSpPr>
        <p:spPr>
          <a:xfrm>
            <a:off x="6274327" y="1853815"/>
            <a:ext cx="185977" cy="13492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1" name="화살표: 아래쪽 30">
            <a:extLst>
              <a:ext uri="{FF2B5EF4-FFF2-40B4-BE49-F238E27FC236}">
                <a16:creationId xmlns:a16="http://schemas.microsoft.com/office/drawing/2014/main" id="{0B62C8C5-D782-0491-0564-C9DF8BBB66F5}"/>
              </a:ext>
            </a:extLst>
          </p:cNvPr>
          <p:cNvSpPr/>
          <p:nvPr/>
        </p:nvSpPr>
        <p:spPr>
          <a:xfrm>
            <a:off x="6274327" y="2296575"/>
            <a:ext cx="185977" cy="134921"/>
          </a:xfrm>
          <a:prstGeom prst="downArrow">
            <a:avLst/>
          </a:prstGeom>
          <a:solidFill>
            <a:schemeClr val="bg2">
              <a:lumMod val="90000"/>
            </a:schemeClr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E46FA091-6032-EED6-1ACD-63F490ED81A5}"/>
              </a:ext>
            </a:extLst>
          </p:cNvPr>
          <p:cNvSpPr txBox="1"/>
          <p:nvPr/>
        </p:nvSpPr>
        <p:spPr>
          <a:xfrm>
            <a:off x="4319492" y="1337571"/>
            <a:ext cx="1398914" cy="990592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sz="1000" u="sng" dirty="0">
                <a:solidFill>
                  <a:schemeClr val="tx1"/>
                </a:solidFill>
              </a:rPr>
              <a:t> 6:20 </a:t>
            </a:r>
            <a:r>
              <a:rPr lang="ko-KR" altLang="en-US" sz="1000" u="sng" dirty="0">
                <a:solidFill>
                  <a:schemeClr val="tx1"/>
                </a:solidFill>
              </a:rPr>
              <a:t>시점에서 봤을 때 대기인원 </a:t>
            </a:r>
            <a:r>
              <a:rPr lang="ko-KR" altLang="en-US" sz="1000" u="sng" dirty="0" err="1">
                <a:solidFill>
                  <a:schemeClr val="tx1"/>
                </a:solidFill>
              </a:rPr>
              <a:t>변동없음</a:t>
            </a:r>
            <a:r>
              <a:rPr lang="en-US" altLang="ko-KR" sz="1000" u="sng" dirty="0">
                <a:solidFill>
                  <a:schemeClr val="tx1"/>
                </a:solidFill>
              </a:rPr>
              <a:t>. </a:t>
            </a:r>
            <a:r>
              <a:rPr lang="ko-KR" altLang="en-US" sz="1000" u="sng" dirty="0">
                <a:solidFill>
                  <a:schemeClr val="tx1"/>
                </a:solidFill>
              </a:rPr>
              <a:t>유입과 유출을 고려해야 함</a:t>
            </a: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B629EA-E5D4-169F-A1E1-E2C5E0AAE36F}"/>
              </a:ext>
            </a:extLst>
          </p:cNvPr>
          <p:cNvSpPr txBox="1"/>
          <p:nvPr/>
        </p:nvSpPr>
        <p:spPr>
          <a:xfrm>
            <a:off x="533427" y="2723557"/>
            <a:ext cx="7806132" cy="13498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b="1" dirty="0">
                <a:solidFill>
                  <a:srgbClr val="0070C0"/>
                </a:solidFill>
              </a:rPr>
              <a:t>유입량</a:t>
            </a:r>
            <a:r>
              <a:rPr lang="el-GR" altLang="ko-KR" b="1" dirty="0">
                <a:solidFill>
                  <a:srgbClr val="0070C0"/>
                </a:solidFill>
              </a:rPr>
              <a:t> λ</a:t>
            </a:r>
            <a:r>
              <a:rPr lang="el-GR" altLang="ko-KR" b="1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을 모를 때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신뢰할 수 없을 때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 계산하는 방법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▷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= </a:t>
            </a:r>
            <a:r>
              <a:rPr lang="ko-KR" altLang="en-US" dirty="0">
                <a:solidFill>
                  <a:schemeClr val="tx1"/>
                </a:solidFill>
              </a:rPr>
              <a:t>인원 변화량</a:t>
            </a:r>
            <a:r>
              <a:rPr lang="el-GR" altLang="ko-KR" dirty="0">
                <a:solidFill>
                  <a:schemeClr val="tx1"/>
                </a:solidFill>
              </a:rPr>
              <a:t>Δ</a:t>
            </a:r>
            <a:r>
              <a:rPr lang="en-US" altLang="ko-KR" dirty="0">
                <a:solidFill>
                  <a:schemeClr val="tx1"/>
                </a:solidFill>
              </a:rPr>
              <a:t>L + </a:t>
            </a:r>
            <a:r>
              <a:rPr lang="ko-KR" altLang="en-US" dirty="0">
                <a:solidFill>
                  <a:schemeClr val="tx1"/>
                </a:solidFill>
              </a:rPr>
              <a:t>유출량    </a:t>
            </a:r>
            <a:r>
              <a:rPr lang="en-US" altLang="ko-KR" dirty="0">
                <a:solidFill>
                  <a:schemeClr val="tx1"/>
                </a:solidFill>
              </a:rPr>
              <a:t>&lt;= </a:t>
            </a:r>
            <a:r>
              <a:rPr lang="ko-KR" altLang="en-US" dirty="0">
                <a:solidFill>
                  <a:schemeClr val="tx1"/>
                </a:solidFill>
              </a:rPr>
              <a:t>검증은 </a:t>
            </a:r>
            <a:r>
              <a:rPr lang="en-US" altLang="ko-KR" dirty="0">
                <a:solidFill>
                  <a:schemeClr val="tx1"/>
                </a:solidFill>
              </a:rPr>
              <a:t>Little’s Law </a:t>
            </a:r>
            <a:r>
              <a:rPr lang="ko-KR" altLang="en-US" dirty="0">
                <a:solidFill>
                  <a:schemeClr val="tx1"/>
                </a:solidFill>
              </a:rPr>
              <a:t>활용 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= </a:t>
            </a:r>
            <a:r>
              <a:rPr lang="ko-KR" altLang="en-US" dirty="0">
                <a:solidFill>
                  <a:schemeClr val="tx1"/>
                </a:solidFill>
              </a:rPr>
              <a:t>인원</a:t>
            </a:r>
            <a:r>
              <a:rPr lang="en-US" altLang="ko-KR">
                <a:solidFill>
                  <a:schemeClr val="tx1"/>
                </a:solidFill>
              </a:rPr>
              <a:t>L / </a:t>
            </a:r>
            <a:r>
              <a:rPr lang="ko-KR" altLang="en-US" dirty="0">
                <a:solidFill>
                  <a:schemeClr val="tx1"/>
                </a:solidFill>
              </a:rPr>
              <a:t>시간</a:t>
            </a:r>
            <a:r>
              <a:rPr lang="en-US" altLang="ko-KR" dirty="0">
                <a:solidFill>
                  <a:schemeClr val="tx1"/>
                </a:solidFill>
              </a:rPr>
              <a:t>W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    - </a:t>
            </a:r>
            <a:r>
              <a:rPr lang="ko-KR" altLang="en-US" dirty="0">
                <a:solidFill>
                  <a:schemeClr val="tx1"/>
                </a:solidFill>
              </a:rPr>
              <a:t>인원 변화량</a:t>
            </a:r>
            <a:r>
              <a:rPr lang="el-GR" altLang="ko-KR" dirty="0">
                <a:solidFill>
                  <a:schemeClr val="tx1"/>
                </a:solidFill>
              </a:rPr>
              <a:t>Δ</a:t>
            </a:r>
            <a:r>
              <a:rPr lang="en-US" altLang="ko-KR" dirty="0">
                <a:solidFill>
                  <a:schemeClr val="tx1"/>
                </a:solidFill>
              </a:rPr>
              <a:t>L =  </a:t>
            </a:r>
            <a:r>
              <a:rPr lang="ko-KR" altLang="en-US" dirty="0">
                <a:solidFill>
                  <a:schemeClr val="tx1"/>
                </a:solidFill>
              </a:rPr>
              <a:t>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지금</a:t>
            </a:r>
            <a:r>
              <a:rPr lang="en-US" altLang="ko-KR" dirty="0">
                <a:solidFill>
                  <a:schemeClr val="tx1"/>
                </a:solidFill>
              </a:rPr>
              <a:t>) – </a:t>
            </a:r>
            <a:r>
              <a:rPr lang="ko-KR" altLang="en-US" dirty="0">
                <a:solidFill>
                  <a:schemeClr val="tx1"/>
                </a:solidFill>
              </a:rPr>
              <a:t>대기인원</a:t>
            </a:r>
            <a:r>
              <a:rPr lang="en-US" altLang="ko-KR" dirty="0">
                <a:solidFill>
                  <a:schemeClr val="tx1"/>
                </a:solidFill>
              </a:rPr>
              <a:t>L_q-1(</a:t>
            </a:r>
            <a:r>
              <a:rPr lang="ko-KR" altLang="en-US" dirty="0">
                <a:solidFill>
                  <a:schemeClr val="tx1"/>
                </a:solidFill>
              </a:rPr>
              <a:t>직전 시간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    - </a:t>
            </a:r>
            <a:r>
              <a:rPr lang="ko-KR" altLang="en-US" dirty="0">
                <a:solidFill>
                  <a:schemeClr val="tx1"/>
                </a:solidFill>
              </a:rPr>
              <a:t>유출량 </a:t>
            </a:r>
            <a:r>
              <a:rPr lang="en-US" altLang="ko-KR" dirty="0">
                <a:solidFill>
                  <a:schemeClr val="tx1"/>
                </a:solidFill>
              </a:rPr>
              <a:t>= ∑</a:t>
            </a:r>
            <a:r>
              <a:rPr lang="ko-KR" altLang="en-US" dirty="0">
                <a:solidFill>
                  <a:schemeClr val="tx1"/>
                </a:solidFill>
              </a:rPr>
              <a:t>각 데스크에서 떠난 사람 수의 합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처리 시설이 여러 개인 경우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</a:p>
        </p:txBody>
      </p:sp>
      <p:sp>
        <p:nvSpPr>
          <p:cNvPr id="39" name="직사각형 38">
            <a:extLst>
              <a:ext uri="{FF2B5EF4-FFF2-40B4-BE49-F238E27FC236}">
                <a16:creationId xmlns:a16="http://schemas.microsoft.com/office/drawing/2014/main" id="{915EC3F1-9A21-23E6-D174-6BAB1F511542}"/>
              </a:ext>
            </a:extLst>
          </p:cNvPr>
          <p:cNvSpPr/>
          <p:nvPr/>
        </p:nvSpPr>
        <p:spPr>
          <a:xfrm>
            <a:off x="6713429" y="1321502"/>
            <a:ext cx="471912" cy="285221"/>
          </a:xfrm>
          <a:prstGeom prst="rect">
            <a:avLst/>
          </a:prstGeom>
          <a:gradFill>
            <a:gsLst>
              <a:gs pos="0">
                <a:schemeClr val="accent1">
                  <a:lumMod val="5000"/>
                  <a:lumOff val="95000"/>
                </a:schemeClr>
              </a:gs>
              <a:gs pos="74000">
                <a:schemeClr val="accent1">
                  <a:lumMod val="45000"/>
                  <a:lumOff val="55000"/>
                </a:schemeClr>
              </a:gs>
              <a:gs pos="83000">
                <a:schemeClr val="accent1">
                  <a:lumMod val="45000"/>
                  <a:lumOff val="55000"/>
                </a:schemeClr>
              </a:gs>
              <a:gs pos="100000">
                <a:schemeClr val="accent1">
                  <a:lumMod val="30000"/>
                  <a:lumOff val="70000"/>
                </a:schemeClr>
              </a:gs>
            </a:gsLst>
            <a:lin ang="5400000" scaled="1"/>
          </a:gra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차이</a:t>
            </a:r>
          </a:p>
        </p:txBody>
      </p:sp>
      <p:cxnSp>
        <p:nvCxnSpPr>
          <p:cNvPr id="43" name="직선 화살표 연결선 42">
            <a:extLst>
              <a:ext uri="{FF2B5EF4-FFF2-40B4-BE49-F238E27FC236}">
                <a16:creationId xmlns:a16="http://schemas.microsoft.com/office/drawing/2014/main" id="{2AFB1412-EE95-652E-6430-329F119F7B82}"/>
              </a:ext>
            </a:extLst>
          </p:cNvPr>
          <p:cNvCxnSpPr>
            <a:cxnSpLocks/>
            <a:stCxn id="39" idx="3"/>
          </p:cNvCxnSpPr>
          <p:nvPr/>
        </p:nvCxnSpPr>
        <p:spPr>
          <a:xfrm flipV="1">
            <a:off x="7185341" y="1453078"/>
            <a:ext cx="508140" cy="11035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6" name="직선 화살표 연결선 45">
            <a:extLst>
              <a:ext uri="{FF2B5EF4-FFF2-40B4-BE49-F238E27FC236}">
                <a16:creationId xmlns:a16="http://schemas.microsoft.com/office/drawing/2014/main" id="{1E4BBBF5-A7DF-C507-9A40-6E392011EF70}"/>
              </a:ext>
            </a:extLst>
          </p:cNvPr>
          <p:cNvCxnSpPr>
            <a:cxnSpLocks/>
            <a:stCxn id="27" idx="3"/>
          </p:cNvCxnSpPr>
          <p:nvPr/>
        </p:nvCxnSpPr>
        <p:spPr>
          <a:xfrm flipV="1">
            <a:off x="6618378" y="1495521"/>
            <a:ext cx="1085181" cy="669821"/>
          </a:xfrm>
          <a:prstGeom prst="straightConnector1">
            <a:avLst/>
          </a:prstGeom>
          <a:ln w="19050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9" name="직사각형 48">
            <a:extLst>
              <a:ext uri="{FF2B5EF4-FFF2-40B4-BE49-F238E27FC236}">
                <a16:creationId xmlns:a16="http://schemas.microsoft.com/office/drawing/2014/main" id="{7D389604-CD32-3765-BD34-B4E43C8EED13}"/>
              </a:ext>
            </a:extLst>
          </p:cNvPr>
          <p:cNvSpPr/>
          <p:nvPr/>
        </p:nvSpPr>
        <p:spPr>
          <a:xfrm>
            <a:off x="7703559" y="1299255"/>
            <a:ext cx="502121" cy="595329"/>
          </a:xfrm>
          <a:prstGeom prst="rect">
            <a:avLst/>
          </a:prstGeom>
          <a:noFill/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000" dirty="0">
                <a:solidFill>
                  <a:schemeClr val="tx1"/>
                </a:solidFill>
              </a:rPr>
              <a:t>유입</a:t>
            </a:r>
            <a:endParaRPr lang="en-US" altLang="ko-KR" sz="1000" dirty="0">
              <a:solidFill>
                <a:schemeClr val="tx1"/>
              </a:solidFill>
            </a:endParaRPr>
          </a:p>
          <a:p>
            <a:pPr algn="ctr"/>
            <a:r>
              <a:rPr lang="en-US" altLang="ko-KR" sz="1000" dirty="0">
                <a:solidFill>
                  <a:schemeClr val="tx1"/>
                </a:solidFill>
              </a:rPr>
              <a:t>(10)</a:t>
            </a:r>
            <a:endParaRPr lang="ko-KR" altLang="en-US" sz="1000" dirty="0">
              <a:solidFill>
                <a:schemeClr val="tx1"/>
              </a:solidFill>
            </a:endParaRPr>
          </a:p>
        </p:txBody>
      </p:sp>
      <p:sp>
        <p:nvSpPr>
          <p:cNvPr id="50" name="TextBox 49">
            <a:extLst>
              <a:ext uri="{FF2B5EF4-FFF2-40B4-BE49-F238E27FC236}">
                <a16:creationId xmlns:a16="http://schemas.microsoft.com/office/drawing/2014/main" id="{71BA9996-E8C6-C062-E72F-367F3929AF3A}"/>
              </a:ext>
            </a:extLst>
          </p:cNvPr>
          <p:cNvSpPr txBox="1"/>
          <p:nvPr/>
        </p:nvSpPr>
        <p:spPr>
          <a:xfrm>
            <a:off x="7079142" y="1559287"/>
            <a:ext cx="85492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=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51" name="직사각형 50">
            <a:extLst>
              <a:ext uri="{FF2B5EF4-FFF2-40B4-BE49-F238E27FC236}">
                <a16:creationId xmlns:a16="http://schemas.microsoft.com/office/drawing/2014/main" id="{A2A06A46-45A4-A354-C295-615953F8D3EF}"/>
              </a:ext>
            </a:extLst>
          </p:cNvPr>
          <p:cNvSpPr/>
          <p:nvPr/>
        </p:nvSpPr>
        <p:spPr>
          <a:xfrm>
            <a:off x="3778086" y="1305782"/>
            <a:ext cx="502121" cy="307292"/>
          </a:xfrm>
          <a:prstGeom prst="rect">
            <a:avLst/>
          </a:prstGeom>
          <a:noFill/>
          <a:ln w="9525">
            <a:solidFill>
              <a:schemeClr val="tx1"/>
            </a:solidFill>
            <a:prstDash val="sysDot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000" dirty="0">
              <a:solidFill>
                <a:schemeClr val="tx1"/>
              </a:solidFill>
            </a:endParaRPr>
          </a:p>
        </p:txBody>
      </p:sp>
      <p:cxnSp>
        <p:nvCxnSpPr>
          <p:cNvPr id="52" name="직선 화살표 연결선 51">
            <a:extLst>
              <a:ext uri="{FF2B5EF4-FFF2-40B4-BE49-F238E27FC236}">
                <a16:creationId xmlns:a16="http://schemas.microsoft.com/office/drawing/2014/main" id="{C3262813-00EE-501A-988F-A41B1D568CEE}"/>
              </a:ext>
            </a:extLst>
          </p:cNvPr>
          <p:cNvCxnSpPr>
            <a:cxnSpLocks/>
            <a:stCxn id="51" idx="0"/>
            <a:endCxn id="39" idx="0"/>
          </p:cNvCxnSpPr>
          <p:nvPr/>
        </p:nvCxnSpPr>
        <p:spPr>
          <a:xfrm rot="16200000" flipH="1">
            <a:off x="5481406" y="-146477"/>
            <a:ext cx="15720" cy="2920238"/>
          </a:xfrm>
          <a:prstGeom prst="curvedConnector3">
            <a:avLst>
              <a:gd name="adj1" fmla="val -1454198"/>
            </a:avLst>
          </a:prstGeom>
          <a:ln w="12700">
            <a:solidFill>
              <a:schemeClr val="tx1"/>
            </a:solidFill>
            <a:prstDash val="sysDot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5" name="TextBox 54">
            <a:extLst>
              <a:ext uri="{FF2B5EF4-FFF2-40B4-BE49-F238E27FC236}">
                <a16:creationId xmlns:a16="http://schemas.microsoft.com/office/drawing/2014/main" id="{0D124719-C250-9C4A-257B-90E350D0B0D0}"/>
              </a:ext>
            </a:extLst>
          </p:cNvPr>
          <p:cNvSpPr txBox="1"/>
          <p:nvPr/>
        </p:nvSpPr>
        <p:spPr>
          <a:xfrm>
            <a:off x="541112" y="4115181"/>
            <a:ext cx="8758077" cy="1349857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dirty="0" err="1">
                <a:solidFill>
                  <a:schemeClr val="tx1"/>
                </a:solidFill>
              </a:rPr>
              <a:t>대기열</a:t>
            </a:r>
            <a:r>
              <a:rPr lang="ko-KR" altLang="en-US" dirty="0">
                <a:solidFill>
                  <a:schemeClr val="tx1"/>
                </a:solidFill>
              </a:rPr>
              <a:t> 해소 시점과 필요 </a:t>
            </a:r>
            <a:r>
              <a:rPr lang="ko-KR" altLang="en-US" dirty="0" err="1">
                <a:solidFill>
                  <a:schemeClr val="tx1"/>
                </a:solidFill>
              </a:rPr>
              <a:t>시설수를</a:t>
            </a:r>
            <a:r>
              <a:rPr lang="ko-KR" altLang="en-US" dirty="0">
                <a:solidFill>
                  <a:schemeClr val="tx1"/>
                </a:solidFill>
              </a:rPr>
              <a:t> 예상을 위해 </a:t>
            </a:r>
            <a:r>
              <a:rPr lang="ko-KR" altLang="en-US" b="1" dirty="0">
                <a:solidFill>
                  <a:srgbClr val="0070C0"/>
                </a:solidFill>
              </a:rPr>
              <a:t>배수율</a:t>
            </a:r>
            <a:r>
              <a:rPr lang="ko-KR" altLang="en-US" dirty="0">
                <a:solidFill>
                  <a:schemeClr val="tx1"/>
                </a:solidFill>
              </a:rPr>
              <a:t>을 계산하는 방법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▷ </a:t>
            </a:r>
            <a:r>
              <a:rPr lang="ko-KR" altLang="en-US" dirty="0" err="1">
                <a:solidFill>
                  <a:schemeClr val="tx1"/>
                </a:solidFill>
              </a:rPr>
              <a:t>배수율</a:t>
            </a:r>
            <a:r>
              <a:rPr lang="en-US" altLang="ko-KR" dirty="0">
                <a:solidFill>
                  <a:schemeClr val="tx1"/>
                </a:solidFill>
              </a:rPr>
              <a:t> = </a:t>
            </a:r>
            <a:r>
              <a:rPr lang="ko-KR" altLang="en-US" dirty="0">
                <a:solidFill>
                  <a:schemeClr val="tx1"/>
                </a:solidFill>
              </a:rPr>
              <a:t>처리량 </a:t>
            </a:r>
            <a:r>
              <a:rPr lang="en-US" altLang="ko-KR" dirty="0">
                <a:solidFill>
                  <a:schemeClr val="tx1"/>
                </a:solidFill>
              </a:rPr>
              <a:t>– </a:t>
            </a:r>
            <a:r>
              <a:rPr lang="ko-KR" altLang="en-US" dirty="0">
                <a:solidFill>
                  <a:schemeClr val="tx1"/>
                </a:solidFill>
              </a:rPr>
              <a:t>유입량 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                   = </a:t>
            </a:r>
            <a:r>
              <a:rPr lang="ko-KR" altLang="en-US" dirty="0" err="1">
                <a:solidFill>
                  <a:schemeClr val="tx1"/>
                </a:solidFill>
              </a:rPr>
              <a:t>시설수</a:t>
            </a:r>
            <a:r>
              <a:rPr lang="en-US" altLang="ko-KR" dirty="0">
                <a:solidFill>
                  <a:schemeClr val="tx1"/>
                </a:solidFill>
              </a:rPr>
              <a:t>s *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     ※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&gt; (</a:t>
            </a:r>
            <a:r>
              <a:rPr lang="ko-KR" altLang="en-US" dirty="0" err="1">
                <a:solidFill>
                  <a:schemeClr val="tx1"/>
                </a:solidFill>
              </a:rPr>
              <a:t>시설수</a:t>
            </a:r>
            <a:r>
              <a:rPr lang="en-US" altLang="ko-KR" dirty="0">
                <a:solidFill>
                  <a:schemeClr val="tx1"/>
                </a:solidFill>
              </a:rPr>
              <a:t>s *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보다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큰 경우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즉 유입량이 처리량보다 크면 대기열을 해소할 수 없음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56" name="TextBox 55">
            <a:extLst>
              <a:ext uri="{FF2B5EF4-FFF2-40B4-BE49-F238E27FC236}">
                <a16:creationId xmlns:a16="http://schemas.microsoft.com/office/drawing/2014/main" id="{1C547E06-242B-642E-76A0-689AB9A3D70A}"/>
              </a:ext>
            </a:extLst>
          </p:cNvPr>
          <p:cNvSpPr txBox="1"/>
          <p:nvPr/>
        </p:nvSpPr>
        <p:spPr>
          <a:xfrm>
            <a:off x="541112" y="5636514"/>
            <a:ext cx="8758077" cy="7035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dirty="0">
                <a:solidFill>
                  <a:schemeClr val="tx1"/>
                </a:solidFill>
              </a:rPr>
              <a:t>현재 활성 중인 </a:t>
            </a:r>
            <a:r>
              <a:rPr lang="ko-KR" altLang="en-US" b="1" dirty="0">
                <a:solidFill>
                  <a:srgbClr val="0070C0"/>
                </a:solidFill>
              </a:rPr>
              <a:t>운영 </a:t>
            </a:r>
            <a:r>
              <a:rPr lang="ko-KR" altLang="en-US" b="1" dirty="0" err="1">
                <a:solidFill>
                  <a:srgbClr val="0070C0"/>
                </a:solidFill>
              </a:rPr>
              <a:t>시설수</a:t>
            </a:r>
            <a:r>
              <a:rPr lang="ko-KR" altLang="en-US" dirty="0" err="1">
                <a:solidFill>
                  <a:schemeClr val="tx1"/>
                </a:solidFill>
              </a:rPr>
              <a:t>을</a:t>
            </a:r>
            <a:r>
              <a:rPr lang="ko-KR" altLang="en-US" dirty="0">
                <a:solidFill>
                  <a:schemeClr val="tx1"/>
                </a:solidFill>
              </a:rPr>
              <a:t> 계산하는 방법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▷</a:t>
            </a:r>
            <a:r>
              <a:rPr lang="ko-KR" altLang="en-US" dirty="0">
                <a:solidFill>
                  <a:schemeClr val="tx1"/>
                </a:solidFill>
              </a:rPr>
              <a:t>같은 시간대 같은 </a:t>
            </a:r>
            <a:r>
              <a:rPr lang="en-US" altLang="ko-KR" dirty="0">
                <a:solidFill>
                  <a:schemeClr val="tx1"/>
                </a:solidFill>
              </a:rPr>
              <a:t>island</a:t>
            </a:r>
            <a:r>
              <a:rPr lang="ko-KR" altLang="en-US" dirty="0">
                <a:solidFill>
                  <a:schemeClr val="tx1"/>
                </a:solidFill>
              </a:rPr>
              <a:t>에 같은 큐</a:t>
            </a:r>
            <a:r>
              <a:rPr lang="en-US" altLang="ko-KR" dirty="0">
                <a:solidFill>
                  <a:schemeClr val="tx1"/>
                </a:solidFill>
              </a:rPr>
              <a:t>id</a:t>
            </a:r>
            <a:r>
              <a:rPr lang="ko-KR" altLang="en-US" dirty="0">
                <a:solidFill>
                  <a:schemeClr val="tx1"/>
                </a:solidFill>
              </a:rPr>
              <a:t>로 </a:t>
            </a:r>
            <a:r>
              <a:rPr lang="en-US" altLang="ko-KR" dirty="0">
                <a:solidFill>
                  <a:schemeClr val="tx1"/>
                </a:solidFill>
              </a:rPr>
              <a:t>Desk</a:t>
            </a:r>
            <a:r>
              <a:rPr lang="ko-KR" altLang="en-US" dirty="0">
                <a:solidFill>
                  <a:schemeClr val="tx1"/>
                </a:solidFill>
              </a:rPr>
              <a:t>에서 유출속도가 </a:t>
            </a:r>
            <a:r>
              <a:rPr lang="en-US" altLang="ko-KR" dirty="0">
                <a:solidFill>
                  <a:schemeClr val="tx1"/>
                </a:solidFill>
              </a:rPr>
              <a:t>0</a:t>
            </a:r>
            <a:r>
              <a:rPr lang="ko-KR" altLang="en-US" dirty="0">
                <a:solidFill>
                  <a:schemeClr val="tx1"/>
                </a:solidFill>
              </a:rPr>
              <a:t>보다 크고 </a:t>
            </a:r>
            <a:r>
              <a:rPr lang="en-US" altLang="ko-KR" dirty="0" err="1">
                <a:solidFill>
                  <a:schemeClr val="tx1"/>
                </a:solidFill>
              </a:rPr>
              <a:t>DeskOpen</a:t>
            </a:r>
            <a:r>
              <a:rPr lang="ko-KR" altLang="en-US" dirty="0">
                <a:solidFill>
                  <a:schemeClr val="tx1"/>
                </a:solidFill>
              </a:rPr>
              <a:t>이 사용</a:t>
            </a:r>
            <a:r>
              <a:rPr lang="en-US" altLang="ko-KR" dirty="0">
                <a:solidFill>
                  <a:schemeClr val="tx1"/>
                </a:solidFill>
              </a:rPr>
              <a:t>(1)</a:t>
            </a:r>
            <a:r>
              <a:rPr lang="ko-KR" altLang="en-US" dirty="0">
                <a:solidFill>
                  <a:schemeClr val="tx1"/>
                </a:solidFill>
              </a:rPr>
              <a:t>인 경우 카운트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7" name="순서도: 추출 56">
            <a:extLst>
              <a:ext uri="{FF2B5EF4-FFF2-40B4-BE49-F238E27FC236}">
                <a16:creationId xmlns:a16="http://schemas.microsoft.com/office/drawing/2014/main" id="{E81230FD-0784-291C-ED0E-284757387097}"/>
              </a:ext>
            </a:extLst>
          </p:cNvPr>
          <p:cNvSpPr/>
          <p:nvPr/>
        </p:nvSpPr>
        <p:spPr>
          <a:xfrm rot="5400000">
            <a:off x="2750441" y="1794739"/>
            <a:ext cx="366851" cy="121857"/>
          </a:xfrm>
          <a:prstGeom prst="flowChartExtra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58" name="순서도: 추출 57">
            <a:extLst>
              <a:ext uri="{FF2B5EF4-FFF2-40B4-BE49-F238E27FC236}">
                <a16:creationId xmlns:a16="http://schemas.microsoft.com/office/drawing/2014/main" id="{A0DBE36E-9ED8-D267-A50C-F6B5F62CBF7D}"/>
              </a:ext>
            </a:extLst>
          </p:cNvPr>
          <p:cNvSpPr/>
          <p:nvPr/>
        </p:nvSpPr>
        <p:spPr>
          <a:xfrm rot="5400000">
            <a:off x="5674064" y="1777673"/>
            <a:ext cx="366851" cy="121857"/>
          </a:xfrm>
          <a:prstGeom prst="flowChartExtract">
            <a:avLst/>
          </a:prstGeom>
          <a:solidFill>
            <a:schemeClr val="accent2">
              <a:lumMod val="60000"/>
              <a:lumOff val="40000"/>
            </a:schemeClr>
          </a:solidFill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sz="1400" dirty="0">
              <a:solidFill>
                <a:schemeClr val="tx1"/>
              </a:solidFill>
            </a:endParaRPr>
          </a:p>
        </p:txBody>
      </p:sp>
      <p:sp>
        <p:nvSpPr>
          <p:cNvPr id="60" name="TextBox 59">
            <a:extLst>
              <a:ext uri="{FF2B5EF4-FFF2-40B4-BE49-F238E27FC236}">
                <a16:creationId xmlns:a16="http://schemas.microsoft.com/office/drawing/2014/main" id="{BFD6ECAC-4822-C792-1673-46FA691D017D}"/>
              </a:ext>
            </a:extLst>
          </p:cNvPr>
          <p:cNvSpPr txBox="1"/>
          <p:nvPr/>
        </p:nvSpPr>
        <p:spPr>
          <a:xfrm>
            <a:off x="2696979" y="2041566"/>
            <a:ext cx="42746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</a:rPr>
              <a:t>10</a:t>
            </a:r>
            <a:r>
              <a:rPr lang="ko-KR" altLang="en-US" sz="800" dirty="0">
                <a:solidFill>
                  <a:schemeClr val="tx1"/>
                </a:solidFill>
              </a:rPr>
              <a:t>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</a:rPr>
              <a:t>경과</a:t>
            </a:r>
          </a:p>
        </p:txBody>
      </p:sp>
      <p:sp>
        <p:nvSpPr>
          <p:cNvPr id="61" name="TextBox 60">
            <a:extLst>
              <a:ext uri="{FF2B5EF4-FFF2-40B4-BE49-F238E27FC236}">
                <a16:creationId xmlns:a16="http://schemas.microsoft.com/office/drawing/2014/main" id="{A96E8A58-1ECD-9A71-39D3-396A582D8F21}"/>
              </a:ext>
            </a:extLst>
          </p:cNvPr>
          <p:cNvSpPr txBox="1"/>
          <p:nvPr/>
        </p:nvSpPr>
        <p:spPr>
          <a:xfrm>
            <a:off x="5624905" y="2041566"/>
            <a:ext cx="427461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 algn="ctr">
              <a:lnSpc>
                <a:spcPct val="150000"/>
              </a:lnSpc>
            </a:pPr>
            <a:r>
              <a:rPr lang="en-US" altLang="ko-KR" sz="800" dirty="0">
                <a:solidFill>
                  <a:schemeClr val="tx1"/>
                </a:solidFill>
              </a:rPr>
              <a:t>10</a:t>
            </a:r>
            <a:r>
              <a:rPr lang="ko-KR" altLang="en-US" sz="800" dirty="0">
                <a:solidFill>
                  <a:schemeClr val="tx1"/>
                </a:solidFill>
              </a:rPr>
              <a:t>분</a:t>
            </a:r>
            <a:endParaRPr lang="en-US" altLang="ko-KR" sz="800" dirty="0">
              <a:solidFill>
                <a:schemeClr val="tx1"/>
              </a:solidFill>
            </a:endParaRPr>
          </a:p>
          <a:p>
            <a:pPr algn="ctr">
              <a:lnSpc>
                <a:spcPct val="150000"/>
              </a:lnSpc>
            </a:pPr>
            <a:r>
              <a:rPr lang="ko-KR" altLang="en-US" sz="800" dirty="0">
                <a:solidFill>
                  <a:schemeClr val="tx1"/>
                </a:solidFill>
              </a:rPr>
              <a:t>경과</a:t>
            </a:r>
          </a:p>
        </p:txBody>
      </p:sp>
      <p:sp>
        <p:nvSpPr>
          <p:cNvPr id="62" name="TextBox 61">
            <a:extLst>
              <a:ext uri="{FF2B5EF4-FFF2-40B4-BE49-F238E27FC236}">
                <a16:creationId xmlns:a16="http://schemas.microsoft.com/office/drawing/2014/main" id="{D4933145-EF9C-F10E-BCBC-9E514DD46A91}"/>
              </a:ext>
            </a:extLst>
          </p:cNvPr>
          <p:cNvSpPr txBox="1"/>
          <p:nvPr/>
        </p:nvSpPr>
        <p:spPr>
          <a:xfrm>
            <a:off x="1968898" y="863619"/>
            <a:ext cx="679754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[Queue]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3" name="TextBox 62">
            <a:extLst>
              <a:ext uri="{FF2B5EF4-FFF2-40B4-BE49-F238E27FC236}">
                <a16:creationId xmlns:a16="http://schemas.microsoft.com/office/drawing/2014/main" id="{EC4A5140-0991-F582-7CC7-739FE9806AD5}"/>
              </a:ext>
            </a:extLst>
          </p:cNvPr>
          <p:cNvSpPr txBox="1"/>
          <p:nvPr/>
        </p:nvSpPr>
        <p:spPr>
          <a:xfrm>
            <a:off x="3671589" y="863619"/>
            <a:ext cx="727815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[Queue]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DD992AE8-4FCE-0439-80F0-026B2CA36073}"/>
              </a:ext>
            </a:extLst>
          </p:cNvPr>
          <p:cNvSpPr txBox="1"/>
          <p:nvPr/>
        </p:nvSpPr>
        <p:spPr>
          <a:xfrm>
            <a:off x="6595295" y="840265"/>
            <a:ext cx="727815" cy="309762"/>
          </a:xfrm>
          <a:prstGeom prst="rect">
            <a:avLst/>
          </a:prstGeom>
          <a:noFill/>
          <a:ln>
            <a:noFill/>
          </a:ln>
        </p:spPr>
        <p:txBody>
          <a:bodyPr wrap="square" rtlCol="0" anchor="ctr">
            <a:noAutofit/>
          </a:bodyPr>
          <a:lstStyle>
            <a:defPPr>
              <a:defRPr lang="en-US"/>
            </a:defPPr>
            <a:lvl1pPr>
              <a:defRPr sz="1000">
                <a:solidFill>
                  <a:srgbClr val="C00000"/>
                </a:solidFill>
              </a:defRPr>
            </a:lvl1pPr>
          </a:lstStyle>
          <a:p>
            <a:pPr>
              <a:lnSpc>
                <a:spcPct val="150000"/>
              </a:lnSpc>
            </a:pPr>
            <a:r>
              <a:rPr lang="en-US" altLang="ko-KR" sz="1200" dirty="0">
                <a:solidFill>
                  <a:schemeClr val="tx1"/>
                </a:solidFill>
              </a:rPr>
              <a:t>[Queue]</a:t>
            </a:r>
            <a:endParaRPr lang="ko-KR" altLang="en-US" sz="1200" dirty="0">
              <a:solidFill>
                <a:schemeClr val="tx1"/>
              </a:solidFill>
            </a:endParaRPr>
          </a:p>
        </p:txBody>
      </p:sp>
      <p:sp>
        <p:nvSpPr>
          <p:cNvPr id="66" name="TextBox 65">
            <a:extLst>
              <a:ext uri="{FF2B5EF4-FFF2-40B4-BE49-F238E27FC236}">
                <a16:creationId xmlns:a16="http://schemas.microsoft.com/office/drawing/2014/main" id="{ECEAB9D1-1CF4-830E-9809-41F51B6B2041}"/>
              </a:ext>
            </a:extLst>
          </p:cNvPr>
          <p:cNvSpPr txBox="1"/>
          <p:nvPr/>
        </p:nvSpPr>
        <p:spPr>
          <a:xfrm>
            <a:off x="7598429" y="1035133"/>
            <a:ext cx="1093509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ko-KR" altLang="en-US" sz="1200" b="1" dirty="0">
                <a:solidFill>
                  <a:srgbClr val="0070C0"/>
                </a:solidFill>
              </a:rPr>
              <a:t>유입량</a:t>
            </a:r>
            <a:r>
              <a:rPr lang="el-GR" altLang="ko-KR" sz="1200" b="1" dirty="0">
                <a:solidFill>
                  <a:srgbClr val="0070C0"/>
                </a:solidFill>
              </a:rPr>
              <a:t> λ</a:t>
            </a:r>
            <a:r>
              <a:rPr lang="el-GR" altLang="ko-KR" sz="1200" b="1" dirty="0">
                <a:solidFill>
                  <a:schemeClr val="tx1"/>
                </a:solidFill>
              </a:rPr>
              <a:t> </a:t>
            </a:r>
            <a:endParaRPr lang="ko-KR" altLang="en-US" sz="1200" dirty="0"/>
          </a:p>
        </p:txBody>
      </p:sp>
    </p:spTree>
    <p:extLst>
      <p:ext uri="{BB962C8B-B14F-4D97-AF65-F5344CB8AC3E}">
        <p14:creationId xmlns:p14="http://schemas.microsoft.com/office/powerpoint/2010/main" val="205879521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901BB8F2-5D06-623B-E736-C634F1C565EE}"/>
              </a:ext>
            </a:extLst>
          </p:cNvPr>
          <p:cNvSpPr txBox="1"/>
          <p:nvPr/>
        </p:nvSpPr>
        <p:spPr>
          <a:xfrm>
            <a:off x="231876" y="176073"/>
            <a:ext cx="7295715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&gt;&gt;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대기행렬 이론 활용한 시설 </a:t>
            </a:r>
            <a:r>
              <a:rPr lang="ko-KR" altLang="en-US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수용량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및 혼잡 해소시간 예측 방법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(3) – </a:t>
            </a:r>
            <a:r>
              <a:rPr lang="en-US" altLang="ko-KR" sz="1600" dirty="0" err="1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Xovis</a:t>
            </a:r>
            <a:r>
              <a:rPr lang="en-US" altLang="ko-KR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ko-KR" altLang="en-US" sz="16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분석</a:t>
            </a:r>
            <a:endParaRPr lang="en-US" altLang="ko-KR" sz="16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sp>
        <p:nvSpPr>
          <p:cNvPr id="34" name="TextBox 33">
            <a:extLst>
              <a:ext uri="{FF2B5EF4-FFF2-40B4-BE49-F238E27FC236}">
                <a16:creationId xmlns:a16="http://schemas.microsoft.com/office/drawing/2014/main" id="{E2B629EA-E5D4-169F-A1E1-E2C5E0AAE36F}"/>
              </a:ext>
            </a:extLst>
          </p:cNvPr>
          <p:cNvSpPr txBox="1"/>
          <p:nvPr/>
        </p:nvSpPr>
        <p:spPr>
          <a:xfrm>
            <a:off x="359805" y="657476"/>
            <a:ext cx="8477465" cy="102669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b="1" dirty="0">
                <a:solidFill>
                  <a:srgbClr val="0070C0"/>
                </a:solidFill>
              </a:rPr>
              <a:t>처리량</a:t>
            </a:r>
            <a:r>
              <a:rPr lang="el-GR" altLang="ko-KR" b="1" dirty="0">
                <a:solidFill>
                  <a:srgbClr val="0070C0"/>
                </a:solidFill>
              </a:rPr>
              <a:t>μ</a:t>
            </a:r>
            <a:r>
              <a:rPr lang="ko-KR" altLang="en-US" dirty="0" err="1">
                <a:solidFill>
                  <a:schemeClr val="tx1"/>
                </a:solidFill>
              </a:rPr>
              <a:t>를</a:t>
            </a:r>
            <a:r>
              <a:rPr lang="ko-KR" altLang="en-US" dirty="0">
                <a:solidFill>
                  <a:schemeClr val="tx1"/>
                </a:solidFill>
              </a:rPr>
              <a:t> 계산하는 방법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▷</a:t>
            </a:r>
            <a:r>
              <a:rPr lang="ko-KR" altLang="en-US" dirty="0">
                <a:solidFill>
                  <a:schemeClr val="tx1"/>
                </a:solidFill>
              </a:rPr>
              <a:t>평균 처리량 </a:t>
            </a:r>
            <a:r>
              <a:rPr lang="en-US" altLang="ko-KR" dirty="0">
                <a:solidFill>
                  <a:schemeClr val="tx1"/>
                </a:solidFill>
              </a:rPr>
              <a:t>= </a:t>
            </a:r>
            <a:r>
              <a:rPr lang="ko-KR" altLang="en-US" dirty="0">
                <a:solidFill>
                  <a:schemeClr val="tx1"/>
                </a:solidFill>
              </a:rPr>
              <a:t>같은 시간대 같은 </a:t>
            </a:r>
            <a:r>
              <a:rPr lang="en-US" altLang="ko-KR" dirty="0">
                <a:solidFill>
                  <a:schemeClr val="tx1"/>
                </a:solidFill>
              </a:rPr>
              <a:t>island</a:t>
            </a:r>
            <a:r>
              <a:rPr lang="ko-KR" altLang="en-US" dirty="0">
                <a:solidFill>
                  <a:schemeClr val="tx1"/>
                </a:solidFill>
              </a:rPr>
              <a:t>에 같은 큐</a:t>
            </a:r>
            <a:r>
              <a:rPr lang="en-US" altLang="ko-KR" dirty="0">
                <a:solidFill>
                  <a:schemeClr val="tx1"/>
                </a:solidFill>
              </a:rPr>
              <a:t>id</a:t>
            </a:r>
            <a:r>
              <a:rPr lang="ko-KR" altLang="en-US" dirty="0">
                <a:solidFill>
                  <a:schemeClr val="tx1"/>
                </a:solidFill>
              </a:rPr>
              <a:t>로 </a:t>
            </a:r>
            <a:r>
              <a:rPr lang="en-US" altLang="ko-KR" dirty="0">
                <a:solidFill>
                  <a:schemeClr val="tx1"/>
                </a:solidFill>
              </a:rPr>
              <a:t>Desk</a:t>
            </a:r>
            <a:r>
              <a:rPr lang="ko-KR" altLang="en-US" dirty="0">
                <a:solidFill>
                  <a:schemeClr val="tx1"/>
                </a:solidFill>
              </a:rPr>
              <a:t>에서 유출속도가 </a:t>
            </a:r>
            <a:r>
              <a:rPr lang="en-US" altLang="ko-KR" dirty="0">
                <a:solidFill>
                  <a:schemeClr val="tx1"/>
                </a:solidFill>
              </a:rPr>
              <a:t>0</a:t>
            </a:r>
            <a:r>
              <a:rPr lang="ko-KR" altLang="en-US" dirty="0">
                <a:solidFill>
                  <a:schemeClr val="tx1"/>
                </a:solidFill>
              </a:rPr>
              <a:t>보다 크고 </a:t>
            </a:r>
            <a:r>
              <a:rPr lang="en-US" altLang="ko-KR" dirty="0" err="1">
                <a:solidFill>
                  <a:schemeClr val="tx1"/>
                </a:solidFill>
              </a:rPr>
              <a:t>DeskOpen</a:t>
            </a:r>
            <a:r>
              <a:rPr lang="ko-KR" altLang="en-US" dirty="0">
                <a:solidFill>
                  <a:schemeClr val="tx1"/>
                </a:solidFill>
              </a:rPr>
              <a:t>이 사용</a:t>
            </a:r>
            <a:r>
              <a:rPr lang="en-US" altLang="ko-KR" dirty="0">
                <a:solidFill>
                  <a:schemeClr val="tx1"/>
                </a:solidFill>
              </a:rPr>
              <a:t>(1)</a:t>
            </a:r>
            <a:r>
              <a:rPr lang="ko-KR" altLang="en-US" dirty="0">
                <a:solidFill>
                  <a:schemeClr val="tx1"/>
                </a:solidFill>
              </a:rPr>
              <a:t>인 경우 데스크의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시간당 여객 유출 속도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outPaxRateDesk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를 합산하여 </a:t>
            </a:r>
            <a:r>
              <a:rPr lang="ko-KR" altLang="en-US" dirty="0" err="1">
                <a:solidFill>
                  <a:schemeClr val="tx1"/>
                </a:solidFill>
              </a:rPr>
              <a:t>활성된</a:t>
            </a:r>
            <a:r>
              <a:rPr lang="ko-KR" altLang="en-US" dirty="0">
                <a:solidFill>
                  <a:schemeClr val="tx1"/>
                </a:solidFill>
              </a:rPr>
              <a:t> 운영시설수로 나눔 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70D69F01-0172-330B-1911-096D6851E2B6}"/>
              </a:ext>
            </a:extLst>
          </p:cNvPr>
          <p:cNvSpPr txBox="1"/>
          <p:nvPr/>
        </p:nvSpPr>
        <p:spPr>
          <a:xfrm>
            <a:off x="359806" y="1832953"/>
            <a:ext cx="7806132" cy="7035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dirty="0">
                <a:solidFill>
                  <a:schemeClr val="tx1"/>
                </a:solidFill>
              </a:rPr>
              <a:t>현재 조건에서 처리할 일의 양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b="1" dirty="0" err="1">
                <a:solidFill>
                  <a:srgbClr val="0070C0"/>
                </a:solidFill>
              </a:rPr>
              <a:t>에를랑</a:t>
            </a:r>
            <a:r>
              <a:rPr lang="en-US" altLang="ko-KR" b="1" dirty="0">
                <a:solidFill>
                  <a:srgbClr val="0070C0"/>
                </a:solidFill>
              </a:rPr>
              <a:t>a</a:t>
            </a:r>
            <a:r>
              <a:rPr lang="ko-KR" altLang="en-US" dirty="0">
                <a:solidFill>
                  <a:schemeClr val="tx1"/>
                </a:solidFill>
              </a:rPr>
              <a:t>를 계산하는 방법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▷</a:t>
            </a:r>
            <a:r>
              <a:rPr lang="ko-KR" altLang="en-US" dirty="0" err="1">
                <a:solidFill>
                  <a:schemeClr val="tx1"/>
                </a:solidFill>
              </a:rPr>
              <a:t>에를랑</a:t>
            </a:r>
            <a:r>
              <a:rPr lang="en-US" altLang="ko-KR" dirty="0">
                <a:solidFill>
                  <a:schemeClr val="tx1"/>
                </a:solidFill>
              </a:rPr>
              <a:t>a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=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/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A24CED83-4ED3-E573-B667-40CBC2748FAE}"/>
              </a:ext>
            </a:extLst>
          </p:cNvPr>
          <p:cNvSpPr txBox="1"/>
          <p:nvPr/>
        </p:nvSpPr>
        <p:spPr>
          <a:xfrm>
            <a:off x="359806" y="2685265"/>
            <a:ext cx="7806132" cy="7035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dirty="0">
                <a:solidFill>
                  <a:schemeClr val="tx1"/>
                </a:solidFill>
              </a:rPr>
              <a:t>현재 조건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에서 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ko-KR" altLang="en-US" dirty="0">
                <a:solidFill>
                  <a:schemeClr val="tx1"/>
                </a:solidFill>
              </a:rPr>
              <a:t>를 </a:t>
            </a:r>
            <a:r>
              <a:rPr lang="en-US" altLang="ko-KR" dirty="0">
                <a:solidFill>
                  <a:schemeClr val="tx1"/>
                </a:solidFill>
              </a:rPr>
              <a:t>30</a:t>
            </a:r>
            <a:r>
              <a:rPr lang="ko-KR" altLang="en-US" dirty="0">
                <a:solidFill>
                  <a:schemeClr val="tx1"/>
                </a:solidFill>
              </a:rPr>
              <a:t>분 내에 처리할 때 필요한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b="1" dirty="0" err="1">
                <a:solidFill>
                  <a:srgbClr val="0070C0"/>
                </a:solidFill>
              </a:rPr>
              <a:t>시설수</a:t>
            </a:r>
            <a:r>
              <a:rPr lang="en-US" altLang="ko-KR" b="1" dirty="0">
                <a:solidFill>
                  <a:srgbClr val="0070C0"/>
                </a:solidFill>
              </a:rPr>
              <a:t>s</a:t>
            </a:r>
            <a:r>
              <a:rPr lang="ko-KR" altLang="en-US" dirty="0">
                <a:solidFill>
                  <a:schemeClr val="tx1"/>
                </a:solidFill>
              </a:rPr>
              <a:t>를 계산하는 방법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▷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ko-KR" altLang="en-US" dirty="0" err="1">
                <a:solidFill>
                  <a:schemeClr val="tx1"/>
                </a:solidFill>
              </a:rPr>
              <a:t>시설수</a:t>
            </a:r>
            <a:r>
              <a:rPr lang="en-US" altLang="ko-KR" dirty="0">
                <a:solidFill>
                  <a:schemeClr val="tx1"/>
                </a:solidFill>
              </a:rPr>
              <a:t>s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≥ { ( </a:t>
            </a:r>
            <a:r>
              <a:rPr lang="ko-KR" altLang="en-US" dirty="0">
                <a:solidFill>
                  <a:schemeClr val="tx1"/>
                </a:solidFill>
              </a:rPr>
              <a:t>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en-US" altLang="ko-KR" dirty="0">
                <a:solidFill>
                  <a:schemeClr val="tx1"/>
                </a:solidFill>
              </a:rPr>
              <a:t> /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30</a:t>
            </a:r>
            <a:r>
              <a:rPr lang="ko-KR" altLang="en-US" dirty="0">
                <a:solidFill>
                  <a:schemeClr val="tx1"/>
                </a:solidFill>
              </a:rPr>
              <a:t>분</a:t>
            </a:r>
            <a:r>
              <a:rPr lang="en-US" altLang="ko-KR" dirty="0">
                <a:solidFill>
                  <a:schemeClr val="tx1"/>
                </a:solidFill>
              </a:rPr>
              <a:t>) +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 }/</a:t>
            </a:r>
            <a:r>
              <a:rPr lang="ko-KR" altLang="en-US" dirty="0">
                <a:solidFill>
                  <a:schemeClr val="tx1"/>
                </a:solidFill>
              </a:rPr>
              <a:t> 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4471458-7F3F-AE2B-DF41-E78519804209}"/>
              </a:ext>
            </a:extLst>
          </p:cNvPr>
          <p:cNvSpPr txBox="1"/>
          <p:nvPr/>
        </p:nvSpPr>
        <p:spPr>
          <a:xfrm>
            <a:off x="359805" y="3680687"/>
            <a:ext cx="8269122" cy="1026691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☞ </a:t>
            </a:r>
            <a:r>
              <a:rPr lang="ko-KR" altLang="en-US" dirty="0">
                <a:solidFill>
                  <a:schemeClr val="tx1"/>
                </a:solidFill>
              </a:rPr>
              <a:t>현재 조건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 err="1">
                <a:solidFill>
                  <a:schemeClr val="tx1"/>
                </a:solidFill>
              </a:rPr>
              <a:t>시설수</a:t>
            </a:r>
            <a:r>
              <a:rPr lang="en-US" altLang="ko-KR" dirty="0">
                <a:solidFill>
                  <a:schemeClr val="tx1"/>
                </a:solidFill>
              </a:rPr>
              <a:t>s)</a:t>
            </a:r>
            <a:r>
              <a:rPr lang="ko-KR" altLang="en-US" dirty="0">
                <a:solidFill>
                  <a:schemeClr val="tx1"/>
                </a:solidFill>
              </a:rPr>
              <a:t>에서 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ko-KR" altLang="en-US" dirty="0">
                <a:solidFill>
                  <a:schemeClr val="tx1"/>
                </a:solidFill>
              </a:rPr>
              <a:t>이 </a:t>
            </a:r>
            <a:r>
              <a:rPr lang="en-US" altLang="ko-KR" dirty="0">
                <a:solidFill>
                  <a:schemeClr val="tx1"/>
                </a:solidFill>
              </a:rPr>
              <a:t>10</a:t>
            </a:r>
            <a:r>
              <a:rPr lang="ko-KR" altLang="en-US" dirty="0">
                <a:solidFill>
                  <a:schemeClr val="tx1"/>
                </a:solidFill>
              </a:rPr>
              <a:t>명 이하까지 걸리는 시간</a:t>
            </a:r>
            <a:r>
              <a:rPr lang="en-US" altLang="ko-KR" dirty="0">
                <a:solidFill>
                  <a:schemeClr val="tx1"/>
                </a:solidFill>
              </a:rPr>
              <a:t> </a:t>
            </a:r>
            <a:r>
              <a:rPr lang="ko-KR" altLang="en-US" b="1" dirty="0">
                <a:solidFill>
                  <a:srgbClr val="0070C0"/>
                </a:solidFill>
              </a:rPr>
              <a:t>소요시간</a:t>
            </a:r>
            <a:r>
              <a:rPr lang="en-US" altLang="ko-KR" b="1" dirty="0">
                <a:solidFill>
                  <a:srgbClr val="0070C0"/>
                </a:solidFill>
              </a:rPr>
              <a:t>t</a:t>
            </a:r>
            <a:r>
              <a:rPr lang="ko-KR" altLang="en-US" dirty="0">
                <a:solidFill>
                  <a:schemeClr val="tx1"/>
                </a:solidFill>
              </a:rPr>
              <a:t>를 계산하는 방법</a:t>
            </a:r>
            <a:r>
              <a:rPr lang="en-US" altLang="ko-KR" dirty="0">
                <a:solidFill>
                  <a:schemeClr val="tx1"/>
                </a:solidFill>
              </a:rPr>
              <a:t>, </a:t>
            </a:r>
            <a:r>
              <a:rPr lang="ko-KR" altLang="en-US" dirty="0">
                <a:solidFill>
                  <a:schemeClr val="tx1"/>
                </a:solidFill>
              </a:rPr>
              <a:t>즉 </a:t>
            </a:r>
            <a:r>
              <a:rPr lang="en-US" altLang="ko-KR" dirty="0">
                <a:solidFill>
                  <a:schemeClr val="tx1"/>
                </a:solidFill>
              </a:rPr>
              <a:t>(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en-US" altLang="ko-KR" dirty="0">
                <a:solidFill>
                  <a:schemeClr val="tx1"/>
                </a:solidFill>
              </a:rPr>
              <a:t> – 10</a:t>
            </a:r>
            <a:r>
              <a:rPr lang="ko-KR" altLang="en-US" dirty="0">
                <a:solidFill>
                  <a:schemeClr val="tx1"/>
                </a:solidFill>
              </a:rPr>
              <a:t>명</a:t>
            </a:r>
            <a:r>
              <a:rPr lang="en-US" altLang="ko-KR" dirty="0">
                <a:solidFill>
                  <a:schemeClr val="tx1"/>
                </a:solidFill>
              </a:rPr>
              <a:t>)</a:t>
            </a:r>
            <a:r>
              <a:rPr lang="ko-KR" altLang="en-US" dirty="0">
                <a:solidFill>
                  <a:schemeClr val="tx1"/>
                </a:solidFill>
              </a:rPr>
              <a:t>을 처리하는데 걸리는 시간을 구하는 것임</a:t>
            </a:r>
            <a:endParaRPr lang="en-US" altLang="ko-KR" dirty="0">
              <a:solidFill>
                <a:schemeClr val="tx1"/>
              </a:solidFill>
            </a:endParaRPr>
          </a:p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chemeClr val="tx1"/>
                </a:solidFill>
              </a:rPr>
              <a:t>    ▷</a:t>
            </a:r>
            <a:r>
              <a:rPr lang="ko-KR" altLang="en-US" dirty="0">
                <a:solidFill>
                  <a:schemeClr val="tx1"/>
                </a:solidFill>
              </a:rPr>
              <a:t> 소요시간</a:t>
            </a:r>
            <a:r>
              <a:rPr lang="en-US" altLang="ko-KR" dirty="0">
                <a:solidFill>
                  <a:schemeClr val="tx1"/>
                </a:solidFill>
              </a:rPr>
              <a:t>t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= ( </a:t>
            </a:r>
            <a:r>
              <a:rPr lang="ko-KR" altLang="en-US" dirty="0">
                <a:solidFill>
                  <a:schemeClr val="tx1"/>
                </a:solidFill>
              </a:rPr>
              <a:t>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en-US" altLang="ko-KR" dirty="0">
                <a:solidFill>
                  <a:schemeClr val="tx1"/>
                </a:solidFill>
              </a:rPr>
              <a:t> - 10</a:t>
            </a:r>
            <a:r>
              <a:rPr lang="ko-KR" altLang="en-US" dirty="0">
                <a:solidFill>
                  <a:schemeClr val="tx1"/>
                </a:solidFill>
              </a:rPr>
              <a:t>명</a:t>
            </a:r>
            <a:r>
              <a:rPr lang="en-US" altLang="ko-KR" dirty="0">
                <a:solidFill>
                  <a:schemeClr val="tx1"/>
                </a:solidFill>
              </a:rPr>
              <a:t>) /</a:t>
            </a:r>
            <a:r>
              <a:rPr lang="ko-KR" altLang="en-US" dirty="0">
                <a:solidFill>
                  <a:schemeClr val="tx1"/>
                </a:solidFill>
              </a:rPr>
              <a:t> </a:t>
            </a:r>
            <a:r>
              <a:rPr lang="en-US" altLang="ko-KR" dirty="0">
                <a:solidFill>
                  <a:schemeClr val="tx1"/>
                </a:solidFill>
              </a:rPr>
              <a:t>(s*</a:t>
            </a:r>
            <a:r>
              <a:rPr lang="ko-KR" altLang="en-US" dirty="0">
                <a:solidFill>
                  <a:schemeClr val="tx1"/>
                </a:solidFill>
              </a:rPr>
              <a:t>뮤</a:t>
            </a:r>
            <a:r>
              <a:rPr lang="el-GR" altLang="ko-KR" dirty="0">
                <a:solidFill>
                  <a:schemeClr val="tx1"/>
                </a:solidFill>
              </a:rPr>
              <a:t>μ</a:t>
            </a:r>
            <a:r>
              <a:rPr lang="en-US" altLang="ko-KR" dirty="0">
                <a:solidFill>
                  <a:schemeClr val="tx1"/>
                </a:solidFill>
              </a:rPr>
              <a:t> - </a:t>
            </a:r>
            <a:r>
              <a:rPr lang="ko-KR" altLang="en-US" dirty="0">
                <a:solidFill>
                  <a:schemeClr val="tx1"/>
                </a:solidFill>
              </a:rPr>
              <a:t>람다</a:t>
            </a:r>
            <a:r>
              <a:rPr lang="el-GR" altLang="ko-KR" dirty="0">
                <a:solidFill>
                  <a:schemeClr val="tx1"/>
                </a:solidFill>
              </a:rPr>
              <a:t>λ</a:t>
            </a:r>
            <a:r>
              <a:rPr lang="en-US" altLang="ko-KR" dirty="0">
                <a:solidFill>
                  <a:schemeClr val="tx1"/>
                </a:solidFill>
              </a:rPr>
              <a:t>) = ( </a:t>
            </a:r>
            <a:r>
              <a:rPr lang="ko-KR" altLang="en-US" dirty="0">
                <a:solidFill>
                  <a:schemeClr val="tx1"/>
                </a:solidFill>
              </a:rPr>
              <a:t>대기인원</a:t>
            </a:r>
            <a:r>
              <a:rPr lang="en-US" altLang="ko-KR" dirty="0" err="1">
                <a:solidFill>
                  <a:schemeClr val="tx1"/>
                </a:solidFill>
              </a:rPr>
              <a:t>L_q</a:t>
            </a:r>
            <a:r>
              <a:rPr lang="en-US" altLang="ko-KR" dirty="0">
                <a:solidFill>
                  <a:schemeClr val="tx1"/>
                </a:solidFill>
              </a:rPr>
              <a:t> - 10</a:t>
            </a:r>
            <a:r>
              <a:rPr lang="ko-KR" altLang="en-US" dirty="0">
                <a:solidFill>
                  <a:schemeClr val="tx1"/>
                </a:solidFill>
              </a:rPr>
              <a:t>명</a:t>
            </a:r>
            <a:r>
              <a:rPr lang="en-US" altLang="ko-KR" dirty="0">
                <a:solidFill>
                  <a:schemeClr val="tx1"/>
                </a:solidFill>
              </a:rPr>
              <a:t>) / </a:t>
            </a:r>
            <a:r>
              <a:rPr lang="ko-KR" altLang="en-US" dirty="0" err="1">
                <a:solidFill>
                  <a:schemeClr val="tx1"/>
                </a:solidFill>
              </a:rPr>
              <a:t>배수율</a:t>
            </a:r>
            <a:endParaRPr lang="en-US" altLang="ko-KR" dirty="0">
              <a:solidFill>
                <a:schemeClr val="tx1"/>
              </a:solidFill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47D2399-38E9-FF6A-7DC4-AB344787A0DD}"/>
              </a:ext>
            </a:extLst>
          </p:cNvPr>
          <p:cNvSpPr txBox="1"/>
          <p:nvPr/>
        </p:nvSpPr>
        <p:spPr>
          <a:xfrm>
            <a:off x="359805" y="4941413"/>
            <a:ext cx="8269122" cy="703526"/>
          </a:xfrm>
          <a:prstGeom prst="rect">
            <a:avLst/>
          </a:prstGeom>
          <a:noFill/>
          <a:ln w="9525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t">
            <a:spAutoFit/>
          </a:bodyPr>
          <a:lstStyle>
            <a:defPPr>
              <a:defRPr lang="en-US"/>
            </a:defPPr>
            <a:lvl1pPr algn="ctr">
              <a:defRPr sz="1400"/>
            </a:lvl1pPr>
            <a:lvl2pPr>
              <a:defRPr>
                <a:solidFill>
                  <a:schemeClr val="lt1"/>
                </a:solidFill>
              </a:defRPr>
            </a:lvl2pPr>
            <a:lvl3pPr>
              <a:defRPr>
                <a:solidFill>
                  <a:schemeClr val="lt1"/>
                </a:solidFill>
              </a:defRPr>
            </a:lvl3pPr>
            <a:lvl4pPr>
              <a:defRPr>
                <a:solidFill>
                  <a:schemeClr val="lt1"/>
                </a:solidFill>
              </a:defRPr>
            </a:lvl4pPr>
            <a:lvl5pPr>
              <a:defRPr>
                <a:solidFill>
                  <a:schemeClr val="lt1"/>
                </a:solidFill>
              </a:defRPr>
            </a:lvl5pPr>
            <a:lvl6pPr>
              <a:defRPr>
                <a:solidFill>
                  <a:schemeClr val="lt1"/>
                </a:solidFill>
              </a:defRPr>
            </a:lvl6pPr>
            <a:lvl7pPr>
              <a:defRPr>
                <a:solidFill>
                  <a:schemeClr val="lt1"/>
                </a:solidFill>
              </a:defRPr>
            </a:lvl7pPr>
            <a:lvl8pPr>
              <a:defRPr>
                <a:solidFill>
                  <a:schemeClr val="lt1"/>
                </a:solidFill>
              </a:defRPr>
            </a:lvl8pPr>
            <a:lvl9pPr>
              <a:defRPr>
                <a:solidFill>
                  <a:schemeClr val="lt1"/>
                </a:solidFill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altLang="ko-KR" dirty="0">
                <a:solidFill>
                  <a:srgbClr val="FF0000"/>
                </a:solidFill>
              </a:rPr>
              <a:t>※ (</a:t>
            </a:r>
            <a:r>
              <a:rPr lang="ko-KR" altLang="en-US" dirty="0">
                <a:solidFill>
                  <a:srgbClr val="FF0000"/>
                </a:solidFill>
              </a:rPr>
              <a:t>중요</a:t>
            </a:r>
            <a:r>
              <a:rPr lang="en-US" altLang="ko-KR" dirty="0">
                <a:solidFill>
                  <a:srgbClr val="FF0000"/>
                </a:solidFill>
              </a:rPr>
              <a:t>) </a:t>
            </a:r>
            <a:r>
              <a:rPr lang="en-US" altLang="ko-KR" dirty="0" err="1">
                <a:solidFill>
                  <a:srgbClr val="FF0000"/>
                </a:solidFill>
              </a:rPr>
              <a:t>Xovis</a:t>
            </a:r>
            <a:r>
              <a:rPr lang="en-US" altLang="ko-KR" dirty="0">
                <a:solidFill>
                  <a:srgbClr val="FF0000"/>
                </a:solidFill>
              </a:rPr>
              <a:t> </a:t>
            </a:r>
            <a:r>
              <a:rPr lang="ko-KR" altLang="en-US" dirty="0">
                <a:solidFill>
                  <a:srgbClr val="FF0000"/>
                </a:solidFill>
              </a:rPr>
              <a:t>같은 시간대별 </a:t>
            </a:r>
            <a:r>
              <a:rPr lang="ko-KR" altLang="en-US" dirty="0" err="1">
                <a:solidFill>
                  <a:srgbClr val="FF0000"/>
                </a:solidFill>
              </a:rPr>
              <a:t>관측값은</a:t>
            </a:r>
            <a:r>
              <a:rPr lang="ko-KR" altLang="en-US" dirty="0">
                <a:solidFill>
                  <a:srgbClr val="FF0000"/>
                </a:solidFill>
              </a:rPr>
              <a:t> 스냅샷 같은 것으로 당시 현장운영 환경 등으로 </a:t>
            </a:r>
            <a:r>
              <a:rPr lang="en-US" altLang="ko-KR" dirty="0">
                <a:solidFill>
                  <a:srgbClr val="FF0000"/>
                </a:solidFill>
              </a:rPr>
              <a:t>100% </a:t>
            </a:r>
            <a:r>
              <a:rPr lang="ko-KR" altLang="en-US" dirty="0">
                <a:solidFill>
                  <a:srgbClr val="FF0000"/>
                </a:solidFill>
              </a:rPr>
              <a:t>정확한 값이 나올 수 없으니</a:t>
            </a:r>
            <a:r>
              <a:rPr lang="en-US" altLang="ko-KR" dirty="0">
                <a:solidFill>
                  <a:srgbClr val="FF0000"/>
                </a:solidFill>
              </a:rPr>
              <a:t>, </a:t>
            </a:r>
            <a:r>
              <a:rPr lang="ko-KR" altLang="en-US" dirty="0">
                <a:solidFill>
                  <a:srgbClr val="FF0000"/>
                </a:solidFill>
              </a:rPr>
              <a:t>검증하면서 </a:t>
            </a:r>
            <a:r>
              <a:rPr lang="ko-KR" altLang="en-US" dirty="0" err="1">
                <a:solidFill>
                  <a:srgbClr val="FF0000"/>
                </a:solidFill>
              </a:rPr>
              <a:t>특이값을</a:t>
            </a:r>
            <a:r>
              <a:rPr lang="ko-KR" altLang="en-US" dirty="0">
                <a:solidFill>
                  <a:srgbClr val="FF0000"/>
                </a:solidFill>
              </a:rPr>
              <a:t> 어떻게 처리할 지 보정하는 기능을 추가하여야 함</a:t>
            </a:r>
            <a:endParaRPr lang="en-US" altLang="ko-KR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6570368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>
        <a:noFill/>
        <a:ln w="9525">
          <a:solidFill>
            <a:schemeClr val="tx1"/>
          </a:solidFill>
        </a:ln>
      </a:spPr>
      <a:bodyPr rtlCol="0" anchor="ctr"/>
      <a:lstStyle>
        <a:defPPr algn="ctr">
          <a:defRPr sz="1400" dirty="0">
            <a:solidFill>
              <a:schemeClr val="tx1"/>
            </a:solidFill>
          </a:defRPr>
        </a:defPPr>
      </a:lstStyle>
      <a:style>
        <a:lnRef idx="2">
          <a:schemeClr val="accent1">
            <a:shade val="50000"/>
          </a:schemeClr>
        </a:lnRef>
        <a:fillRef idx="1">
          <a:schemeClr val="accent1"/>
        </a:fillRef>
        <a:effectRef idx="0">
          <a:schemeClr val="accent1"/>
        </a:effectRef>
        <a:fontRef idx="minor">
          <a:schemeClr val="lt1"/>
        </a:fontRef>
      </a:style>
    </a:spDef>
    <a:lnDef>
      <a:spPr>
        <a:ln w="19050">
          <a:tailEnd type="triangle"/>
        </a:ln>
      </a:spPr>
      <a:bodyPr/>
      <a:lstStyle/>
      <a:style>
        <a:lnRef idx="1">
          <a:schemeClr val="accent1"/>
        </a:lnRef>
        <a:fillRef idx="0">
          <a:schemeClr val="accent1"/>
        </a:fillRef>
        <a:effectRef idx="0">
          <a:schemeClr val="accent1"/>
        </a:effectRef>
        <a:fontRef idx="minor">
          <a:schemeClr val="tx1"/>
        </a:fontRef>
      </a:style>
    </a:lnDef>
    <a:txDef>
      <a:spPr>
        <a:noFill/>
      </a:spPr>
      <a:bodyPr wrap="none" rtlCol="0">
        <a:spAutoFit/>
      </a:bodyPr>
      <a:lstStyle>
        <a:defPPr>
          <a:defRPr sz="600" dirty="0" smtClean="0"/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96400</TotalTime>
  <Words>814</Words>
  <Application>Microsoft Office PowerPoint</Application>
  <PresentationFormat>A4 용지(210x297mm)</PresentationFormat>
  <Paragraphs>122</Paragraphs>
  <Slides>3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3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3</vt:i4>
      </vt:variant>
    </vt:vector>
  </HeadingPairs>
  <TitlesOfParts>
    <vt:vector size="7" baseType="lpstr">
      <vt:lpstr>Arial</vt:lpstr>
      <vt:lpstr>Calibri</vt:lpstr>
      <vt:lpstr>Calibri Light</vt:lpstr>
      <vt:lpstr>Office 테마</vt:lpstr>
      <vt:lpstr>PowerPoint 프레젠테이션</vt:lpstr>
      <vt:lpstr>PowerPoint 프레젠테이션</vt:lpstr>
      <vt:lpstr>PowerPoint 프레젠테이션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vdiadmin</dc:creator>
  <cp:lastModifiedBy>노 세찬</cp:lastModifiedBy>
  <cp:revision>542</cp:revision>
  <cp:lastPrinted>2026-02-05T06:56:47Z</cp:lastPrinted>
  <dcterms:created xsi:type="dcterms:W3CDTF">2023-09-11T07:51:48Z</dcterms:created>
  <dcterms:modified xsi:type="dcterms:W3CDTF">2026-10-09T08:36:09Z</dcterms:modified>
</cp:coreProperties>
</file>