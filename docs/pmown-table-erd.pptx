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a262a986-b3cd-5ef0-c61b-4fa461042ada}">
          <p14:sldIdLst>
            <p14:sldId id="256"/>
            <p14:sldId id="257"/>
            <p14:sldId id="258"/>
          </p14:sldIdLst>
        </p14:section>
        <p14:section name="그룹별 ERD" id="{64792925-0d07-62aa-897d-520666fe343b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부록" id="{5cc95c97-4844-b042-0f7b-b20943d68954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PM 예측관리 PMOWN 테이블 ERD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cast · castapi 패키지(매퍼 포함)가 사용하는 PMOWN 스키마 테이블 58개 · 9개 그룹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기준: java/mapper/*.xml, java/ddl/*.sql (2026-10-25)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정리 범위와 표기법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aoms.pm.cast.* · aoms.pm.castapi.* 매퍼 SQL 에서 PMOWN. 접두어로 접근하는 테이블만 모았다 (CAOWN · GOOWN 제외)</a:t>
            </a:r>
            <a:endParaRPr lang="en-US" sz="1200" dirty="0"/>
          </a:p>
        </p:txBody>
      </p:sp>
      <p:sp>
        <p:nvSpPr>
          <p:cNvPr id="4" name="scope key 0"/>
          <p:cNvSpPr/>
          <p:nvPr/>
        </p:nvSpPr>
        <p:spPr>
          <a:xfrm>
            <a:off x="457200" y="1463040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조사 대상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463040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cast 매퍼 16개 + castapi 매퍼 2개(CastApiMapper · CastApiLogMapper) 의 SQL</a:t>
            </a:r>
            <a:endParaRPr lang="en-US" sz="1200" dirty="0"/>
          </a:p>
        </p:txBody>
      </p:sp>
      <p:sp>
        <p:nvSpPr>
          <p:cNvPr id="7" name="scope key 1"/>
          <p:cNvSpPr/>
          <p:nvPr/>
        </p:nvSpPr>
        <p:spPr>
          <a:xfrm>
            <a:off x="457200" y="2029968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996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결과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202996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테이블 58개 + 시퀀스 4개. 그 중 52개는 DDL 보유, 6개는 매퍼 사용 컬럼만 확인</a:t>
            </a:r>
            <a:endParaRPr lang="en-US" sz="1200" dirty="0"/>
          </a:p>
        </p:txBody>
      </p:sp>
      <p:sp>
        <p:nvSpPr>
          <p:cNvPr id="10" name="scope key 2"/>
          <p:cNvSpPr/>
          <p:nvPr/>
        </p:nvSpPr>
        <p:spPr>
          <a:xfrm>
            <a:off x="457200" y="2596896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9689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관계 근거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259689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DDL 의 PK·FK 와 매퍼의 JOIN · WHERE 조건. 대부분 물리 FK 없이 키 값으로 연결된다</a:t>
            </a:r>
            <a:endParaRPr lang="en-US" sz="1200" dirty="0"/>
          </a:p>
        </p:txBody>
      </p:sp>
      <p:sp>
        <p:nvSpPr>
          <p:cNvPr id="13" name="scope key 3"/>
          <p:cNvSpPr/>
          <p:nvPr/>
        </p:nvSpPr>
        <p:spPr>
          <a:xfrm>
            <a:off x="457200" y="3163824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6382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리소스 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16382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STNG · USER_MSTR 는 CAST 리소스 ID(FS001, CA002 …)를 값으로 들고, MSTR 는 번호(001)만 PK 로 둔다</a:t>
            </a:r>
            <a:endParaRPr lang="en-US" sz="1200" dirty="0"/>
          </a:p>
        </p:txBody>
      </p:sp>
      <p:sp>
        <p:nvSpPr>
          <p:cNvPr id="16" name="scope key 4"/>
          <p:cNvSpPr/>
          <p:nvPr/>
        </p:nvSpPr>
        <p:spPr>
          <a:xfrm>
            <a:off x="457200" y="3730752"/>
            <a:ext cx="1645920" cy="4389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075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박스 표기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730752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테이블명 / 용도, 키 컬럼만 표시. PK = 기본키, FK = 다른 테이블 키 참조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표기 예시</a:t>
            </a:r>
            <a:endParaRPr lang="en-US" sz="1200" dirty="0"/>
          </a:p>
        </p:txBody>
      </p:sp>
      <p:sp>
        <p:nvSpPr>
          <p:cNvPr id="20" name="tbl TN_PM_SMLT_STNG"/>
          <p:cNvSpPr/>
          <p:nvPr/>
        </p:nvSpPr>
        <p:spPr>
          <a:xfrm>
            <a:off x="457200" y="4800600"/>
            <a:ext cx="29260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hdr TN_PM_SMLT_STNG"/>
          <p:cNvSpPr/>
          <p:nvPr/>
        </p:nvSpPr>
        <p:spPr>
          <a:xfrm>
            <a:off x="457200" y="4800600"/>
            <a:ext cx="292608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" y="4837176"/>
            <a:ext cx="27980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TN_PM_SMLT_STNG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" y="5038344"/>
            <a:ext cx="27980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부모 테이블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78408" y="529437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" y="5477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" y="5477256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28" name="tbl TN_PM_SMLT_FCLT_WTNG_RSLT"/>
          <p:cNvSpPr/>
          <p:nvPr/>
        </p:nvSpPr>
        <p:spPr>
          <a:xfrm>
            <a:off x="4572000" y="4800600"/>
            <a:ext cx="310896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9" name="hdr TN_PM_SMLT_FCLT_WTNG_RSLT"/>
          <p:cNvSpPr/>
          <p:nvPr/>
        </p:nvSpPr>
        <p:spPr>
          <a:xfrm>
            <a:off x="4572000" y="4800600"/>
            <a:ext cx="310896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6008" y="483717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TN_PM_SMLT_FCLT_WTNG_RSLT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636008" y="50383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자식 테이블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093208" y="5294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 · SMLT_MDL_SN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5477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93208" y="547725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FCLT_TYPE_CD 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 flipH="1">
            <a:off x="3383280" y="5248656"/>
            <a:ext cx="11887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52544" y="50292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419856" y="50292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611880" y="4983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40" name="ref → ③ TN_PM_SMLT_SCHDL_MSTR"/>
          <p:cNvSpPr/>
          <p:nvPr/>
        </p:nvSpPr>
        <p:spPr>
          <a:xfrm>
            <a:off x="8595360" y="4800600"/>
            <a:ext cx="3108960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8668512" y="4846320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TN_PM_SMLT_SCHDL_MSTR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668512" y="50749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다른 그룹 테이블을 가리킬 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그룹 구성과 그룹 간 관계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실행(①)이 CAST 입력 리소스(③④⑤)를 ID 로 참조하고, 사용자 조건(②)은 실행 시 리소스로 발행된다</a:t>
            </a:r>
            <a:endParaRPr lang="en-US" sz="1200" dirty="0"/>
          </a:p>
        </p:txBody>
      </p:sp>
      <p:sp>
        <p:nvSpPr>
          <p:cNvPr id="4" name="ov 2"/>
          <p:cNvSpPr/>
          <p:nvPr/>
        </p:nvSpPr>
        <p:spPr>
          <a:xfrm>
            <a:off x="457200" y="1371600"/>
            <a:ext cx="3566160" cy="132588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447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② 사용자 시뮬레이션 현재상태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3346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6개 · 사용자·일자·터미널별 편집 상태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USER_CHKN_ISL / _OPER_HR / _BOOTH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USER_DPTGT / _OPER_HR · USER_FLT_PSG_AJMT</a:t>
            </a:r>
            <a:endParaRPr lang="en-US" sz="1000" dirty="0"/>
          </a:p>
        </p:txBody>
      </p:sp>
      <p:sp>
        <p:nvSpPr>
          <p:cNvPr id="7" name="ov 1"/>
          <p:cNvSpPr/>
          <p:nvPr/>
        </p:nvSpPr>
        <p:spPr>
          <a:xfrm>
            <a:off x="4343400" y="1371600"/>
            <a:ext cx="3566160" cy="132588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53128" y="14447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① 시뮬레이션 실행·결과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3128" y="1755648"/>
            <a:ext cx="3346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8개 · 실행 설정과 결과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USER_MSTR · STNG · RSLT_DTL(_REG_EXCL)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FCLT_WTNG_RSLT · SMLT_MDL · PSG_FCLT · ATFL</a:t>
            </a:r>
            <a:endParaRPr lang="en-US" sz="1000" dirty="0"/>
          </a:p>
        </p:txBody>
      </p:sp>
      <p:sp>
        <p:nvSpPr>
          <p:cNvPr id="10" name="ov 9"/>
          <p:cNvSpPr/>
          <p:nvPr/>
        </p:nvSpPr>
        <p:spPr>
          <a:xfrm>
            <a:off x="8229600" y="1371600"/>
            <a:ext cx="3502152" cy="132588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9328" y="144475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⑨ 로그·시스템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1755648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4개 · 독립 테이블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CAST_LOG_STNG · TH_PM_SMLT_CAST_LOG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TH_PM_DW_DEL_KEY_HSTRY · DROP_TMP</a:t>
            </a:r>
            <a:endParaRPr lang="en-US" sz="1000" dirty="0"/>
          </a:p>
        </p:txBody>
      </p:sp>
      <p:sp>
        <p:nvSpPr>
          <p:cNvPr id="13" name="cast resource region"/>
          <p:cNvSpPr/>
          <p:nvPr/>
        </p:nvSpPr>
        <p:spPr>
          <a:xfrm>
            <a:off x="365760" y="3154680"/>
            <a:ext cx="11457432" cy="1691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2004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CAST 입력 리소스 — MSTR(번호) 1 : N ATRB(내용) 구조 · 001 = 일일 운영, 002~999 = 사용자 실행</a:t>
            </a:r>
            <a:endParaRPr lang="en-US" sz="1000" dirty="0"/>
          </a:p>
        </p:txBody>
      </p:sp>
      <p:sp>
        <p:nvSpPr>
          <p:cNvPr id="15" name="ov 3"/>
          <p:cNvSpPr/>
          <p:nvPr/>
        </p:nvSpPr>
        <p:spPr>
          <a:xfrm>
            <a:off x="548640" y="3493008"/>
            <a:ext cx="3474720" cy="1216152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66160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③ CAST 리소스 – 운항·체크인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877056"/>
            <a:ext cx="3255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10개 · 5쌍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SCHDL(FS) · CKNCT(CA) · SBD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CKNCT_SRVC · CKNCT_TYPE</a:t>
            </a:r>
            <a:endParaRPr lang="en-US" sz="1000" dirty="0"/>
          </a:p>
        </p:txBody>
      </p:sp>
      <p:sp>
        <p:nvSpPr>
          <p:cNvPr id="18" name="ov 4"/>
          <p:cNvSpPr/>
          <p:nvPr/>
        </p:nvSpPr>
        <p:spPr>
          <a:xfrm>
            <a:off x="4434840" y="3493008"/>
            <a:ext cx="3474720" cy="1216152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44568" y="3566160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④ CAST 리소스 – 시설 운영표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44568" y="3877056"/>
            <a:ext cx="3255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12개 · 6쌍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 · DPTCNY · ENTCNY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SCRTY_CNTRL · TRNST_SCRTY_CNTRL · RPT_STNG</a:t>
            </a:r>
            <a:endParaRPr lang="en-US" sz="1000" dirty="0"/>
          </a:p>
        </p:txBody>
      </p:sp>
      <p:sp>
        <p:nvSpPr>
          <p:cNvPr id="21" name="ov 5"/>
          <p:cNvSpPr/>
          <p:nvPr/>
        </p:nvSpPr>
        <p:spPr>
          <a:xfrm>
            <a:off x="8321040" y="3493008"/>
            <a:ext cx="3319272" cy="1216152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30768" y="356616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⑤ PropertySet 속성그룹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3877056"/>
            <a:ext cx="309981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6개 · PS001 기준정보 / 999 전처리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 · PSG_ATRB · SHOW_UP_ATRB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SRVC_ATRB · 파라미터 코드 2종</a:t>
            </a:r>
            <a:endParaRPr lang="en-US" sz="1000" dirty="0"/>
          </a:p>
        </p:txBody>
      </p:sp>
      <p:sp>
        <p:nvSpPr>
          <p:cNvPr id="24" name="ov 7"/>
          <p:cNvSpPr/>
          <p:nvPr/>
        </p:nvSpPr>
        <p:spPr>
          <a:xfrm>
            <a:off x="457200" y="5257800"/>
            <a:ext cx="3566160" cy="109728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53309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⑦ 운영 기준정보·정책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641848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6개 · 운영시간(INFO→ELMNT→MNG)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셀프체크인·SBD 정책 · 혼잡등급 기준</a:t>
            </a:r>
            <a:endParaRPr lang="en-US" sz="1000" dirty="0"/>
          </a:p>
        </p:txBody>
      </p:sp>
      <p:sp>
        <p:nvSpPr>
          <p:cNvPr id="27" name="ov 8"/>
          <p:cNvSpPr/>
          <p:nvPr/>
        </p:nvSpPr>
        <p:spPr>
          <a:xfrm>
            <a:off x="4343400" y="5257800"/>
            <a:ext cx="3566160" cy="109728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53128" y="533095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⑧ 실측·실적 데이터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3128" y="5641848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3개 · 요약보기 실적 조회 (독립)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탑승객예고 · 출국처리실적 · 대기정보</a:t>
            </a:r>
            <a:endParaRPr lang="en-US" sz="1000" dirty="0"/>
          </a:p>
        </p:txBody>
      </p:sp>
      <p:sp>
        <p:nvSpPr>
          <p:cNvPr id="30" name="ov 6"/>
          <p:cNvSpPr/>
          <p:nvPr/>
        </p:nvSpPr>
        <p:spPr>
          <a:xfrm>
            <a:off x="8229600" y="5257800"/>
            <a:ext cx="3502152" cy="109728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39328" y="533095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⑥ 속성 적용 이력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5641848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3개 · 운영 반영 이력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SET_HSTRY → HSTRY → HSTRY_DTL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2029968"/>
            <a:ext cx="32004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40280" y="2697480"/>
            <a:ext cx="0" cy="4572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331720" y="28163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실행 시 002~999 로 발행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2697480"/>
            <a:ext cx="0" cy="4572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217920" y="28163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*_RSRC_ID 로 참조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2240280" y="4846320"/>
            <a:ext cx="0" cy="41148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2331720" y="49377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001 발행 시 참조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9966960" y="4846320"/>
            <a:ext cx="0" cy="41148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10058400" y="49377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카테고리 → 001 반영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시뮬레이션 실행·결과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공통 SMLT_ID(SQ1_TN_PM_SMLT_RSLT) 아래 모델별 STNG 1행, 결과는 STNG 키(SMLT_ID · SMLT_MDL_SN)를 상속한다</a:t>
            </a:r>
            <a:endParaRPr lang="en-US" sz="1200" dirty="0"/>
          </a:p>
        </p:txBody>
      </p:sp>
      <p:sp>
        <p:nvSpPr>
          <p:cNvPr id="4" name="tbl TN_PM_SMLT_USER_MSTR"/>
          <p:cNvSpPr/>
          <p:nvPr/>
        </p:nvSpPr>
        <p:spPr>
          <a:xfrm>
            <a:off x="457200" y="1417320"/>
            <a:ext cx="329184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hdr TN_PM_SMLT_USER_MSTR"/>
          <p:cNvSpPr/>
          <p:nvPr/>
        </p:nvSpPr>
        <p:spPr>
          <a:xfrm>
            <a:off x="457200" y="14173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4538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TN_PM_SMLT_USER_MSTR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550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실행 요청 (WhatIf)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110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SMLT_REQ_ID  (WI + 8자리)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0939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  → STNG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2768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RSLT_SMLT_ID  (호환)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78408" y="245973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*_RSRC_ID 14종  → ③④⑤</a:t>
            </a:r>
            <a:endParaRPr lang="en-US" sz="1000" dirty="0"/>
          </a:p>
        </p:txBody>
      </p:sp>
      <p:sp>
        <p:nvSpPr>
          <p:cNvPr id="13" name="tbl TN_PM_SMLT_STNG"/>
          <p:cNvSpPr/>
          <p:nvPr/>
        </p:nvSpPr>
        <p:spPr>
          <a:xfrm>
            <a:off x="4434840" y="1417320"/>
            <a:ext cx="32918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hdr TN_PM_SMLT_STNG"/>
          <p:cNvSpPr/>
          <p:nvPr/>
        </p:nvSpPr>
        <p:spPr>
          <a:xfrm>
            <a:off x="4434840" y="14173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98848" y="14538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TN_PM_SMLT_STNG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498848" y="16550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시뮬레이션 설정 (실행·모델별)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9884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9110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56048" y="20939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956048" y="22768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*_RSRC_ID 13종  → ③④⑤</a:t>
            </a:r>
            <a:endParaRPr lang="en-US" sz="1000" dirty="0"/>
          </a:p>
        </p:txBody>
      </p:sp>
      <p:sp>
        <p:nvSpPr>
          <p:cNvPr id="22" name="tbl TN_PM_SMLT_MDL"/>
          <p:cNvSpPr/>
          <p:nvPr/>
        </p:nvSpPr>
        <p:spPr>
          <a:xfrm>
            <a:off x="8412480" y="1417320"/>
            <a:ext cx="32918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3" name="hdr TN_PM_SMLT_MDL"/>
          <p:cNvSpPr/>
          <p:nvPr/>
        </p:nvSpPr>
        <p:spPr>
          <a:xfrm>
            <a:off x="8412480" y="14173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76488" y="14538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TN_PM_SMLT_MDL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476488" y="16550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시뮬레이션 모델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47648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933688" y="19110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933688" y="20939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SMLT_MDL_EXPLN  (= MDL_RSRC_ID)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933688" y="22768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SMLT_MDL_FILE_PATH_NM</a:t>
            </a:r>
            <a:endParaRPr lang="en-US" sz="1000" dirty="0"/>
          </a:p>
        </p:txBody>
      </p:sp>
      <p:sp>
        <p:nvSpPr>
          <p:cNvPr id="30" name="tbl TN_PM_PSG_MNG_ATFL"/>
          <p:cNvSpPr/>
          <p:nvPr/>
        </p:nvSpPr>
        <p:spPr>
          <a:xfrm>
            <a:off x="8412480" y="3200400"/>
            <a:ext cx="32918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1" name="hdr TN_PM_PSG_MNG_ATFL"/>
          <p:cNvSpPr/>
          <p:nvPr/>
        </p:nvSpPr>
        <p:spPr>
          <a:xfrm>
            <a:off x="8412480" y="320040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76488" y="323697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TN_PM_PSG_MNG_ATFL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476488" y="343814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첨부파일 (모델 파일)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476488" y="3694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933688" y="36941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ATCH_FILE_ID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476488" y="3877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933688" y="38770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ATCH_FILE_SN</a:t>
            </a:r>
            <a:endParaRPr lang="en-US" sz="1000" dirty="0"/>
          </a:p>
        </p:txBody>
      </p:sp>
      <p:sp>
        <p:nvSpPr>
          <p:cNvPr id="38" name="tbl TN_PM_SMLT_RSLT_DTL"/>
          <p:cNvSpPr/>
          <p:nvPr/>
        </p:nvSpPr>
        <p:spPr>
          <a:xfrm>
            <a:off x="4434840" y="3291840"/>
            <a:ext cx="329184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9" name="hdr TN_PM_SMLT_RSLT_DTL"/>
          <p:cNvSpPr/>
          <p:nvPr/>
        </p:nvSpPr>
        <p:spPr>
          <a:xfrm>
            <a:off x="4434840" y="329184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8848" y="332841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TN_PM_SMLT_RSLT_DTL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498848" y="352958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시뮬레이션 결과 상세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498848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956048" y="378561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498848" y="3968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956048" y="39684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SMLT_MDL_SN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498848" y="4151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41513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SMLT_EXCN_DT · SMLT_ACTL_DT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4498848" y="4334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956048" y="43342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50" name="tbl TN_PM_SMLT_PSG_FCLT"/>
          <p:cNvSpPr/>
          <p:nvPr/>
        </p:nvSpPr>
        <p:spPr>
          <a:xfrm>
            <a:off x="8412480" y="4709160"/>
            <a:ext cx="32918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1" name="hdr TN_PM_SMLT_PSG_FCLT"/>
          <p:cNvSpPr/>
          <p:nvPr/>
        </p:nvSpPr>
        <p:spPr>
          <a:xfrm>
            <a:off x="8412480" y="470916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476488" y="474573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TN_PM_SMLT_PSG_FCLT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476488" y="494690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시설 코드 (계층)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476488" y="52029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933688" y="520293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933688" y="538581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UP_PSG_FCLT_CD  (상위 시설)</a:t>
            </a:r>
            <a:endParaRPr lang="en-US" sz="1000" dirty="0"/>
          </a:p>
        </p:txBody>
      </p:sp>
      <p:sp>
        <p:nvSpPr>
          <p:cNvPr id="57" name="tbl TN_PM_SMLT_RSLT_DTL_REG_EXCL"/>
          <p:cNvSpPr/>
          <p:nvPr/>
        </p:nvSpPr>
        <p:spPr>
          <a:xfrm>
            <a:off x="457200" y="3291840"/>
            <a:ext cx="32918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8" name="hdr TN_PM_SMLT_RSLT_DTL_REG_EXCL"/>
          <p:cNvSpPr/>
          <p:nvPr/>
        </p:nvSpPr>
        <p:spPr>
          <a:xfrm>
            <a:off x="457200" y="329184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21208" y="332841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TN_PM_SMLT_RSLT_DTL_REG_EXCL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21208" y="352958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결과 미매핑 시설 (등록 제외)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521208" y="3785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978408" y="378561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21208" y="3968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978408" y="39684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SMLT_SN</a:t>
            </a:r>
            <a:endParaRPr lang="en-US" sz="1000" dirty="0"/>
          </a:p>
        </p:txBody>
      </p:sp>
      <p:sp>
        <p:nvSpPr>
          <p:cNvPr id="65" name="tbl TN_PM_SMLT_FCLT_WTNG_RSLT"/>
          <p:cNvSpPr/>
          <p:nvPr/>
        </p:nvSpPr>
        <p:spPr>
          <a:xfrm>
            <a:off x="457200" y="4617720"/>
            <a:ext cx="32918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6" name="hdr TN_PM_SMLT_FCLT_WTNG_RSLT"/>
          <p:cNvSpPr/>
          <p:nvPr/>
        </p:nvSpPr>
        <p:spPr>
          <a:xfrm>
            <a:off x="457200" y="4617720"/>
            <a:ext cx="3291840" cy="457200"/>
          </a:xfrm>
          <a:prstGeom prst="rect">
            <a:avLst/>
          </a:prstGeom>
          <a:solidFill>
            <a:schemeClr val="accent1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1208" y="4654296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TN_PM_SMLT_FCLT_WTNG_RSLT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521208" y="4855464"/>
            <a:ext cx="3163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시설 10분 대기 결과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521208" y="5111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978408" y="511149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SMLT_ID · SMLT_MDL_SN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5212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978408" y="52943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FCLT_TYPE_CD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21208" y="5477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978408" y="547725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FCLT_UNIT_CD · SEC_BGNG_DT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749040" y="1795882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3785616" y="157642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4215384" y="157642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 flipH="1">
            <a:off x="7726680" y="1956816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193024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776325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 flipV="1">
            <a:off x="10058400" y="2496312"/>
            <a:ext cx="0" cy="70408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2" name="Text 80"/>
          <p:cNvSpPr txBox="1"/>
          <p:nvPr/>
        </p:nvSpPr>
        <p:spPr>
          <a:xfrm>
            <a:off x="10104120" y="2980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1010412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9784080" y="27249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FILE_PATH_NM = ATCH_FILE_ID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 flipV="1">
            <a:off x="6080760" y="2496312"/>
            <a:ext cx="0" cy="7955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126480" y="307238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612648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749040" y="3739896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4069080" y="2971800"/>
            <a:ext cx="0" cy="768096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069080" y="2971800"/>
            <a:ext cx="731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4800600" y="2496312"/>
            <a:ext cx="0" cy="47548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3785616" y="352044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3749040" y="5049317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4069080" y="2971800"/>
            <a:ext cx="0" cy="2077517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069080" y="2971800"/>
            <a:ext cx="731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4800600" y="2496312"/>
            <a:ext cx="0" cy="47548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3785616" y="4829861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484632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4114800" y="452628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726680" y="4279392"/>
            <a:ext cx="3657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92440" y="4279392"/>
            <a:ext cx="0" cy="74980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92440" y="5029200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763256" y="40599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8193024" y="4809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1704320" y="5495544"/>
            <a:ext cx="1371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V="1">
            <a:off x="11841480" y="4937760"/>
            <a:ext cx="0" cy="55778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>
            <a:off x="11704320" y="4937760"/>
            <a:ext cx="1371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8" name="Text 106"/>
          <p:cNvSpPr txBox="1"/>
          <p:nvPr/>
        </p:nvSpPr>
        <p:spPr>
          <a:xfrm>
            <a:off x="10927080" y="4480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자기참조</a:t>
            </a:r>
            <a:endParaRPr lang="en-US" sz="1000" dirty="0"/>
          </a:p>
        </p:txBody>
      </p:sp>
      <p:sp>
        <p:nvSpPr>
          <p:cNvPr id="109" name="ref *_RSRC_ID → CAST 리소스 MSTR"/>
          <p:cNvSpPr/>
          <p:nvPr/>
        </p:nvSpPr>
        <p:spPr>
          <a:xfrm>
            <a:off x="4434840" y="5120640"/>
            <a:ext cx="3291840" cy="7772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110" name="Text 108"/>
          <p:cNvSpPr txBox="1"/>
          <p:nvPr/>
        </p:nvSpPr>
        <p:spPr>
          <a:xfrm>
            <a:off x="4507992" y="5166360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*_RSRC_ID → CAST 리소스 MSTR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4507992" y="539496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FS·CA·SBD·시설운영표·PS 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③ ④ ⑤ 그룹 장표 참고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5" name="Text 113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사용자 시뮬레이션 현재상태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편집용 테이블. 키 선두 (OWNER_USER_ID · EXCN_YMD · TMNL_ID) 는 세션 사용자·일자·터미널이며 실행 시 리소스로 복사된다</a:t>
            </a:r>
            <a:endParaRPr lang="en-US" sz="1200" dirty="0"/>
          </a:p>
        </p:txBody>
      </p:sp>
      <p:sp>
        <p:nvSpPr>
          <p:cNvPr id="4" name="tbl TN_PM_SMLT_USER_CHKN_ISL"/>
          <p:cNvSpPr/>
          <p:nvPr/>
        </p:nvSpPr>
        <p:spPr>
          <a:xfrm>
            <a:off x="457200" y="14173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hdr TN_PM_SMLT_USER_CHKN_ISL"/>
          <p:cNvSpPr/>
          <p:nvPr/>
        </p:nvSpPr>
        <p:spPr>
          <a:xfrm>
            <a:off x="457200" y="14173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4538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TN_PM_SMLT_USER_CHKN_ISL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550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체크인 아일랜드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110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212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0939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78408" y="22768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BOOTH_CNT · KOS_CNT · SBD_CNT</a:t>
            </a:r>
            <a:endParaRPr lang="en-US" sz="1000" dirty="0"/>
          </a:p>
        </p:txBody>
      </p:sp>
      <p:sp>
        <p:nvSpPr>
          <p:cNvPr id="13" name="tbl TN_PM_SMLT_USER_CHKN_OPER_HR"/>
          <p:cNvSpPr/>
          <p:nvPr/>
        </p:nvSpPr>
        <p:spPr>
          <a:xfrm>
            <a:off x="457200" y="30175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hdr TN_PM_SMLT_USER_CHKN_OPER_HR"/>
          <p:cNvSpPr/>
          <p:nvPr/>
        </p:nvSpPr>
        <p:spPr>
          <a:xfrm>
            <a:off x="457200" y="30175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" y="30540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TN_PM_SMLT_USER_CHKN_OPER_HR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" y="32552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체크인 운영시간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" y="3511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5112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" y="3694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78408" y="36941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" y="3877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38770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OPER_HR_SN</a:t>
            </a:r>
            <a:endParaRPr lang="en-US" sz="1000" dirty="0"/>
          </a:p>
        </p:txBody>
      </p:sp>
      <p:sp>
        <p:nvSpPr>
          <p:cNvPr id="23" name="tbl TN_PM_SMLT_USER_CHKN_BOOTH"/>
          <p:cNvSpPr/>
          <p:nvPr/>
        </p:nvSpPr>
        <p:spPr>
          <a:xfrm>
            <a:off x="457200" y="443484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4" name="hdr TN_PM_SMLT_USER_CHKN_BOOTH"/>
          <p:cNvSpPr/>
          <p:nvPr/>
        </p:nvSpPr>
        <p:spPr>
          <a:xfrm>
            <a:off x="457200" y="443484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1208" y="447141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TN_PM_SMLT_USER_CHKN_BOOTH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" y="467258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체크인 부스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" y="4928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" y="49286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1208" y="51114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" y="51114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" y="5294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78408" y="52943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BOOTH_NO</a:t>
            </a:r>
            <a:endParaRPr lang="en-US" sz="1000" dirty="0"/>
          </a:p>
        </p:txBody>
      </p:sp>
      <p:sp>
        <p:nvSpPr>
          <p:cNvPr id="33" name="tbl TN_PM_SMLT_USER_DPTGT"/>
          <p:cNvSpPr/>
          <p:nvPr/>
        </p:nvSpPr>
        <p:spPr>
          <a:xfrm>
            <a:off x="4343400" y="14173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hdr TN_PM_SMLT_USER_DPTGT"/>
          <p:cNvSpPr/>
          <p:nvPr/>
        </p:nvSpPr>
        <p:spPr>
          <a:xfrm>
            <a:off x="4343400" y="14173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07408" y="14538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TN_PM_SMLT_USER_DPTGT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16550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출국장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864608" y="19110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4074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864608" y="20939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DPTGT_NO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864608" y="22768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OPER_YN · SCSH_CNTOM · *_SRCH_CNTOM</a:t>
            </a:r>
            <a:endParaRPr lang="en-US" sz="1000" dirty="0"/>
          </a:p>
        </p:txBody>
      </p:sp>
      <p:sp>
        <p:nvSpPr>
          <p:cNvPr id="42" name="tbl TN_PM_SMLT_USER_DPTGT_OPER_HR"/>
          <p:cNvSpPr/>
          <p:nvPr/>
        </p:nvSpPr>
        <p:spPr>
          <a:xfrm>
            <a:off x="4343400" y="301752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3" name="hdr TN_PM_SMLT_USER_DPTGT_OPER_HR"/>
          <p:cNvSpPr/>
          <p:nvPr/>
        </p:nvSpPr>
        <p:spPr>
          <a:xfrm>
            <a:off x="4343400" y="3017520"/>
            <a:ext cx="3566160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07408" y="30540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TN_PM_SMLT_USER_DPTGT_OPER_HR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32552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출국장 운영시간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511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864608" y="35112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4407408" y="3694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864608" y="369417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DPTGT_NO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407408" y="38770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864608" y="38770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OPER_HR_SN</a:t>
            </a:r>
            <a:endParaRPr lang="en-US" sz="1000" dirty="0"/>
          </a:p>
        </p:txBody>
      </p:sp>
      <p:sp>
        <p:nvSpPr>
          <p:cNvPr id="52" name="tbl TN_PM_SMLT_USER_FLT_PSG_AJMT"/>
          <p:cNvSpPr/>
          <p:nvPr/>
        </p:nvSpPr>
        <p:spPr>
          <a:xfrm>
            <a:off x="8229600" y="141732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3" name="hdr TN_PM_SMLT_USER_FLT_PSG_AJMT"/>
          <p:cNvSpPr/>
          <p:nvPr/>
        </p:nvSpPr>
        <p:spPr>
          <a:xfrm>
            <a:off x="8229600" y="1417320"/>
            <a:ext cx="3502152" cy="457200"/>
          </a:xfrm>
          <a:prstGeom prst="rect">
            <a:avLst/>
          </a:prstGeom>
          <a:solidFill>
            <a:schemeClr val="accent2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93608" y="145389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TN_PM_SMLT_USER_FLT_PSG_AJMT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293608" y="165506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사용자 운항여객 조정률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2936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750808" y="191109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OWNER_USER_ID · EXCN_YMD · TMNL_ID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8750808" y="209397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AJMT_TYPE_CD · AJMT_RT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2240280" y="2496312"/>
            <a:ext cx="0" cy="52120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286000" y="27980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2377440" y="2514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274320" y="4812487"/>
            <a:ext cx="1828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274320" y="1737360"/>
            <a:ext cx="0" cy="3075127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4320" y="1737360"/>
            <a:ext cx="1828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37744" y="4593031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237744" y="15179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5720" y="38404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 flipV="1">
            <a:off x="6126480" y="2496312"/>
            <a:ext cx="0" cy="52120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172200" y="27980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172200" y="25146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263640" y="2514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73" name="ref → ③ CKNCT_ATRB · SBD_ATRB (CA·SBD)"/>
          <p:cNvSpPr/>
          <p:nvPr/>
        </p:nvSpPr>
        <p:spPr>
          <a:xfrm>
            <a:off x="457200" y="5623560"/>
            <a:ext cx="3566160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74" name="Text 72"/>
          <p:cNvSpPr txBox="1"/>
          <p:nvPr/>
        </p:nvSpPr>
        <p:spPr>
          <a:xfrm>
            <a:off x="530352" y="5669280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CKNCT_ATRB · SBD_ATRB (CA·SBD)</a:t>
            </a:r>
            <a:endParaRPr lang="en-US" sz="1000" dirty="0"/>
          </a:p>
        </p:txBody>
      </p:sp>
      <p:sp>
        <p:nvSpPr>
          <p:cNvPr id="75" name="ref → ④ DPTGT_ATRB · SCRTY_CNTRL_ATRB"/>
          <p:cNvSpPr/>
          <p:nvPr/>
        </p:nvSpPr>
        <p:spPr>
          <a:xfrm>
            <a:off x="4343400" y="5623560"/>
            <a:ext cx="3566160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4416552" y="5669280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④ DPTGT_ATRB · SCRTY_CNTRL_ATRB</a:t>
            </a:r>
            <a:endParaRPr lang="en-US" sz="1000" dirty="0"/>
          </a:p>
        </p:txBody>
      </p:sp>
      <p:sp>
        <p:nvSpPr>
          <p:cNvPr id="77" name="ref → ③ SCHDL_ATRB (FS)"/>
          <p:cNvSpPr/>
          <p:nvPr/>
        </p:nvSpPr>
        <p:spPr>
          <a:xfrm>
            <a:off x="8229600" y="5623560"/>
            <a:ext cx="3502152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8302752" y="5669280"/>
            <a:ext cx="3355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SCHDL_ATRB (FS)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2240280" y="5513832"/>
            <a:ext cx="0" cy="10972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6126480" y="4096512"/>
            <a:ext cx="0" cy="152704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9966960" y="2313432"/>
            <a:ext cx="0" cy="331012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82" name="Text 80"/>
          <p:cNvSpPr txBox="1"/>
          <p:nvPr/>
        </p:nvSpPr>
        <p:spPr>
          <a:xfrm>
            <a:off x="10058400" y="3566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실행 시 리소스(002~999)로 발행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6" name="Text 84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CAST 리소스 – 운항·체크인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MSTR PK(번호)를 ATRB 가 키 선두로 상속한다. FS·CA·SBD 의 ATRB 는 공통으로 SCHDL_ATRB_GROUP_ID 컬럼에 번호를 둔다</a:t>
            </a:r>
            <a:endParaRPr lang="en-US" sz="1200" dirty="0"/>
          </a:p>
        </p:txBody>
      </p:sp>
      <p:sp>
        <p:nvSpPr>
          <p:cNvPr id="4" name="ref ① STNG / USER_MSTR 리소스 ID 컬럼"/>
          <p:cNvSpPr/>
          <p:nvPr/>
        </p:nvSpPr>
        <p:spPr>
          <a:xfrm>
            <a:off x="457200" y="1280160"/>
            <a:ext cx="3108960" cy="4992624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30352" y="1325880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STNG / USER_MSTR 리소스 ID 컬럼</a:t>
            </a:r>
            <a:endParaRPr lang="en-US" sz="1000" dirty="0"/>
          </a:p>
        </p:txBody>
      </p:sp>
      <p:sp>
        <p:nvSpPr>
          <p:cNvPr id="6" name="tbl TN_PM_SMLT_SCHDL_MSTR"/>
          <p:cNvSpPr/>
          <p:nvPr/>
        </p:nvSpPr>
        <p:spPr>
          <a:xfrm>
            <a:off x="3977640" y="1600200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" name="hdr TN_PM_SMLT_SCHDL_MSTR"/>
          <p:cNvSpPr/>
          <p:nvPr/>
        </p:nvSpPr>
        <p:spPr>
          <a:xfrm>
            <a:off x="3977640" y="1600200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41648" y="1636776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TN_PM_SMLT_SCHDL_MSTR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041648" y="1837944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운항스케줄 (FS)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093976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SCHDL_ATRB_ID</a:t>
            </a:r>
            <a:endParaRPr lang="en-US" sz="1000" dirty="0"/>
          </a:p>
        </p:txBody>
      </p:sp>
      <p:sp>
        <p:nvSpPr>
          <p:cNvPr id="12" name="tbl TN_PM_SMLT_SCHDL_ATRB"/>
          <p:cNvSpPr/>
          <p:nvPr/>
        </p:nvSpPr>
        <p:spPr>
          <a:xfrm>
            <a:off x="7525512" y="1600200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hdr TN_PM_SMLT_SCHDL_ATRB"/>
          <p:cNvSpPr/>
          <p:nvPr/>
        </p:nvSpPr>
        <p:spPr>
          <a:xfrm>
            <a:off x="7525512" y="1600200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0" y="1636776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TN_PM_SMLT_SCHDL_ATRB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1837944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운항스케줄 속성 (편별)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2093976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SCHDL_ATRB_GROUP_ID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2768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276856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ARR_DEP_SE_CD · FLTNM · DEP_ARR_YMD · DEP_ARR_HM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7556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FLT_SCHDL_RSRC_ID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FS001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66160" y="1956816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360273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758184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H="1">
            <a:off x="6995160" y="1956816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0605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03173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7" name="tbl TN_PM_SMLT_CKNCT_MSTR"/>
          <p:cNvSpPr/>
          <p:nvPr/>
        </p:nvSpPr>
        <p:spPr>
          <a:xfrm>
            <a:off x="3977640" y="2532888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hdr TN_PM_SMLT_CKNCT_MSTR"/>
          <p:cNvSpPr/>
          <p:nvPr/>
        </p:nvSpPr>
        <p:spPr>
          <a:xfrm>
            <a:off x="3977640" y="2532888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041648" y="2569464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TN_PM_SMLT_CKNCT_MSTR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041648" y="2770632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체크인카운터 배정 (CA)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041648" y="3026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498848" y="3026664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CKNCT_ATRB_ID</a:t>
            </a:r>
            <a:endParaRPr lang="en-US" sz="1000" dirty="0"/>
          </a:p>
        </p:txBody>
      </p:sp>
      <p:sp>
        <p:nvSpPr>
          <p:cNvPr id="33" name="tbl TN_PM_SMLT_CKNCT_ATRB"/>
          <p:cNvSpPr/>
          <p:nvPr/>
        </p:nvSpPr>
        <p:spPr>
          <a:xfrm>
            <a:off x="7525512" y="2532888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hdr TN_PM_SMLT_CKNCT_ATRB"/>
          <p:cNvSpPr/>
          <p:nvPr/>
        </p:nvSpPr>
        <p:spPr>
          <a:xfrm>
            <a:off x="7525512" y="2532888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89520" y="2569464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TN_PM_SMLT_CKNCT_ATRB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589520" y="2770632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체크인카운터 배정 속성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3026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3026664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SCHDL_ATRB_GROUP_ID  (= CKNCT_ATRB_ID)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589520" y="32095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046720" y="3209544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BLCK_ID · TMNL_ID · CKNCT_ID · CRTR_YMD · 오픈·마감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268833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CKNCT_ALCTN_RSRC_ID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CA001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566160" y="2889504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3602736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758184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flipH="1">
            <a:off x="6995160" y="2889504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06056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031736" y="267004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8" name="tbl TN_PM_SMLT_SBD_MSTR"/>
          <p:cNvSpPr/>
          <p:nvPr/>
        </p:nvSpPr>
        <p:spPr>
          <a:xfrm>
            <a:off x="3977640" y="3465576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hdr TN_PM_SMLT_SBD_MSTR"/>
          <p:cNvSpPr/>
          <p:nvPr/>
        </p:nvSpPr>
        <p:spPr>
          <a:xfrm>
            <a:off x="3977640" y="3465576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041648" y="3502152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TN_PM_SMLT_SBD_MSTR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041648" y="3703320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셀프백드롭 배정 (SBD)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041648" y="39593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498848" y="3959352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SBD_ATRB_ID</a:t>
            </a:r>
            <a:endParaRPr lang="en-US" sz="1000" dirty="0"/>
          </a:p>
        </p:txBody>
      </p:sp>
      <p:sp>
        <p:nvSpPr>
          <p:cNvPr id="54" name="tbl TN_PM_SMLT_SBD_ATRB"/>
          <p:cNvSpPr/>
          <p:nvPr/>
        </p:nvSpPr>
        <p:spPr>
          <a:xfrm>
            <a:off x="7525512" y="3465576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5" name="hdr TN_PM_SMLT_SBD_ATRB"/>
          <p:cNvSpPr/>
          <p:nvPr/>
        </p:nvSpPr>
        <p:spPr>
          <a:xfrm>
            <a:off x="7525512" y="3465576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589520" y="3502152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TN_PM_SMLT_SBD_ATRB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589520" y="3703320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셀프백드롭 배정 속성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7589520" y="39593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8046720" y="3959352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SCHDL_ATRB_GROUP_ID  (= SBD_ATRB_ID)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589520" y="41422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8046720" y="4142232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BLCK_ID · TMNL_ID · CKNCT_ID · CRTR_YMD · 시작·종료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62102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SBD_CNTRL_ALCTN_ID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SBD001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566160" y="3822192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64" name="Text 62"/>
          <p:cNvSpPr txBox="1"/>
          <p:nvPr/>
        </p:nvSpPr>
        <p:spPr>
          <a:xfrm>
            <a:off x="3602736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3758184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 flipH="1">
            <a:off x="6995160" y="3822192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306056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7031736" y="360273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9" name="tbl TN_PM_SMLT_CKNCT_SRVC_MSTR"/>
          <p:cNvSpPr/>
          <p:nvPr/>
        </p:nvSpPr>
        <p:spPr>
          <a:xfrm>
            <a:off x="3977640" y="4398264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0" name="hdr TN_PM_SMLT_CKNCT_SRVC_MSTR"/>
          <p:cNvSpPr/>
          <p:nvPr/>
        </p:nvSpPr>
        <p:spPr>
          <a:xfrm>
            <a:off x="3977640" y="4398264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041648" y="4434840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TN_PM_SMLT_CKNCT_SRVC_MSTR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041648" y="4636008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서비스시간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041648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4498848" y="4892040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CKNCT_SRVC_ATRB_ID</a:t>
            </a:r>
            <a:endParaRPr lang="en-US" sz="1000" dirty="0"/>
          </a:p>
        </p:txBody>
      </p:sp>
      <p:sp>
        <p:nvSpPr>
          <p:cNvPr id="75" name="tbl TN_PM_SMLT_CKNCT_SRVC_ATRB"/>
          <p:cNvSpPr/>
          <p:nvPr/>
        </p:nvSpPr>
        <p:spPr>
          <a:xfrm>
            <a:off x="7525512" y="4398264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6" name="hdr TN_PM_SMLT_CKNCT_SRVC_ATRB"/>
          <p:cNvSpPr/>
          <p:nvPr/>
        </p:nvSpPr>
        <p:spPr>
          <a:xfrm>
            <a:off x="7525512" y="4398264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589520" y="4434840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TN_PM_SMLT_CKNCT_SRVC_ATRB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589520" y="4636008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서비스시간 속성 (항공사별)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75895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8046720" y="4892040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CKNCT_SRVC_ATRB_ID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7589520" y="50749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8046720" y="5074920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ALN_CD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455371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CKNCT_SRVC_HR_RSRC_ID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CheckinCounterServiceTime001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3566160" y="4754880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3602736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3758184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 flipH="1">
            <a:off x="6995160" y="4754880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306056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7031736" y="4535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90" name="tbl TN_PM_SMLT_CKNCT_TYPE_MSTR"/>
          <p:cNvSpPr/>
          <p:nvPr/>
        </p:nvSpPr>
        <p:spPr>
          <a:xfrm>
            <a:off x="3977640" y="5330952"/>
            <a:ext cx="30175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1" name="hdr TN_PM_SMLT_CKNCT_TYPE_MSTR"/>
          <p:cNvSpPr/>
          <p:nvPr/>
        </p:nvSpPr>
        <p:spPr>
          <a:xfrm>
            <a:off x="3977640" y="5330952"/>
            <a:ext cx="301752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041648" y="5367528"/>
            <a:ext cx="28895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TN_PM_SMLT_CKNCT_TYPE_MSTR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4041648" y="5568696"/>
            <a:ext cx="28895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유형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4041648" y="58247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4498848" y="5824728"/>
            <a:ext cx="24323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CKNCT_TYPE_ATRB_ID</a:t>
            </a:r>
            <a:endParaRPr lang="en-US" sz="1000" dirty="0"/>
          </a:p>
        </p:txBody>
      </p:sp>
      <p:sp>
        <p:nvSpPr>
          <p:cNvPr id="96" name="tbl TN_PM_SMLT_CKNCT_TYPE_ATRB"/>
          <p:cNvSpPr/>
          <p:nvPr/>
        </p:nvSpPr>
        <p:spPr>
          <a:xfrm>
            <a:off x="7525512" y="5330952"/>
            <a:ext cx="42062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7" name="hdr TN_PM_SMLT_CKNCT_TYPE_ATRB"/>
          <p:cNvSpPr/>
          <p:nvPr/>
        </p:nvSpPr>
        <p:spPr>
          <a:xfrm>
            <a:off x="7525512" y="5330952"/>
            <a:ext cx="4206240" cy="457200"/>
          </a:xfrm>
          <a:prstGeom prst="rect">
            <a:avLst/>
          </a:prstGeom>
          <a:solidFill>
            <a:schemeClr val="accent3">
              <a:alpha val="25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589520" y="5367528"/>
            <a:ext cx="4078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TN_PM_SMLT_CKNCT_TYPE_ATRB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7589520" y="5568696"/>
            <a:ext cx="40782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체크인 유형 속성 (항공사별 비율)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589520" y="58247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01" name="Text 99"/>
          <p:cNvSpPr txBox="1"/>
          <p:nvPr/>
        </p:nvSpPr>
        <p:spPr>
          <a:xfrm>
            <a:off x="8046720" y="5824728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CKNCT_TYPE_ATRB_ID  (001 · 999)</a:t>
            </a:r>
            <a:endParaRPr lang="en-US" sz="1000" dirty="0"/>
          </a:p>
        </p:txBody>
      </p:sp>
      <p:sp>
        <p:nvSpPr>
          <p:cNvPr id="102" name="Text 100"/>
          <p:cNvSpPr txBox="1"/>
          <p:nvPr/>
        </p:nvSpPr>
        <p:spPr>
          <a:xfrm>
            <a:off x="7589520" y="60076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046720" y="6007608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ALN_CD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548640" y="54864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CHKN_TYPE_RSRC_ID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예) CheckinType001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3566160" y="5687568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06" name="Text 104"/>
          <p:cNvSpPr txBox="1"/>
          <p:nvPr/>
        </p:nvSpPr>
        <p:spPr>
          <a:xfrm>
            <a:off x="3602736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3758184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 flipH="1">
            <a:off x="6995160" y="5687568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306056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7031736" y="54681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4" name="Text 112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CAST 리소스 – 시설 운영표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ATRB 키 선두 = MSTR PK (FK). 운영표 번호는 FS 번호와 공유한다 (같은 번호의 SCHDL_ATRB 일자 사용). 왼쪽 컬럼명은 STNG / USER_MSTR 순</a:t>
            </a:r>
            <a:endParaRPr lang="en-US" sz="1200" dirty="0"/>
          </a:p>
        </p:txBody>
      </p:sp>
      <p:sp>
        <p:nvSpPr>
          <p:cNvPr id="4" name="ref ① STNG / USER_MSTR 리소스 ID 컬럼"/>
          <p:cNvSpPr/>
          <p:nvPr/>
        </p:nvSpPr>
        <p:spPr>
          <a:xfrm>
            <a:off x="457200" y="1280160"/>
            <a:ext cx="2788920" cy="501091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30352" y="1325880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STNG / USER_MSTR 리소스 ID 컬럼</a:t>
            </a:r>
            <a:endParaRPr lang="en-US" sz="1000" dirty="0"/>
          </a:p>
        </p:txBody>
      </p:sp>
      <p:sp>
        <p:nvSpPr>
          <p:cNvPr id="6" name="tbl TN_PM_SMLT_FCLTY_OPNG_DPTGT_MSTR"/>
          <p:cNvSpPr/>
          <p:nvPr/>
        </p:nvSpPr>
        <p:spPr>
          <a:xfrm>
            <a:off x="3657600" y="1600200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" name="hdr TN_PM_SMLT_FCLTY_OPNG_DPTGT_MSTR"/>
          <p:cNvSpPr/>
          <p:nvPr/>
        </p:nvSpPr>
        <p:spPr>
          <a:xfrm>
            <a:off x="3657600" y="1600200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608" y="1636776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TN_PM_SMLT_FCLTY_OPNG_DPTGT_MSTR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21608" y="1837944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출국장 운영표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216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178808" y="2093976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DPTGT_ATRB_ID</a:t>
            </a:r>
            <a:endParaRPr lang="en-US" sz="1000" dirty="0"/>
          </a:p>
        </p:txBody>
      </p:sp>
      <p:sp>
        <p:nvSpPr>
          <p:cNvPr id="12" name="tbl TN_PM_SMLT_FCLTY_OPNG_DPTGT_ATRB"/>
          <p:cNvSpPr/>
          <p:nvPr/>
        </p:nvSpPr>
        <p:spPr>
          <a:xfrm>
            <a:off x="7799832" y="1600200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hdr TN_PM_SMLT_FCLTY_OPNG_DPTGT_ATRB"/>
          <p:cNvSpPr/>
          <p:nvPr/>
        </p:nvSpPr>
        <p:spPr>
          <a:xfrm>
            <a:off x="7799832" y="1600200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1636776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TN_PM_SMLT_FCLTY_OPNG_DPTGT_ATRB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1837944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출국장 운영표 속성 (레인·시각)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09397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DPTGT_ATRB_ID · FCLTY_OPNG_SN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7556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FCLTY_OPNG_DPTCNY_SRNG_RSRC_ID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DepartureGate001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1956816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328269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7269480" y="1956816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037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06056" y="17373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5" name="tbl TN_PM_SMLT_FCLTY_OPNG_DPTCNY_MSTR"/>
          <p:cNvSpPr/>
          <p:nvPr/>
        </p:nvSpPr>
        <p:spPr>
          <a:xfrm>
            <a:off x="3657600" y="2386584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6" name="hdr TN_PM_SMLT_FCLTY_OPNG_DPTCNY_MSTR"/>
          <p:cNvSpPr/>
          <p:nvPr/>
        </p:nvSpPr>
        <p:spPr>
          <a:xfrm>
            <a:off x="3657600" y="2386584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21608" y="2423160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TN_PM_SMLT_FCLTY_OPNG_DPTCNY_MSTR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2624328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출국심사 운영표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721608" y="28803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2880360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DPTCNY_ATRB_ID</a:t>
            </a:r>
            <a:endParaRPr lang="en-US" sz="1000" dirty="0"/>
          </a:p>
        </p:txBody>
      </p:sp>
      <p:sp>
        <p:nvSpPr>
          <p:cNvPr id="31" name="tbl TN_PM_SMLT_FCLTY_OPNG_DPTCNY_ATRB"/>
          <p:cNvSpPr/>
          <p:nvPr/>
        </p:nvSpPr>
        <p:spPr>
          <a:xfrm>
            <a:off x="7799832" y="2386584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2" name="hdr TN_PM_SMLT_FCLTY_OPNG_DPTCNY_ATRB"/>
          <p:cNvSpPr/>
          <p:nvPr/>
        </p:nvSpPr>
        <p:spPr>
          <a:xfrm>
            <a:off x="7799832" y="2386584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63840" y="2423160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TN_PM_SMLT_FCLTY_OPNG_DPTCNY_ATRB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2624328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출국심사 운영표 속성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0" y="28803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2880360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DPTCNY_ATRB_ID · FCLTY_OPNG_SN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54203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FCLTY_OPNG_EMI / _DPTCNY_RSRC_ID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Emigration001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46120" y="2743200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3282696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438144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7269480" y="2743200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0376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7306056" y="25237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bl TN_PM_SMLT_FCLTY_OPNG_ENTCNY_MSTR"/>
          <p:cNvSpPr/>
          <p:nvPr/>
        </p:nvSpPr>
        <p:spPr>
          <a:xfrm>
            <a:off x="3657600" y="3172968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5" name="hdr TN_PM_SMLT_FCLTY_OPNG_ENTCNY_MSTR"/>
          <p:cNvSpPr/>
          <p:nvPr/>
        </p:nvSpPr>
        <p:spPr>
          <a:xfrm>
            <a:off x="3657600" y="3172968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721608" y="3209544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TN_PM_SMLT_FCLTY_OPNG_ENTCNY_MSTR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721608" y="3410712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입국심사 운영표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3721608" y="36667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4178808" y="3666744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ENTCNY_ATRB_ID</a:t>
            </a:r>
            <a:endParaRPr lang="en-US" sz="1000" dirty="0"/>
          </a:p>
        </p:txBody>
      </p:sp>
      <p:sp>
        <p:nvSpPr>
          <p:cNvPr id="50" name="tbl TN_PM_SMLT_FCLTY_OPNG_ENTCNY_ATRB"/>
          <p:cNvSpPr/>
          <p:nvPr/>
        </p:nvSpPr>
        <p:spPr>
          <a:xfrm>
            <a:off x="7799832" y="3172968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1" name="hdr TN_PM_SMLT_FCLTY_OPNG_ENTCNY_ATRB"/>
          <p:cNvSpPr/>
          <p:nvPr/>
        </p:nvSpPr>
        <p:spPr>
          <a:xfrm>
            <a:off x="7799832" y="3172968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863840" y="3209544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TN_PM_SMLT_FCLTY_OPNG_ENTCNY_ATRB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863840" y="3410712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입국심사 운영표 속성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36667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3666744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ENTCNY_ATRB_ID · FCLTY_OPNG_SN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48640" y="33284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FCLTY_OPNG_IMMI / _ENTCNY_RSRC_ID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Immigration001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246120" y="3529584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282696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3438144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 flipH="1">
            <a:off x="7269480" y="3529584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80376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7306056" y="331012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3" name="tbl TN_PM_SMLT_FCLTY_OPNG_SCRTY_CNTRL_MSTR"/>
          <p:cNvSpPr/>
          <p:nvPr/>
        </p:nvSpPr>
        <p:spPr>
          <a:xfrm>
            <a:off x="3657600" y="3959352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4" name="hdr TN_PM_SMLT_FCLTY_OPNG_SCRTY_CNTRL_MSTR"/>
          <p:cNvSpPr/>
          <p:nvPr/>
        </p:nvSpPr>
        <p:spPr>
          <a:xfrm>
            <a:off x="3657600" y="3959352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21608" y="3995928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TN_PM_SMLT_FCLTY_OPNG_SCRTY_CNTRL_MSTR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3721608" y="4197096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보안검색 운영표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721608" y="4453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178808" y="4453128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SCRTY_CNTRL_ATRB_ID</a:t>
            </a:r>
            <a:endParaRPr lang="en-US" sz="1000" dirty="0"/>
          </a:p>
        </p:txBody>
      </p:sp>
      <p:sp>
        <p:nvSpPr>
          <p:cNvPr id="69" name="tbl TN_PM_SMLT_FCLTY_OPNG_SCRTY_CNTRL_ATRB"/>
          <p:cNvSpPr/>
          <p:nvPr/>
        </p:nvSpPr>
        <p:spPr>
          <a:xfrm>
            <a:off x="7799832" y="3959352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0" name="hdr TN_PM_SMLT_FCLTY_OPNG_SCRTY_CNTRL_ATRB"/>
          <p:cNvSpPr/>
          <p:nvPr/>
        </p:nvSpPr>
        <p:spPr>
          <a:xfrm>
            <a:off x="7799832" y="3959352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863840" y="3995928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TN_PM_SMLT_FCLTY_OPNG_SCRTY_CNTRL_ATRB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863840" y="4197096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보안검색 운영표 속성 (수량)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7863840" y="4453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8321040" y="4453128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SCRTY_CNTRL_ATRB_ID · FCLTY_OPNG_SN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41148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FCLTY_OPNG_SCRTY_CNTRL_RSRC_ID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SecurityControl001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3246120" y="4315968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3282696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3438144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 flipH="1">
            <a:off x="7269480" y="4315968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580376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7306056" y="409651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2" name="tbl TN_PM_SMLT_FCLTY_OPNG_TRNST_SCRTY_CNTRL_MSTR"/>
          <p:cNvSpPr/>
          <p:nvPr/>
        </p:nvSpPr>
        <p:spPr>
          <a:xfrm>
            <a:off x="3657600" y="4745736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3" name="hdr TN_PM_SMLT_FCLTY_OPNG_TRNST_SCRTY_CNTRL_MSTR"/>
          <p:cNvSpPr/>
          <p:nvPr/>
        </p:nvSpPr>
        <p:spPr>
          <a:xfrm>
            <a:off x="3657600" y="4745736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3721608" y="4782312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TN_PM_SMLT_FCLTY_OPNG_TRNST_SCRTY_CNTRL_MSTR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3721608" y="4983480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환승보안검색 운영표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3721608" y="5239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4178808" y="5239512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TRNST_SCRTY_CNTRL_ATRB_ID</a:t>
            </a:r>
            <a:endParaRPr lang="en-US" sz="1000" dirty="0"/>
          </a:p>
        </p:txBody>
      </p:sp>
      <p:sp>
        <p:nvSpPr>
          <p:cNvPr id="88" name="tbl TN_PM_SMLT_FCLTY_OPNG_TRNST_SCRTY_CNTRL_ATRB"/>
          <p:cNvSpPr/>
          <p:nvPr/>
        </p:nvSpPr>
        <p:spPr>
          <a:xfrm>
            <a:off x="7799832" y="4745736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9" name="hdr TN_PM_SMLT_FCLTY_OPNG_TRNST_SCRTY_CNTRL_ATRB"/>
          <p:cNvSpPr/>
          <p:nvPr/>
        </p:nvSpPr>
        <p:spPr>
          <a:xfrm>
            <a:off x="7799832" y="4745736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63840" y="4782312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TN_PM_SMLT_FCLTY_OPNG_TRNST_SCRTY_CNTRL_ATRB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4983480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환승보안검색 운영표 속성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239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8321040" y="5239512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TRNST_SCRTY_CNTRL_ATRB_ID · FCLTY_OPNG_SN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548640" y="49011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FCLTY_OPNG_TR_SCRTY_CNTRL_RSRC_ID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TransferSecurityControl001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3246120" y="5102352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96" name="Text 94"/>
          <p:cNvSpPr txBox="1"/>
          <p:nvPr/>
        </p:nvSpPr>
        <p:spPr>
          <a:xfrm>
            <a:off x="3282696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3438144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 flipH="1">
            <a:off x="7269480" y="5102352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80376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306056" y="488289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01" name="tbl TN_PM_SMLT_RPT_STNG_HR_GROUP_MSTR"/>
          <p:cNvSpPr/>
          <p:nvPr/>
        </p:nvSpPr>
        <p:spPr>
          <a:xfrm>
            <a:off x="3657600" y="5532120"/>
            <a:ext cx="361188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2" name="hdr TN_PM_SMLT_RPT_STNG_HR_GROUP_MSTR"/>
          <p:cNvSpPr/>
          <p:nvPr/>
        </p:nvSpPr>
        <p:spPr>
          <a:xfrm>
            <a:off x="3657600" y="5532120"/>
            <a:ext cx="361188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21608" y="5568696"/>
            <a:ext cx="3483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TN_PM_SMLT_RPT_STNG_HR_GROUP_MSTR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3721608" y="5769864"/>
            <a:ext cx="3483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리포팅 시간대 그룹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3721608" y="60258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4178808" y="6025896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RPT_STNG_ATRB_ID</a:t>
            </a:r>
            <a:endParaRPr lang="en-US" sz="1000" dirty="0"/>
          </a:p>
        </p:txBody>
      </p:sp>
      <p:sp>
        <p:nvSpPr>
          <p:cNvPr id="107" name="tbl TN_PM_SMLT_RPT_STNG_HR_GROUP_ATRB"/>
          <p:cNvSpPr/>
          <p:nvPr/>
        </p:nvSpPr>
        <p:spPr>
          <a:xfrm>
            <a:off x="7799832" y="5532120"/>
            <a:ext cx="393192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8" name="hdr TN_PM_SMLT_RPT_STNG_HR_GROUP_ATRB"/>
          <p:cNvSpPr/>
          <p:nvPr/>
        </p:nvSpPr>
        <p:spPr>
          <a:xfrm>
            <a:off x="7799832" y="5532120"/>
            <a:ext cx="3931920" cy="457200"/>
          </a:xfrm>
          <a:prstGeom prst="rect">
            <a:avLst/>
          </a:prstGeom>
          <a:solidFill>
            <a:schemeClr val="accent4">
              <a:alpha val="3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863840" y="5568696"/>
            <a:ext cx="38039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TN_PM_SMLT_RPT_STNG_HR_GROUP_ATRB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7863840" y="5769864"/>
            <a:ext cx="3803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리포팅 시간대 그룹 속성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7863840" y="60258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8321040" y="602589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RPT_STNG_ATRB_ID · SCHDL_HR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548640" y="56875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RPT_STNG_ATRB_ID (USER_MSTR)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ReportingProfilesTimeGroups001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3246120" y="5888736"/>
            <a:ext cx="4114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5" name="Text 113"/>
          <p:cNvSpPr txBox="1"/>
          <p:nvPr/>
        </p:nvSpPr>
        <p:spPr>
          <a:xfrm>
            <a:off x="3282696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3438144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 flipH="1">
            <a:off x="7269480" y="5888736"/>
            <a:ext cx="53035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580376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9" name="Text 117"/>
          <p:cNvSpPr txBox="1"/>
          <p:nvPr/>
        </p:nvSpPr>
        <p:spPr>
          <a:xfrm>
            <a:off x="7306056" y="5669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23" name="Text 121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24" name="Text 122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PropertySet 속성그룹 · ⑥ 속성 적용 이력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속성그룹(카테고리)이 3개 속성 테이블의 1차 축. 운영 반영(카테고리 → 001)은 적용 직전 값을 이력에 스냅샷한다</a:t>
            </a:r>
            <a:endParaRPr lang="en-US" sz="1200" dirty="0"/>
          </a:p>
        </p:txBody>
      </p:sp>
      <p:sp>
        <p:nvSpPr>
          <p:cNvPr id="4" name="group 5"/>
          <p:cNvSpPr/>
          <p:nvPr/>
        </p:nvSpPr>
        <p:spPr>
          <a:xfrm>
            <a:off x="365760" y="1325880"/>
            <a:ext cx="7772400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389888"/>
            <a:ext cx="7552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⑤ PropertySet 속성그룹</a:t>
            </a:r>
            <a:endParaRPr lang="en-US" sz="1200" dirty="0"/>
          </a:p>
        </p:txBody>
      </p:sp>
      <p:sp>
        <p:nvSpPr>
          <p:cNvPr id="6" name="group 6"/>
          <p:cNvSpPr/>
          <p:nvPr/>
        </p:nvSpPr>
        <p:spPr>
          <a:xfrm>
            <a:off x="8366760" y="1325880"/>
            <a:ext cx="3456432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76488" y="1389888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⑥ 속성 적용 이력</a:t>
            </a:r>
            <a:endParaRPr lang="en-US" sz="1200" dirty="0"/>
          </a:p>
        </p:txBody>
      </p:sp>
      <p:sp>
        <p:nvSpPr>
          <p:cNvPr id="8" name="tbl TN_PM_SMLT_FIX_ATRB_GROUP"/>
          <p:cNvSpPr/>
          <p:nvPr/>
        </p:nvSpPr>
        <p:spPr>
          <a:xfrm>
            <a:off x="2834640" y="1737360"/>
            <a:ext cx="274320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" name="hdr TN_PM_SMLT_FIX_ATRB_GROUP"/>
          <p:cNvSpPr/>
          <p:nvPr/>
        </p:nvSpPr>
        <p:spPr>
          <a:xfrm>
            <a:off x="2834640" y="1737360"/>
            <a:ext cx="274320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8648" y="1773936"/>
            <a:ext cx="2615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TN_PM_SMLT_FIX_ATRB_GROUP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898648" y="1975104"/>
            <a:ext cx="2615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속성그룹 (PropertySet)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2231136"/>
            <a:ext cx="215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414016"/>
            <a:ext cx="215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001 기준 · 999 전처리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55848" y="2596896"/>
            <a:ext cx="215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002~499 카테고리</a:t>
            </a:r>
            <a:endParaRPr lang="en-US" sz="1000" dirty="0"/>
          </a:p>
        </p:txBody>
      </p:sp>
      <p:sp>
        <p:nvSpPr>
          <p:cNvPr id="16" name="tbl TN_PM_SMLT_PSG_ATRB"/>
          <p:cNvSpPr/>
          <p:nvPr/>
        </p:nvSpPr>
        <p:spPr>
          <a:xfrm>
            <a:off x="548640" y="3429000"/>
            <a:ext cx="23774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7" name="hdr TN_PM_SMLT_PSG_ATRB"/>
          <p:cNvSpPr/>
          <p:nvPr/>
        </p:nvSpPr>
        <p:spPr>
          <a:xfrm>
            <a:off x="548640" y="3429000"/>
            <a:ext cx="23774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" y="3465576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TN_PM_SMLT_PSG_ATRB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" y="3666744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속성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92277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" y="410565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PSG_ATRB_CD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" y="4288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69848" y="428853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PSG_DTL_SE_CD</a:t>
            </a:r>
            <a:endParaRPr lang="en-US" sz="1000" dirty="0"/>
          </a:p>
        </p:txBody>
      </p:sp>
      <p:sp>
        <p:nvSpPr>
          <p:cNvPr id="26" name="tbl TN_PM_SMLT_SHOW_UP_ATRB"/>
          <p:cNvSpPr/>
          <p:nvPr/>
        </p:nvSpPr>
        <p:spPr>
          <a:xfrm>
            <a:off x="3017520" y="3429000"/>
            <a:ext cx="237744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7" name="hdr TN_PM_SMLT_SHOW_UP_ATRB"/>
          <p:cNvSpPr/>
          <p:nvPr/>
        </p:nvSpPr>
        <p:spPr>
          <a:xfrm>
            <a:off x="3017520" y="3429000"/>
            <a:ext cx="23774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81528" y="3465576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TN_PM_SMLT_SHOW_UP_ATRB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081528" y="3666744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쇼업(출현) 속성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08152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538728" y="392277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08152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538728" y="410565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PSG_ATRB_CD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081528" y="4288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538728" y="4288536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PSG_DTL_SE_CD</a:t>
            </a:r>
            <a:endParaRPr lang="en-US" sz="1000" dirty="0"/>
          </a:p>
        </p:txBody>
      </p:sp>
      <p:sp>
        <p:nvSpPr>
          <p:cNvPr id="36" name="tbl TN_PM_SMLT_SRVC_ATRB"/>
          <p:cNvSpPr/>
          <p:nvPr/>
        </p:nvSpPr>
        <p:spPr>
          <a:xfrm>
            <a:off x="5486400" y="3429000"/>
            <a:ext cx="246888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7" name="hdr TN_PM_SMLT_SRVC_ATRB"/>
          <p:cNvSpPr/>
          <p:nvPr/>
        </p:nvSpPr>
        <p:spPr>
          <a:xfrm>
            <a:off x="5486400" y="3429000"/>
            <a:ext cx="246888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50408" y="3465576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TN_PM_SMLT_SRVC_ATRB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550408" y="3666744"/>
            <a:ext cx="23408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시설 서비스 속성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007608" y="392277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FIX_ATRB_GROUP_ID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55040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007608" y="410565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FCLTY_SE_CD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550408" y="42885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007608" y="428853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FCLTY_DTL_CD</a:t>
            </a:r>
            <a:endParaRPr lang="en-US" sz="1000" dirty="0"/>
          </a:p>
        </p:txBody>
      </p:sp>
      <p:sp>
        <p:nvSpPr>
          <p:cNvPr id="46" name="tbl TN_PM_SMLT_PSG_FIX_PARA_CD"/>
          <p:cNvSpPr/>
          <p:nvPr/>
        </p:nvSpPr>
        <p:spPr>
          <a:xfrm>
            <a:off x="1600200" y="5074920"/>
            <a:ext cx="260604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7" name="hdr TN_PM_SMLT_PSG_FIX_PARA_CD"/>
          <p:cNvSpPr/>
          <p:nvPr/>
        </p:nvSpPr>
        <p:spPr>
          <a:xfrm>
            <a:off x="1600200" y="5074920"/>
            <a:ext cx="26060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664208" y="5111496"/>
            <a:ext cx="2478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TN_PM_SMLT_PSG_FIX_PARA_CD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664208" y="5312664"/>
            <a:ext cx="2478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고정 파라미터 코드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664208" y="55686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2121408" y="5568696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PSG_FIX_PARA_CD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2121408" y="5751576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PSG_FIX_PARA_GROUP_CD</a:t>
            </a:r>
            <a:endParaRPr lang="en-US" sz="1000" dirty="0"/>
          </a:p>
        </p:txBody>
      </p:sp>
      <p:sp>
        <p:nvSpPr>
          <p:cNvPr id="53" name="tbl TN_PM_SMLT_PSG_SRVC_PARA_CD"/>
          <p:cNvSpPr/>
          <p:nvPr/>
        </p:nvSpPr>
        <p:spPr>
          <a:xfrm>
            <a:off x="5349240" y="5074920"/>
            <a:ext cx="260604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4" name="hdr TN_PM_SMLT_PSG_SRVC_PARA_CD"/>
          <p:cNvSpPr/>
          <p:nvPr/>
        </p:nvSpPr>
        <p:spPr>
          <a:xfrm>
            <a:off x="5349240" y="5074920"/>
            <a:ext cx="2606040" cy="457200"/>
          </a:xfrm>
          <a:prstGeom prst="rect">
            <a:avLst/>
          </a:prstGeom>
          <a:solidFill>
            <a:schemeClr val="accent5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13248" y="5111496"/>
            <a:ext cx="2478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TN_PM_SMLT_PSG_SRVC_PARA_CD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413248" y="5312664"/>
            <a:ext cx="2478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서비스 파라미터 코드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5413248" y="55686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870448" y="5568696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PSG_SRVC_PARA_CD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1737360" y="3154680"/>
            <a:ext cx="0" cy="27432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37360" y="3154680"/>
            <a:ext cx="246888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4206240" y="2816352"/>
            <a:ext cx="0" cy="3383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78308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V="1">
            <a:off x="4206240" y="2816352"/>
            <a:ext cx="0" cy="61264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25196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251960" y="283464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 flipV="1">
            <a:off x="6720840" y="3154680"/>
            <a:ext cx="0" cy="27432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4206240" y="3154680"/>
            <a:ext cx="25146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4206240" y="2816352"/>
            <a:ext cx="0" cy="3383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76656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212848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2258568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2258568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457200" y="4800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PSG_ATRB_CD · DTL_SE_CD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611880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3657600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0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720840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6766560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6766560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812280" y="4617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FCLTY_SE_CD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206240" y="5861304"/>
            <a:ext cx="2743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 flipV="1">
            <a:off x="4480560" y="5303520"/>
            <a:ext cx="0" cy="55778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 flipH="1">
            <a:off x="4206240" y="5303520"/>
            <a:ext cx="2743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84" name="Text 82"/>
          <p:cNvSpPr txBox="1"/>
          <p:nvPr/>
        </p:nvSpPr>
        <p:spPr>
          <a:xfrm>
            <a:off x="4553712" y="5394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자기참조</a:t>
            </a:r>
            <a:endParaRPr lang="en-US" sz="1000" dirty="0"/>
          </a:p>
        </p:txBody>
      </p:sp>
      <p:sp>
        <p:nvSpPr>
          <p:cNvPr id="85" name="tbl TH_PM_SMLT_ATRB_APLY_SET_HSTRY"/>
          <p:cNvSpPr/>
          <p:nvPr/>
        </p:nvSpPr>
        <p:spPr>
          <a:xfrm>
            <a:off x="8549640" y="1737360"/>
            <a:ext cx="310896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6" name="hdr TH_PM_SMLT_ATRB_APLY_SET_HSTRY"/>
          <p:cNvSpPr/>
          <p:nvPr/>
        </p:nvSpPr>
        <p:spPr>
          <a:xfrm>
            <a:off x="8549640" y="1737360"/>
            <a:ext cx="3108960" cy="45720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613648" y="177393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TH_PM_SMLT_ATRB_APLY_SET_HSTRY</a:t>
            </a:r>
            <a:endParaRPr lang="en-US" sz="1000" dirty="0"/>
          </a:p>
        </p:txBody>
      </p:sp>
      <p:sp>
        <p:nvSpPr>
          <p:cNvPr id="88" name="Text 86"/>
          <p:cNvSpPr txBox="1"/>
          <p:nvPr/>
        </p:nvSpPr>
        <p:spPr>
          <a:xfrm>
            <a:off x="8613648" y="197510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속성 적용 세트 이력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861364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0" name="Text 88"/>
          <p:cNvSpPr txBox="1"/>
          <p:nvPr/>
        </p:nvSpPr>
        <p:spPr>
          <a:xfrm>
            <a:off x="9070848" y="22311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APLY_SET_SN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9070848" y="24140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SRC / TGT_FIX_ATRB_GROUP_ID</a:t>
            </a:r>
            <a:endParaRPr lang="en-US" sz="1000" dirty="0"/>
          </a:p>
        </p:txBody>
      </p:sp>
      <p:sp>
        <p:nvSpPr>
          <p:cNvPr id="92" name="tbl TH_PM_SMLT_ATRB_APLY_HSTRY"/>
          <p:cNvSpPr/>
          <p:nvPr/>
        </p:nvSpPr>
        <p:spPr>
          <a:xfrm>
            <a:off x="8549640" y="3429000"/>
            <a:ext cx="31089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3" name="hdr TH_PM_SMLT_ATRB_APLY_HSTRY"/>
          <p:cNvSpPr/>
          <p:nvPr/>
        </p:nvSpPr>
        <p:spPr>
          <a:xfrm>
            <a:off x="8549640" y="3429000"/>
            <a:ext cx="3108960" cy="45720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613648" y="346557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TH_PM_SMLT_ATRB_APLY_HSTRY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8613648" y="366674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속성 적용 이력 (시트별)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8613648" y="3922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9070848" y="39227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APLY_SN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8613648" y="41056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FK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9070848" y="410565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APLY_SET_SN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9070848" y="4288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SRC / TGT_FIX_ATRB_GROUP_ID</a:t>
            </a:r>
            <a:endParaRPr lang="en-US" sz="1000" dirty="0"/>
          </a:p>
        </p:txBody>
      </p:sp>
      <p:sp>
        <p:nvSpPr>
          <p:cNvPr id="101" name="tbl TH_PM_SMLT_ATRB_APLY_HSTRY_DTL"/>
          <p:cNvSpPr/>
          <p:nvPr/>
        </p:nvSpPr>
        <p:spPr>
          <a:xfrm>
            <a:off x="8549640" y="5074920"/>
            <a:ext cx="310896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2" name="hdr TH_PM_SMLT_ATRB_APLY_HSTRY_DTL"/>
          <p:cNvSpPr/>
          <p:nvPr/>
        </p:nvSpPr>
        <p:spPr>
          <a:xfrm>
            <a:off x="8549640" y="5074920"/>
            <a:ext cx="3108960" cy="457200"/>
          </a:xfrm>
          <a:prstGeom prst="rect">
            <a:avLst/>
          </a:prstGeom>
          <a:solidFill>
            <a:schemeClr val="accent6">
              <a:alpha val="2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613648" y="5111496"/>
            <a:ext cx="29809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TH_PM_SMLT_ATRB_APLY_HSTRY_DTL</a:t>
            </a:r>
            <a:endParaRPr lang="en-US" sz="1000" dirty="0"/>
          </a:p>
        </p:txBody>
      </p:sp>
      <p:sp>
        <p:nvSpPr>
          <p:cNvPr id="104" name="Text 102"/>
          <p:cNvSpPr txBox="1"/>
          <p:nvPr/>
        </p:nvSpPr>
        <p:spPr>
          <a:xfrm>
            <a:off x="8613648" y="5312664"/>
            <a:ext cx="29809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적용 이력 상세 (전/후 값)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8613648" y="55686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9070848" y="556869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APLY_SN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8613648" y="57515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08" name="Text 106"/>
          <p:cNvSpPr txBox="1"/>
          <p:nvPr/>
        </p:nvSpPr>
        <p:spPr>
          <a:xfrm>
            <a:off x="9070848" y="57515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ATRB_CD · DTL_SE_CD · COLUMN_NM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 flipV="1">
            <a:off x="10104120" y="2633472"/>
            <a:ext cx="0" cy="7955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10149840" y="32095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1" name="Text 109"/>
          <p:cNvSpPr txBox="1"/>
          <p:nvPr/>
        </p:nvSpPr>
        <p:spPr>
          <a:xfrm>
            <a:off x="10149840" y="26517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10195560" y="3017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 flipV="1">
            <a:off x="10104120" y="450799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0149840" y="48554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10149840" y="452628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95560" y="46634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[FK]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 flipH="1">
            <a:off x="5577840" y="2057400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18" name="Text 116"/>
          <p:cNvSpPr txBox="1"/>
          <p:nvPr/>
        </p:nvSpPr>
        <p:spPr>
          <a:xfrm>
            <a:off x="8330184" y="1837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119" name="Text 117"/>
          <p:cNvSpPr txBox="1"/>
          <p:nvPr/>
        </p:nvSpPr>
        <p:spPr>
          <a:xfrm>
            <a:off x="5614416" y="18379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580644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SRC / TGT_FIX_ATRB_GROUP_ID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124" name="Text 122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125" name="Text 123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⑦ 운영 기준정보·정책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일일(001) 리소스를 발행할 때와 혼잡등급을 판정할 때 읽는 기준 테이블. 리소스와는 키가 아닌 값으로 연결된다</a:t>
            </a:r>
            <a:endParaRPr lang="en-US" sz="1200" dirty="0"/>
          </a:p>
        </p:txBody>
      </p:sp>
      <p:sp>
        <p:nvSpPr>
          <p:cNvPr id="4" name="tbl TN_PM_ENTGT_DPTGT_OPER_HR_INFO"/>
          <p:cNvSpPr/>
          <p:nvPr/>
        </p:nvSpPr>
        <p:spPr>
          <a:xfrm>
            <a:off x="457200" y="1417320"/>
            <a:ext cx="356616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" name="hdr TN_PM_ENTGT_DPTGT_OPER_HR_INFO"/>
          <p:cNvSpPr/>
          <p:nvPr/>
        </p:nvSpPr>
        <p:spPr>
          <a:xfrm>
            <a:off x="457200" y="1417320"/>
            <a:ext cx="3566160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" y="145389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TN_PM_ENTGT_DPTGT_OPER_HR_INFO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165506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입출국장 운영시간 마스터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212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9110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OPER_HR_CRLTN_SN</a:t>
            </a:r>
            <a:endParaRPr lang="en-US" sz="1000" dirty="0"/>
          </a:p>
        </p:txBody>
      </p:sp>
      <p:sp>
        <p:nvSpPr>
          <p:cNvPr id="10" name="tbl TN_PM_ENTGT_DPTGT_OPER_HR_ELMNT"/>
          <p:cNvSpPr/>
          <p:nvPr/>
        </p:nvSpPr>
        <p:spPr>
          <a:xfrm>
            <a:off x="457200" y="269748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hdr TN_PM_ENTGT_DPTGT_OPER_HR_ELMNT"/>
          <p:cNvSpPr/>
          <p:nvPr/>
        </p:nvSpPr>
        <p:spPr>
          <a:xfrm>
            <a:off x="457200" y="2697480"/>
            <a:ext cx="3566160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" y="273405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TN_PM_ENTGT_DPTGT_OPER_HR_ELMNT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" y="293522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운영시간 구성요소 (터미널·시설)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" y="31912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319125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OPER_HR_CRLTN_SN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" y="3374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8408" y="337413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ELMNT_SN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35570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FCLT_SE_CD</a:t>
            </a:r>
            <a:endParaRPr lang="en-US" sz="1000" dirty="0"/>
          </a:p>
        </p:txBody>
      </p:sp>
      <p:sp>
        <p:nvSpPr>
          <p:cNvPr id="19" name="tbl TN_PM_ENTGT_DPTGT_OPER_HR_MNG"/>
          <p:cNvSpPr/>
          <p:nvPr/>
        </p:nvSpPr>
        <p:spPr>
          <a:xfrm>
            <a:off x="457200" y="4251960"/>
            <a:ext cx="356616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0" name="hdr TN_PM_ENTGT_DPTGT_OPER_HR_MNG"/>
          <p:cNvSpPr/>
          <p:nvPr/>
        </p:nvSpPr>
        <p:spPr>
          <a:xfrm>
            <a:off x="457200" y="4251960"/>
            <a:ext cx="3566160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" y="4288536"/>
            <a:ext cx="3438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TN_PM_ENTGT_DPTGT_OPER_HR_MNG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" y="4489704"/>
            <a:ext cx="3438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운영시간 관리 (기간·시간대)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PK,FK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" y="474573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OPER_HR_CRLTN_SN · ELMNT_SN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" y="49286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" y="49286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PRD_SN · FCLTY_TYPE_ID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" y="511149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OPER_BGNG/END_YMD · 1~3 시간대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2240280" y="2130552"/>
            <a:ext cx="0" cy="56692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86000" y="24780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286000" y="214884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2240280" y="3776472"/>
            <a:ext cx="0" cy="475488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286000" y="40325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37947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4" name="ref → ④ 시설 운영표 ATRB"/>
          <p:cNvSpPr/>
          <p:nvPr/>
        </p:nvSpPr>
        <p:spPr>
          <a:xfrm>
            <a:off x="4572000" y="4343400"/>
            <a:ext cx="3200400" cy="914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645152" y="4389120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④ 시설 운영표 ATRB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645152" y="4617720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DPTGT · ENTCNY · TRNST_SCRTY_CNTRL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TMNL_ID · FCLT_SE_CD · FCLTY_TYPE_ID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023360" y="4800600"/>
            <a:ext cx="5486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4059936" y="45811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352544" y="458114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40" name="tbl TN_PM_SLF_CHKN_OPER_PLCY"/>
          <p:cNvSpPr/>
          <p:nvPr/>
        </p:nvSpPr>
        <p:spPr>
          <a:xfrm>
            <a:off x="8229600" y="141732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hdr TN_PM_SLF_CHKN_OPER_PLCY"/>
          <p:cNvSpPr/>
          <p:nvPr/>
        </p:nvSpPr>
        <p:spPr>
          <a:xfrm>
            <a:off x="8229600" y="1417320"/>
            <a:ext cx="3502152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93608" y="145389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TN_PM_SLF_CHKN_OPER_PLCY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293608" y="165506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셀프체크인 운영정책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8293608" y="19110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750808" y="191109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SLF_CHKN_ISTR_ID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293608" y="20939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750808" y="209397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ALN_CD · PLCY_BGNG_YMD</a:t>
            </a:r>
            <a:endParaRPr lang="en-US" sz="1000" dirty="0"/>
          </a:p>
        </p:txBody>
      </p:sp>
      <p:sp>
        <p:nvSpPr>
          <p:cNvPr id="48" name="tbl TN_PM_SBD_OPER_PLCY"/>
          <p:cNvSpPr/>
          <p:nvPr/>
        </p:nvSpPr>
        <p:spPr>
          <a:xfrm>
            <a:off x="8229600" y="269748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9" name="hdr TN_PM_SBD_OPER_PLCY"/>
          <p:cNvSpPr/>
          <p:nvPr/>
        </p:nvSpPr>
        <p:spPr>
          <a:xfrm>
            <a:off x="8229600" y="2697480"/>
            <a:ext cx="3502152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293608" y="273405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TN_PM_SBD_OPER_PLCY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293608" y="293522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셀프백드롭 운영정책 (DDL 미보유)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750808" y="319125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SBD_CTR_NM · ALN_CD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750808" y="337413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PLCY_BGNG_DT · PLCY_END_DT</a:t>
            </a:r>
            <a:endParaRPr lang="en-US" sz="1000" dirty="0"/>
          </a:p>
        </p:txBody>
      </p:sp>
      <p:sp>
        <p:nvSpPr>
          <p:cNvPr id="54" name="ref → ③ CA·SBD 리소스 발행"/>
          <p:cNvSpPr/>
          <p:nvPr/>
        </p:nvSpPr>
        <p:spPr>
          <a:xfrm>
            <a:off x="4572000" y="1417320"/>
            <a:ext cx="3200400" cy="217627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4645152" y="1463040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③ CA·SBD 리소스 발행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4645152" y="1691640"/>
            <a:ext cx="3054096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CKNCT_ATRB · SBD_ATRB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+ CAOWN.TN_CA_CKNCT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조인: TMNL_ID · ALN_CD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셀프체크인 → 키오스크 수량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SBD → 항공사 · 운영시간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 flipH="1">
            <a:off x="7772400" y="1865376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H="1">
            <a:off x="7772400" y="3145536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59" name="tbl TN_PM_PSG_PRCS_GRD"/>
          <p:cNvSpPr/>
          <p:nvPr/>
        </p:nvSpPr>
        <p:spPr>
          <a:xfrm>
            <a:off x="8229600" y="4251960"/>
            <a:ext cx="3502152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0" name="hdr TN_PM_PSG_PRCS_GRD"/>
          <p:cNvSpPr/>
          <p:nvPr/>
        </p:nvSpPr>
        <p:spPr>
          <a:xfrm>
            <a:off x="8229600" y="4251960"/>
            <a:ext cx="3502152" cy="457200"/>
          </a:xfrm>
          <a:prstGeom prst="rect">
            <a:avLst/>
          </a:prstGeom>
          <a:solidFill>
            <a:schemeClr val="tx2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93608" y="4288536"/>
            <a:ext cx="33741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TN_PM_PSG_PRCS_GRD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8293608" y="4489704"/>
            <a:ext cx="3374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혼잡등급 기준 (DDL 미보유)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750808" y="474573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FCLT_GROUP_CD  (02 체크인 · 04 출국장)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8750808" y="4928616"/>
            <a:ext cx="2916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PSG_PRCS_GRD_CD · MIN_VL · MAX_VL (분)</a:t>
            </a:r>
            <a:endParaRPr lang="en-US" sz="1000" dirty="0"/>
          </a:p>
        </p:txBody>
      </p:sp>
      <p:sp>
        <p:nvSpPr>
          <p:cNvPr id="65" name="ref → ① FCLT_WTNG_RSLT 대기시간 판정"/>
          <p:cNvSpPr/>
          <p:nvPr/>
        </p:nvSpPr>
        <p:spPr>
          <a:xfrm>
            <a:off x="8229600" y="5623560"/>
            <a:ext cx="3502152" cy="548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8302752" y="5669280"/>
            <a:ext cx="3355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① FCLT_WTNG_RSLT 대기시간 판정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9966960" y="5148072"/>
            <a:ext cx="0" cy="475488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⑧ 실측·실적 데이터 · ⑨ 로그·시스템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다른 PM 테이블과 키로 묶이지 않는 독립 테이블. ⑧ 은 요약보기 실적, ⑨ 는 CAST 연계 로그·보조 테이블</a:t>
            </a:r>
            <a:endParaRPr lang="en-US" sz="1200" dirty="0"/>
          </a:p>
        </p:txBody>
      </p:sp>
      <p:sp>
        <p:nvSpPr>
          <p:cNvPr id="4" name="group 8"/>
          <p:cNvSpPr/>
          <p:nvPr/>
        </p:nvSpPr>
        <p:spPr>
          <a:xfrm>
            <a:off x="365760" y="1325880"/>
            <a:ext cx="5669280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389888"/>
            <a:ext cx="5449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⑧ 실측·실적 데이터</a:t>
            </a:r>
            <a:endParaRPr lang="en-US" sz="1200" dirty="0"/>
          </a:p>
        </p:txBody>
      </p:sp>
      <p:sp>
        <p:nvSpPr>
          <p:cNvPr id="6" name="group 9"/>
          <p:cNvSpPr/>
          <p:nvPr/>
        </p:nvSpPr>
        <p:spPr>
          <a:xfrm>
            <a:off x="6263640" y="1325880"/>
            <a:ext cx="5559552" cy="4937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73368" y="138988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⑨ 로그·시스템</a:t>
            </a:r>
            <a:endParaRPr lang="en-US" sz="1200" dirty="0"/>
          </a:p>
        </p:txBody>
      </p:sp>
      <p:sp>
        <p:nvSpPr>
          <p:cNvPr id="8" name="tbl TN_PM_BDPSG_ANCE_RSLT"/>
          <p:cNvSpPr/>
          <p:nvPr/>
        </p:nvSpPr>
        <p:spPr>
          <a:xfrm>
            <a:off x="548640" y="1737360"/>
            <a:ext cx="33832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9" name="hdr TN_PM_BDPSG_ANCE_RSLT"/>
          <p:cNvSpPr/>
          <p:nvPr/>
        </p:nvSpPr>
        <p:spPr>
          <a:xfrm>
            <a:off x="548640" y="1737360"/>
            <a:ext cx="3383280" cy="45720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" y="1773936"/>
            <a:ext cx="3255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TN_PM_BDPSG_ANCE_RSLT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197510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탑승객 예고 결과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23113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BDPSG_ANCE_YMD · BDPSG_ANCE_HOUR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69848" y="241401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TMNL_ID · BDPSG_ANCE_SE_CD</a:t>
            </a:r>
            <a:endParaRPr lang="en-US" sz="1000" dirty="0"/>
          </a:p>
        </p:txBody>
      </p:sp>
      <p:sp>
        <p:nvSpPr>
          <p:cNvPr id="14" name="tbl TN_PM_PSG_DPTCNY_TRNS_PRFMNC"/>
          <p:cNvSpPr/>
          <p:nvPr/>
        </p:nvSpPr>
        <p:spPr>
          <a:xfrm>
            <a:off x="548640" y="2926080"/>
            <a:ext cx="33832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5" name="hdr TN_PM_PSG_DPTCNY_TRNS_PRFMNC"/>
          <p:cNvSpPr/>
          <p:nvPr/>
        </p:nvSpPr>
        <p:spPr>
          <a:xfrm>
            <a:off x="548640" y="2926080"/>
            <a:ext cx="3383280" cy="45720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" y="2962656"/>
            <a:ext cx="3255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TN_PM_PSG_DPTCNY_TRNS_PRFMNC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" y="316382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출국 여객 처리 실적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41985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TOT_YMD · TOT_HOUR · TMNL_ID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" y="360273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20" name="tbl TN_PM_PSG_WTNG_INFO"/>
          <p:cNvSpPr/>
          <p:nvPr/>
        </p:nvSpPr>
        <p:spPr>
          <a:xfrm>
            <a:off x="548640" y="4114800"/>
            <a:ext cx="338328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1" name="hdr TN_PM_PSG_WTNG_INFO"/>
          <p:cNvSpPr/>
          <p:nvPr/>
        </p:nvSpPr>
        <p:spPr>
          <a:xfrm>
            <a:off x="548640" y="4114800"/>
            <a:ext cx="3383280" cy="457200"/>
          </a:xfrm>
          <a:prstGeom prst="rect">
            <a:avLst/>
          </a:prstGeom>
          <a:solidFill>
            <a:schemeClr val="tx1">
              <a:alpha val="12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" y="4151376"/>
            <a:ext cx="3255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TN_PM_PSG_WTNG_INFO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" y="435254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여객 대기 정보 (실측)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" y="460857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PSG_FLOW_DATA_CRT_DT · TMNL_ID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69848" y="4791456"/>
            <a:ext cx="2798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CHKN_ISL_CD · FCLT_TYPE_CD</a:t>
            </a:r>
            <a:endParaRPr lang="en-US" sz="1000" dirty="0"/>
          </a:p>
        </p:txBody>
      </p:sp>
      <p:sp>
        <p:nvSpPr>
          <p:cNvPr id="26" name="ref → ① PSG_FCLT"/>
          <p:cNvSpPr/>
          <p:nvPr/>
        </p:nvSpPr>
        <p:spPr>
          <a:xfrm>
            <a:off x="4251960" y="2926080"/>
            <a:ext cx="1645920" cy="896112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4325112" y="2971800"/>
            <a:ext cx="1499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→ ① PSG_FCLT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325112" y="3200400"/>
            <a:ext cx="14996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PSG_FCLT_CD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931920" y="3639312"/>
            <a:ext cx="32004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968496" y="34198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032504" y="34198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세 테이블 모두 DDL 미보유 — 매퍼가 조회하는 컬럼만 표시, PK 미확인</a:t>
            </a:r>
            <a:endParaRPr lang="en-US" sz="1000" dirty="0"/>
          </a:p>
        </p:txBody>
      </p:sp>
      <p:sp>
        <p:nvSpPr>
          <p:cNvPr id="33" name="tbl TN_PM_SMLT_CAST_LOG_STNG"/>
          <p:cNvSpPr/>
          <p:nvPr/>
        </p:nvSpPr>
        <p:spPr>
          <a:xfrm>
            <a:off x="6446520" y="1737360"/>
            <a:ext cx="29718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4" name="hdr TN_PM_SMLT_CAST_LOG_STNG"/>
          <p:cNvSpPr/>
          <p:nvPr/>
        </p:nvSpPr>
        <p:spPr>
          <a:xfrm>
            <a:off x="6446520" y="1737360"/>
            <a:ext cx="29718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10528" y="1773936"/>
            <a:ext cx="2843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TN_PM_SMLT_CAST_LOG_STNG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1975104"/>
            <a:ext cx="28437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CAST API 로그 설정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51052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967728" y="223113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CAST_API_TYPE_CD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6510528" y="24140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67728" y="241401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CAST_LOG_TYPE_CD</a:t>
            </a:r>
            <a:endParaRPr lang="en-US" sz="1000" dirty="0"/>
          </a:p>
        </p:txBody>
      </p:sp>
      <p:sp>
        <p:nvSpPr>
          <p:cNvPr id="41" name="tbl TH_PM_SMLT_CAST_LOG"/>
          <p:cNvSpPr/>
          <p:nvPr/>
        </p:nvSpPr>
        <p:spPr>
          <a:xfrm>
            <a:off x="6446520" y="3246120"/>
            <a:ext cx="2971800" cy="107899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2" name="hdr TH_PM_SMLT_CAST_LOG"/>
          <p:cNvSpPr/>
          <p:nvPr/>
        </p:nvSpPr>
        <p:spPr>
          <a:xfrm>
            <a:off x="6446520" y="3246120"/>
            <a:ext cx="29718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510528" y="3282696"/>
            <a:ext cx="2843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TH_PM_SMLT_CAST_LOG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510528" y="3483864"/>
            <a:ext cx="28437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CAST API 로그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967728" y="373989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CAST_API_TYPE_CD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967728" y="392277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CAST_LOG_TYPE_CD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967728" y="4105656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LOG_CN · FRST_REG_DT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 flipV="1">
            <a:off x="7932420" y="2633472"/>
            <a:ext cx="0" cy="61264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7978140" y="302666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7978140" y="265176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51" name="tbl TH_PM_DW_DEL_KEY_HSTRY"/>
          <p:cNvSpPr/>
          <p:nvPr/>
        </p:nvSpPr>
        <p:spPr>
          <a:xfrm>
            <a:off x="9601200" y="1737360"/>
            <a:ext cx="2057400" cy="8961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2" name="hdr TH_PM_DW_DEL_KEY_HSTRY"/>
          <p:cNvSpPr/>
          <p:nvPr/>
        </p:nvSpPr>
        <p:spPr>
          <a:xfrm>
            <a:off x="9601200" y="1737360"/>
            <a:ext cx="20574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65208" y="1773936"/>
            <a:ext cx="1929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TH_PM_DW_DEL_KEY_HSTRY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665208" y="1975104"/>
            <a:ext cx="19293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DW 삭제 키 이력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9665208" y="22311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10122408" y="223113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DEL_YMD · TBL_NM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665208" y="24140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PK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10122408" y="241401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DEL_SN</a:t>
            </a:r>
            <a:endParaRPr lang="en-US" sz="1000" dirty="0"/>
          </a:p>
        </p:txBody>
      </p:sp>
      <p:sp>
        <p:nvSpPr>
          <p:cNvPr id="59" name="tbl DROP_TMP"/>
          <p:cNvSpPr/>
          <p:nvPr/>
        </p:nvSpPr>
        <p:spPr>
          <a:xfrm>
            <a:off x="9601200" y="3246120"/>
            <a:ext cx="2057400" cy="7132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0" name="hdr DROP_TMP"/>
          <p:cNvSpPr/>
          <p:nvPr/>
        </p:nvSpPr>
        <p:spPr>
          <a:xfrm>
            <a:off x="9601200" y="3246120"/>
            <a:ext cx="2057400" cy="457200"/>
          </a:xfrm>
          <a:prstGeom prst="rect">
            <a:avLst/>
          </a:prstGeom>
          <a:solidFill>
            <a:schemeClr val="tx1">
              <a:alpha val="20000"/>
            </a:schemeClr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65208" y="3282696"/>
            <a:ext cx="19293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DROP_TMP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9665208" y="3483864"/>
            <a:ext cx="19293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보정 기준일 임시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10122408" y="3739896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BASE_DT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4572000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시퀀스 (참고)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SQ1_TN_PM_SMLT_RSLT → 공통 SMLT_ID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SQ1_TN_PM_SMLT_ATRB_APLY → APLY_SN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SQ1_TN_PM_SMLT_ATRB_APLY_SET → APLY_SET_SN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SQ1_TH_PX_DW_DEL_KEY_VAL_HST → DEL_SN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87552" y="64648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키 관계 (PK 컬럼 상속 · FK)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200400" y="6565392"/>
            <a:ext cx="45720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</p:sp>
      <p:sp>
        <p:nvSpPr>
          <p:cNvPr id="68" name="Text 66"/>
          <p:cNvSpPr txBox="1"/>
          <p:nvPr/>
        </p:nvSpPr>
        <p:spPr>
          <a:xfrm>
            <a:off x="3730752" y="6464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값 참조 (키·제약 없음)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5577840" y="646480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 / N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관계 차수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[FK]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DDL FK 제약   </a:t>
            </a:r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점선 박스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 다른 그룹 테이블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테이블 목록 (1/3)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사용 패키지: cast = aoms.pm.cast 매퍼, castapi = aoms.pm.castapi 매퍼.  * = DDL 미보유 (매퍼 사용 컬럼만 확인)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4206240"/>
                <a:gridCol w="2724912"/>
                <a:gridCol w="594360"/>
                <a:gridCol w="68580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테이블명 (PMOWN.)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castapi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실행 요청 (WhatIf)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TN_PM_SMLT_STNG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 설정 (실행·모델별)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TN_PM_SMLT_RSLT_DTL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 결과 상세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TN_PM_SMLT_RSLT_DTL_REG_EXCL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결과 미매핑 시설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TN_PM_SMLT_FCLT_WTNG_RSLT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 10분 대기 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TN_PM_SMLT_MDL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시뮬레이션 모델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TN_PM_PSG_MNG_ATFL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첨부파일 (모델 파일)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① 시뮬레이션 실행·결과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TN_PM_SMLT_PSG_FCLT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시설 코드 (계층)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TN_PM_SMLT_USER_CHKN_ISL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체크인 아일랜드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TN_PM_SMLT_USER_CHKN_OPER_HR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체크인 운영시간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TN_PM_SMLT_USER_CHKN_BOOTH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체크인 부스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TN_PM_SMLT_USER_DPTGT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출국장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TN_PM_SMLT_USER_DPTGT_OPER_HR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출국장 운영시간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② 사용자 시뮬레이션 현재상태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TN_PM_SMLT_USER_FLT_PSG_AJMT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사용자 운항여객 조정률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TN_PM_SMLT_SCHDL_MSTR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운항스케줄 (FS)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TN_PM_SMLT_SCHDL_ATRB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운항스케줄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 배정 (CA)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체크인카운터 배정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TN_PM_SMLT_SBD_MSTR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셀프백드롭 배정 (SBD)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TN_PM_SMLT_SBD_ATRB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셀프백드롭 배정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테이블 목록 (2/3)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사용 패키지: cast = aoms.pm.cast 매퍼, castapi = aoms.pm.castapi 매퍼.  * = DDL 미보유 (매퍼 사용 컬럼만 확인)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4206240"/>
                <a:gridCol w="2724912"/>
                <a:gridCol w="594360"/>
                <a:gridCol w="68580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테이블명 (PMOWN.)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castapi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TN_PM_SMLT_CKNCT_SRVC_MSTR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서비스시간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TN_PM_SMLT_CKNCT_SRVC_ATRB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서비스시간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TN_PM_SMLT_CKNCT_TYPE_MSTR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유형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③ CAST 리소스 – 운항·체크인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TN_PM_SMLT_CKNCT_TYPE_ATRB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체크인 유형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TN_PM_SMLT_FCLTY_OPNG_DPTGT_MSTR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출국장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TN_PM_SMLT_FCLTY_OPNG_DPTGT_ATRB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출국장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TN_PM_SMLT_FCLTY_OPNG_DPTCNY_MSTR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출국심사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TN_PM_SMLT_FCLTY_OPNG_DPTCNY_ATRB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출국심사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TN_PM_SMLT_FCLTY_OPNG_ENTCNY_MSTR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입국심사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TN_PM_SMLT_FCLTY_OPNG_ENTCNY_ATRB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입국심사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TN_PM_SMLT_FCLTY_OPNG_SCRTY_CNTRL_MSTR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보안검색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TN_PM_SMLT_FCLTY_OPNG_SCRTY_CNTRL_ATRB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보안검색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TN_PM_SMLT_FCLTY_OPNG_TRNST_SCRTY_CNTRL_MSTR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환승보안검색 운영표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TN_PM_SMLT_FCLTY_OPNG_TRNST_SCRTY_CNTRL_ATRB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환승보안검색 운영표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TN_PM_SMLT_RPT_STNG_HR_GROUP_MSTR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리포팅 시간대 그룹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④ CAST 리소스 – 시설 운영표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TN_PM_SMLT_RPT_STNG_HR_GROUP_ATRB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리포팅 시간대 그룹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TN_PM_SMLT_FIX_ATRB_GROUP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속성그룹 (PropertySet · 카테고리)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TN_PM_SMLT_SHOW_UP_ATRB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쇼업(출현)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TN_PM_SMLT_SRVC_ATRB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시설 서비스 속성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부록 — 테이블 목록 (3/3)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사용 패키지: cast = aoms.pm.cast 매퍼, castapi = aoms.pm.castapi 매퍼.  * = DDL 미보유 (매퍼 사용 컬럼만 확인)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4206240"/>
                <a:gridCol w="2724912"/>
                <a:gridCol w="594360"/>
                <a:gridCol w="68580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테이블명 (PMOWN.)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용도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castapi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TN_PM_SMLT_PSG_FIX_PARA_CD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고정 파라미터 코드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⑤ PropertySet 속성그룹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TN_PM_SMLT_PSG_SRVC_PARA_CD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서비스 파라미터 코드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⑥ 속성 적용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TH_PM_SMLT_ATRB_APLY_SET_HSTRY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 적용 세트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⑥ 속성 적용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TH_PM_SMLT_ATRB_APLY_HSTRY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 적용 이력 (시트별)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⑥ 속성 적용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TH_PM_SMLT_ATRB_APLY_HSTRY_DTL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속성 적용 이력 상세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TN_PM_ENTGT_DPTGT_OPER_HR_INFO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입출국장 운영시간 마스터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TN_PM_ENTGT_DPTGT_OPER_HR_ELMNT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입출국장 운영시간 구성요소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TN_PM_ENTGT_DPTGT_OPER_HR_MNG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입출국장 운영시간 관리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TN_PM_SLF_CHKN_OPER_PLCY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셀프체크인 운영정책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TN_PM_SBD_OPER_PLCY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셀프백드롭 운영정책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⑦ 운영 기준정보·정책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TN_PM_PSG_PRCS_GRD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혼잡등급 기준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⑧ 실측·실적 데이터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TN_PM_BDPSG_ANCE_RSLT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탑승객 예고 결과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⑧ 실측·실적 데이터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TN_PM_PSG_DPTCNY_TRNS_PRFMNC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출국 여객 처리 실적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⑧ 실측·실적 데이터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TN_PM_PSG_WTNG_INFO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여객 대기 정보 (실측)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TN_PM_SMLT_CAST_LOG_STNG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CAST API 로그 설정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TH_PM_SMLT_CAST_LOG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CAST API 로그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TH_PM_DW_DEL_KEY_HSTRY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DW 삭제 키 이력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⑨ 로그·시스템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DROP_TMP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보정 기준일 임시 *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 ERD">
  <a:themeElements>
    <a:clrScheme name="PM ERD">
      <a:dk1>
        <a:srgbClr val="222222"/>
      </a:dk1>
      <a:lt1>
        <a:srgbClr val="FFFFFF"/>
      </a:lt1>
      <a:dk2>
        <a:srgbClr val="44546A"/>
      </a:dk2>
      <a:lt2>
        <a:srgbClr val="F2F2F2"/>
      </a:lt2>
      <a:accent1>
        <a:srgbClr val="4472C4"/>
      </a:accent1>
      <a:accent2>
        <a:srgbClr val="70AD47"/>
      </a:accent2>
      <a:accent3>
        <a:srgbClr val="ED7D31"/>
      </a:accent3>
      <a:accent4>
        <a:srgbClr val="FFC000"/>
      </a:accent4>
      <a:accent5>
        <a:srgbClr val="7E57C2"/>
      </a:accent5>
      <a:accent6>
        <a:srgbClr val="C0504D"/>
      </a:accent6>
      <a:hlink>
        <a:srgbClr val="0563C1"/>
      </a:hlink>
      <a:folHlink>
        <a:srgbClr val="954F72"/>
      </a:folHlink>
    </a:clrScheme>
    <a:fontScheme name="PM E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PMOWN 테이블 ERD</dc:title>
  <dc:subject>PptxGenJS Presentation</dc:subject>
  <dc:creator>PptxGenJS</dc:creator>
  <cp:lastModifiedBy>PptxGenJS</cp:lastModifiedBy>
  <cp:revision>1</cp:revision>
  <dcterms:created xsi:type="dcterms:W3CDTF">2026-10-25T12:47:33Z</dcterms:created>
  <dcterms:modified xsi:type="dcterms:W3CDTF">2026-10-25T12:47:33Z</dcterms:modified>
</cp:coreProperties>
</file>