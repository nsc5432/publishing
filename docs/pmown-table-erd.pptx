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  <p:sldId id="272" r:id="rId23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a262a986-b3cd-5ef0-c61b-4fa461042ada}">
          <p14:sldIdLst>
            <p14:sldId id="256"/>
            <p14:sldId id="257"/>
            <p14:sldId id="258"/>
          </p14:sldIdLst>
        </p14:section>
        <p14:section name="그룹별 ERD" id="{64792925-0d07-62aa-897d-520666fe343b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부록" id="{5cc95c97-4844-b042-0f7b-b20943d68954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2026-10-26 기준. 원본: java/ddl/cast-ddl.sql.</a:t>
            </a:r>
          </a:p>
          <a:p>
            <a:r>
              <a:rPr lang="ko-KR"/>
              <a:t>TN_PM_SMLT_USER_MSTR: 28컬럼. PK SMLT_REQ_ID, UK SMLT_ID. 컬럼 정의·코멘트는 부록 14~15쪽.</a:t>
            </a:r>
          </a:p>
          <a:p>
            <a:r>
              <a:rPr lang="ko-KR"/>
              <a:t>TN_PM_SMLT_FCLT_WTNG_RSLT: 25컬럼. 기존 6컬럼 PK 및 STNG 참조 FK 유지. 컬럼 정의·코멘트는 부록 16~17쪽.</a:t>
            </a:r>
          </a:p>
          <a:p>
            <a:r>
              <a:rPr lang="ko-KR"/>
              <a:t>[Sources]</a:t>
            </a:r>
          </a:p>
          <a:p>
            <a:r>
              <a:rPr lang="ko-KR"/>
              <a:t>java/ddl/cast-ddl.sql</a:t>
            </a:r>
          </a:p>
          <a:p>
            <a:r>
              <a:rPr lang="ko-KR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TN_PM_SMLT_USER_MSTR — PM_시뮬레이션사용자마스터</a:t>
            </a:r>
          </a:p>
          <a:p>
            <a:r>
              <a:rPr lang="ko-KR"/>
              <a:t>원본: java/ddl/cast-ddl.sql (2026-10-26)</a:t>
            </a:r>
          </a:p>
          <a:p>
            <a:r>
              <a:rPr lang="ko-KR"/>
              <a:t>PK: 기본키, UK: 유일키, FK: 외래키. NULL Y: 허용, N: 불가.</a:t>
            </a:r>
          </a:p>
          <a:p>
            <a:r>
              <a:rPr lang="ko-KR"/>
              <a:t>1. SMLT_REQ_ID | VARCHAR2(100) | PK | NULL N | DEFAULT (없음) | 시뮬레이션실행요청아이디</a:t>
            </a:r>
          </a:p>
          <a:p>
            <a:r>
              <a:rPr lang="ko-KR"/>
              <a:t>2. SMLT_ID | VARCHAR2(8) | UK | NULL N | DEFAULT (없음) | 시뮬레이션아이디</a:t>
            </a:r>
          </a:p>
          <a:p>
            <a:r>
              <a:rPr lang="ko-KR"/>
              <a:t>3. EXCN_YMD | VARCHAR2(8) | - | NULL N | DEFAULT (없음) | 실행연월일</a:t>
            </a:r>
          </a:p>
          <a:p>
            <a:r>
              <a:rPr lang="ko-KR"/>
              <a:t>4. MDL_RSRC_ID | VARCHAR2(100) | - | NULL Y | DEFAULT (없음) | 모델리소스아이디</a:t>
            </a:r>
          </a:p>
          <a:p>
            <a:r>
              <a:rPr lang="ko-KR"/>
              <a:t>5. FLT_SCHDL_RSRC_ID | VARCHAR2(100) | - | NULL Y | DEFAULT (없음) | 항공편스케줄리소스아이디</a:t>
            </a:r>
          </a:p>
          <a:p>
            <a:r>
              <a:rPr lang="ko-KR"/>
              <a:t>6. CKNCT_ALCTN_RSRC_ID | VARCHAR2(100) | - | NULL Y | DEFAULT (없음) | 체크인카운터배정리소스아이디</a:t>
            </a:r>
          </a:p>
          <a:p>
            <a:r>
              <a:rPr lang="ko-KR"/>
              <a:t>7. SBD_CNTRL_ALCTN_ID | VARCHAR2(100) | - | NULL Y | DEFAULT (없음) | 탑승구관리배정아이디</a:t>
            </a:r>
          </a:p>
          <a:p>
            <a:r>
              <a:rPr lang="ko-KR"/>
              <a:t>8. PRPT_STNG_RSRC_ID | VARCHAR2(100) | - | NULL Y | DEFAULT (없음) | 속성설정리소스아이디</a:t>
            </a:r>
          </a:p>
          <a:p>
            <a:r>
              <a:rPr lang="ko-KR"/>
              <a:t>9. FCLTY_OPNG_DPTCNY_SRNG_RSRC_ID | VARCHAR2(100) | - | NULL Y | DEFAULT (없음) | 시설물운영출국심사리소스아이디</a:t>
            </a:r>
          </a:p>
          <a:p>
            <a:r>
              <a:rPr lang="ko-KR"/>
              <a:t>10. FCLTY_OPNG_DPTCNY_RSRC_ID | VARCHAR2(100) | - | NULL Y | DEFAULT (없음) | 시설물운영출국리소스아이디</a:t>
            </a:r>
          </a:p>
          <a:p>
            <a:r>
              <a:rPr lang="ko-KR"/>
              <a:t>11. FCLTY_OPNG_ENTCNY_RSRC_ID | VARCHAR2(100) | - | NULL Y | DEFAULT (없음) | 시설물운영입국리소스아이디</a:t>
            </a:r>
          </a:p>
          <a:p>
            <a:r>
              <a:rPr lang="ko-KR"/>
              <a:t>12. FCLTY_OPNG_SCRTY_CNTRL_RSRC_ID | VARCHAR2(100) | - | NULL Y | DEFAULT (없음) | 시설물운영보안검색리소스아이디</a:t>
            </a:r>
          </a:p>
          <a:p>
            <a:r>
              <a:rPr lang="ko-KR"/>
              <a:t>13. FCLTY_OPNG_TR_SCRTY_CNTRL_RSRC_ID | VARCHAR2(100) | - | NULL Y | DEFAULT (없음) | 시설물운영환승보안검색리소스아이디</a:t>
            </a:r>
          </a:p>
          <a:p>
            <a:r>
              <a:rPr lang="ko-KR"/>
              <a:t>14. CKNCT_SRVC_HR_RSRC_ID | VARCHAR2(100) | - | NULL Y | DEFAULT (없음) | 체크인카운터서비스시간리소스아이디</a:t>
            </a:r>
          </a:p>
          <a:p>
            <a:r>
              <a:rPr lang="ko-KR"/>
              <a:t>[Sources]</a:t>
            </a:r>
          </a:p>
          <a:p>
            <a:r>
              <a:rPr lang="ko-KR"/>
              <a:t>java/ddl/cast-ddl.sql</a:t>
            </a:r>
          </a:p>
          <a:p>
            <a:r>
              <a:rPr lang="ko-KR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TN_PM_SMLT_USER_MSTR — PM_시뮬레이션사용자마스터</a:t>
            </a:r>
          </a:p>
          <a:p>
            <a:r>
              <a:rPr lang="ko-KR"/>
              <a:t>원본: java/ddl/cast-ddl.sql (2026-10-26)</a:t>
            </a:r>
          </a:p>
          <a:p>
            <a:r>
              <a:rPr lang="ko-KR"/>
              <a:t>PK: 기본키, UK: 유일키, FK: 외래키. NULL Y: 허용, N: 불가.</a:t>
            </a:r>
          </a:p>
          <a:p>
            <a:r>
              <a:rPr lang="ko-KR"/>
              <a:t>15. CKNCT_TYPE_CNTRL_RSRC_ID | VARCHAR2(100) | - | NULL Y | DEFAULT (없음) | 체크인카운터유형관리리소스아이디</a:t>
            </a:r>
          </a:p>
          <a:p>
            <a:r>
              <a:rPr lang="ko-KR"/>
              <a:t>16. CHKN_TYPE_RSRC_ID | VARCHAR2(100) | - | NULL Y | DEFAULT (없음) | 체크인유형리소스아이디</a:t>
            </a:r>
          </a:p>
          <a:p>
            <a:r>
              <a:rPr lang="ko-KR"/>
              <a:t>17. RPT_STNG_ATRB_ID | VARCHAR2(100) | - | NULL Y | DEFAULT (없음) | 근접시간대그룹속성ID</a:t>
            </a:r>
          </a:p>
          <a:p>
            <a:r>
              <a:rPr lang="ko-KR"/>
              <a:t>18. SMLT_STTS | VARCHAR2(20) | - | NULL N | DEFAULT 'New' | 시뮬레이션상태</a:t>
            </a:r>
          </a:p>
          <a:p>
            <a:r>
              <a:rPr lang="ko-KR"/>
              <a:t>19. QUEUE_DT | TIMESTAMP(6) | - | NULL N | DEFAULT CURRENT_TIMESTAMP | 대기등록일시</a:t>
            </a:r>
          </a:p>
          <a:p>
            <a:r>
              <a:rPr lang="ko-KR"/>
              <a:t>20. EXCT_DT | TIMESTAMP(6) | - | NULL Y | DEFAULT (없음) | 실행일시</a:t>
            </a:r>
          </a:p>
          <a:p>
            <a:r>
              <a:rPr lang="ko-KR"/>
              <a:t>21. END_DT | TIMESTAMP(6) | - | NULL Y | DEFAULT (없음) | 종료일시</a:t>
            </a:r>
          </a:p>
          <a:p>
            <a:r>
              <a:rPr lang="ko-KR"/>
              <a:t>22. ERR_MSG | VARCHAR2(1000) | - | NULL Y | DEFAULT (없음) | 오류메시지</a:t>
            </a:r>
          </a:p>
          <a:p>
            <a:r>
              <a:rPr lang="ko-KR"/>
              <a:t>23. FRST_RGTR_ID | VARCHAR2(40) | - | NULL Y | DEFAULT (없음) | 최초등록자아이디</a:t>
            </a:r>
          </a:p>
          <a:p>
            <a:r>
              <a:rPr lang="ko-KR"/>
              <a:t>24. FRST_RGTR_IP_ADDR | VARCHAR2(40) | - | NULL Y | DEFAULT (없음) | 최초등록자IP주소</a:t>
            </a:r>
          </a:p>
          <a:p>
            <a:r>
              <a:rPr lang="ko-KR"/>
              <a:t>25. FRST_REG_DT | TIMESTAMP(6) | - | NULL Y | DEFAULT CURRENT_TIMESTAMP | 최초등록일시</a:t>
            </a:r>
          </a:p>
          <a:p>
            <a:r>
              <a:rPr lang="ko-KR"/>
              <a:t>26. LAST_MDFR_ID | VARCHAR2(40) | - | NULL Y | DEFAULT (없음) | 최종수정자아이디</a:t>
            </a:r>
          </a:p>
          <a:p>
            <a:r>
              <a:rPr lang="ko-KR"/>
              <a:t>27. LAST_MDFR_IP_ADDR | VARCHAR2(40) | - | NULL Y | DEFAULT (없음) | 최종수정자IP주소</a:t>
            </a:r>
          </a:p>
          <a:p>
            <a:r>
              <a:rPr lang="ko-KR"/>
              <a:t>28. LAST_MDFCN_DT | TIMESTAMP(6) | - | NULL Y | DEFAULT (없음) | 최종수정일시</a:t>
            </a:r>
          </a:p>
          <a:p>
            <a:r>
              <a:rPr lang="ko-KR"/>
              <a:t>[Sources]</a:t>
            </a:r>
          </a:p>
          <a:p>
            <a:r>
              <a:rPr lang="ko-KR"/>
              <a:t>java/ddl/cast-ddl.sql</a:t>
            </a:r>
          </a:p>
          <a:p>
            <a:r>
              <a:rPr lang="ko-KR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TN_PM_SMLT_FCLT_WTNG_RSLT — PM_시뮬레이션시설대기결과</a:t>
            </a:r>
          </a:p>
          <a:p>
            <a:r>
              <a:rPr lang="ko-KR"/>
              <a:t>원본: java/ddl/cast-ddl.sql (2026-10-26)</a:t>
            </a:r>
          </a:p>
          <a:p>
            <a:r>
              <a:rPr lang="ko-KR"/>
              <a:t>PK: 기본키, UK: 유일키, FK: 외래키. NULL Y: 허용, N: 불가.</a:t>
            </a:r>
          </a:p>
          <a:p>
            <a:r>
              <a:rPr lang="ko-KR"/>
              <a:t>1. SMLT_ID | VARCHAR2(8) | PK,FK | NULL N | DEFAULT (없음) | 시뮬레이션아이디</a:t>
            </a:r>
          </a:p>
          <a:p>
            <a:r>
              <a:rPr lang="ko-KR"/>
              <a:t>2. SMLT_MDL_SN | NUMBER(5,0) | PK,FK | NULL N | DEFAULT (없음) | 시뮬레이션모델일련번호</a:t>
            </a:r>
          </a:p>
          <a:p>
            <a:r>
              <a:rPr lang="ko-KR"/>
              <a:t>3. TMNL_ID | VARCHAR2(3) | PK | NULL N | DEFAULT (없음) | 터미널아이디</a:t>
            </a:r>
          </a:p>
          <a:p>
            <a:r>
              <a:rPr lang="ko-KR"/>
              <a:t>4. FCLT_TYPE_CD | VARCHAR2(4) | PK | NULL N | DEFAULT (없음) | 시설유형코드(CHKN:CC공용큐,DEP:SC및SR합산)</a:t>
            </a:r>
          </a:p>
          <a:p>
            <a:r>
              <a:rPr lang="ko-KR"/>
              <a:t>5. FCLT_UNIT_CD | VARCHAR2(8) | PK | NULL N | DEFAULT (없음) | 시설단위코드(체크인:아일랜드,출국장:출국장코드)</a:t>
            </a:r>
          </a:p>
          <a:p>
            <a:r>
              <a:rPr lang="ko-KR"/>
              <a:t>6. SEC_BGNG_DT | TIMESTAMP(0) | PK | NULL N | DEFAULT (없음) | 구간시작일시(Asia/Seoul,포함)</a:t>
            </a:r>
          </a:p>
          <a:p>
            <a:r>
              <a:rPr lang="ko-KR"/>
              <a:t>7. END_WTNG_PSG_CNT | NUMBER(12,0) | - | NULL Y | DEFAULT (없음) | 종료대기여객수(NULL:미확인)</a:t>
            </a:r>
          </a:p>
          <a:p>
            <a:r>
              <a:rPr lang="ko-KR"/>
              <a:t>8. PRCS_PSG_CNT | NUMBER(12,0) | - | NULL N | DEFAULT (없음) | 처리여객수</a:t>
            </a:r>
          </a:p>
          <a:p>
            <a:r>
              <a:rPr lang="ko-KR"/>
              <a:t>9. WTNG_PSEC_SUM | NUMBER(12,0) | - | NULL N | DEFAULT (없음) | 대기초단위합계(유효처리여객대기시간합,초)</a:t>
            </a:r>
          </a:p>
          <a:p>
            <a:r>
              <a:rPr lang="ko-KR"/>
              <a:t>10. WTNG_VLD_PSG_CNT | NUMBER(12,0) | - | NULL N | DEFAULT (없음) | 대기유효여객수(대기시간합계분모)</a:t>
            </a:r>
          </a:p>
          <a:p>
            <a:r>
              <a:rPr lang="ko-KR"/>
              <a:t>11. PRCS_PSEC_SUM | NUMBER(12,0) | - | NULL N | DEFAULT (없음) | 처리초단위합계(유효여객처리시간합,초)</a:t>
            </a:r>
          </a:p>
          <a:p>
            <a:r>
              <a:rPr lang="ko-KR"/>
              <a:t>12. PRCS_VLD_PSG_CNT | NUMBER(12,0) | - | NULL N | DEFAULT (없음) | 처리유효여객수(처리시간합계분모)</a:t>
            </a:r>
          </a:p>
          <a:p>
            <a:r>
              <a:rPr lang="ko-KR"/>
              <a:t>13. WTNG_PSG_CNT_SUM | NUMBER(12,0) | - | NULL N | DEFAULT (없음) | 대기여객수합계(큐표본값합,누적여객수아님)</a:t>
            </a:r>
          </a:p>
          <a:p>
            <a:r>
              <a:rPr lang="ko-KR"/>
              <a:t>FK (SMLT_ID, SMLT_MDL_SN) → TN_PM_SMLT_STNG (SMLT_ID, SMLT_MDL_SN).</a:t>
            </a:r>
          </a:p>
          <a:p>
            <a:r>
              <a:rPr lang="ko-KR"/>
              <a:t>[Sources]</a:t>
            </a:r>
          </a:p>
          <a:p>
            <a:r>
              <a:rPr lang="ko-KR"/>
              <a:t>java/ddl/cast-ddl.sql</a:t>
            </a:r>
          </a:p>
          <a:p>
            <a:r>
              <a:rPr lang="ko-KR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TN_PM_SMLT_FCLT_WTNG_RSLT — PM_시뮬레이션시설대기결과</a:t>
            </a:r>
          </a:p>
          <a:p>
            <a:r>
              <a:rPr lang="ko-KR"/>
              <a:t>원본: java/ddl/cast-ddl.sql (2026-10-26)</a:t>
            </a:r>
          </a:p>
          <a:p>
            <a:r>
              <a:rPr lang="ko-KR"/>
              <a:t>PK: 기본키, UK: 유일키, FK: 외래키. NULL Y: 허용, N: 불가.</a:t>
            </a:r>
          </a:p>
          <a:p>
            <a:r>
              <a:rPr lang="ko-KR"/>
              <a:t>14. WTNG_NOCS | NUMBER(2,0) | - | NULL N | DEFAULT (없음) | 대기건수(큐표본수,CHKN:최대10,DEP:최대1)</a:t>
            </a:r>
          </a:p>
          <a:p>
            <a:r>
              <a:rPr lang="ko-KR"/>
              <a:t>15. MAX_WTNG_PSG_CNT | NUMBER(12,0) | - | NULL Y | DEFAULT (없음) | 최대대기여객수(보존표본최대값)</a:t>
            </a:r>
          </a:p>
          <a:p>
            <a:r>
              <a:rPr lang="ko-KR"/>
              <a:t>16. END_OPER_CNTOM | NUMBER(12,0) | - | NULL Y | DEFAULT (없음) | 종료운영대수(구간마지막분적용수량,NULL:미확인)</a:t>
            </a:r>
          </a:p>
          <a:p>
            <a:r>
              <a:rPr lang="ko-KR"/>
              <a:t>17. PRCS_CPCT | NUMBER(12,0) | - | NULL Y | DEFAULT (없음) | 처리수용량(CHKN:10분처리용량합,DEP:NULL)</a:t>
            </a:r>
          </a:p>
          <a:p>
            <a:r>
              <a:rPr lang="ko-KR"/>
              <a:t>18. PRCS_VLD_OPER_CNTOM_SUM | NUMBER(12,0) | - | NULL Y | DEFAULT (없음) | 처리유효운영대수합계(CHKN:분별처리용량양수인분운영대수합,대분)</a:t>
            </a:r>
          </a:p>
          <a:p>
            <a:r>
              <a:rPr lang="ko-KR"/>
              <a:t>19. OBSRVN_YN | VARCHAR2(1) | - | NULL N | DEFAULT (없음) | 관측여부(Y:10분전체관측,N:부분또는미관측)</a:t>
            </a:r>
          </a:p>
          <a:p>
            <a:r>
              <a:rPr lang="ko-KR"/>
              <a:t>20. FRST_RGTR_ID | VARCHAR2(40) | - | NULL N | DEFAULT (없음) | 최초등록자아이디</a:t>
            </a:r>
          </a:p>
          <a:p>
            <a:r>
              <a:rPr lang="ko-KR"/>
              <a:t>21. FRST_RGTR_IP_ADDR | VARCHAR2(23) | - | NULL N | DEFAULT (없음) | 최초등록자IP주소</a:t>
            </a:r>
          </a:p>
          <a:p>
            <a:r>
              <a:rPr lang="ko-KR"/>
              <a:t>22. FRST_REG_DT | TIMESTAMP(6) | - | NULL Y | DEFAULT CURRENT_TIMESTAMP | 최초등록일시</a:t>
            </a:r>
          </a:p>
          <a:p>
            <a:r>
              <a:rPr lang="ko-KR"/>
              <a:t>23. LAST_MDFR_ID | VARCHAR2(40) | - | NULL Y | DEFAULT (없음) | 최종수정자아이디</a:t>
            </a:r>
          </a:p>
          <a:p>
            <a:r>
              <a:rPr lang="ko-KR"/>
              <a:t>24. LAST_MDFR_IP_ADDR | VARCHAR2(23) | - | NULL Y | DEFAULT (없음) | 최종수정자IP주소</a:t>
            </a:r>
          </a:p>
          <a:p>
            <a:r>
              <a:rPr lang="ko-KR"/>
              <a:t>25. LAST_MDFCN_DT | TIMESTAMP(6) | - | NULL Y | DEFAULT (없음) | 최종수정일시</a:t>
            </a:r>
          </a:p>
          <a:p>
            <a:r>
              <a:rPr lang="ko-KR"/>
              <a:t>FK (SMLT_ID, SMLT_MDL_SN) → TN_PM_SMLT_STNG (SMLT_ID, SMLT_MDL_SN).</a:t>
            </a:r>
          </a:p>
          <a:p>
            <a:r>
              <a:rPr lang="ko-KR"/>
              <a:t>[Sources]</a:t>
            </a:r>
          </a:p>
          <a:p>
            <a:r>
              <a:rPr lang="ko-KR"/>
              <a:t>java/ddl/cast-ddl.sql</a:t>
            </a:r>
          </a:p>
          <a:p>
            <a:r>
              <a:rPr lang="ko-KR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PM 예측관리 PMOWN 테이블 ERD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cast · castapi 패키지(매퍼 포함)가 사용하는 PMOWN 스키마 테이블 58개 · 9개 그룹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기준: java/mapper/*.xml, java/ddl/*.sql (2026-10-25)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정리 범위와 표기법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aoms.pm.cast.* · aoms.pm.castapi.* 매퍼 SQL 에서 PMOWN. 접두어로 접근하는 테이블만 모았다 (CAOWN · GOOWN 제외)</a:t>
            </a:r>
            <a:endParaRPr lang="en-US" sz="1200" dirty="0"/>
          </a:p>
        </p:txBody>
      </p:sp>
      <p:sp>
        <p:nvSpPr>
          <p:cNvPr id="4" name="scope key 0"/>
          <p:cNvSpPr/>
          <p:nvPr/>
        </p:nvSpPr>
        <p:spPr>
          <a:xfrm>
            <a:off x="457200" y="1463040"/>
            <a:ext cx="1645920" cy="4389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조사 대상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46304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cast 매퍼 16개 + castapi 매퍼 2개(CastApiMapper · CastApiLogMapper) 의 SQL</a:t>
            </a:r>
            <a:endParaRPr lang="en-US" sz="1200" dirty="0"/>
          </a:p>
        </p:txBody>
      </p:sp>
      <p:sp>
        <p:nvSpPr>
          <p:cNvPr id="7" name="scope key 1"/>
          <p:cNvSpPr/>
          <p:nvPr/>
        </p:nvSpPr>
        <p:spPr>
          <a:xfrm>
            <a:off x="457200" y="2029968"/>
            <a:ext cx="1645920" cy="4389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299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결과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02996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테이블 58개 + 시퀀스 4개. 그 중 52개는 DDL 보유, 6개는 매퍼 사용 컬럼만 확인</a:t>
            </a:r>
            <a:endParaRPr lang="en-US" sz="1200" dirty="0"/>
          </a:p>
        </p:txBody>
      </p:sp>
      <p:sp>
        <p:nvSpPr>
          <p:cNvPr id="10" name="scope key 2"/>
          <p:cNvSpPr/>
          <p:nvPr/>
        </p:nvSpPr>
        <p:spPr>
          <a:xfrm>
            <a:off x="457200" y="2596896"/>
            <a:ext cx="1645920" cy="4389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9689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관계 근거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596896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DDL 의 PK·FK 와 매퍼의 JOIN · WHERE 조건. 대부분 물리 FK 없이 키 값으로 연결된다</a:t>
            </a:r>
            <a:endParaRPr lang="en-US" sz="1200" dirty="0"/>
          </a:p>
        </p:txBody>
      </p:sp>
      <p:sp>
        <p:nvSpPr>
          <p:cNvPr id="13" name="scope key 3"/>
          <p:cNvSpPr/>
          <p:nvPr/>
        </p:nvSpPr>
        <p:spPr>
          <a:xfrm>
            <a:off x="457200" y="3163824"/>
            <a:ext cx="1645920" cy="4389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638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리소스 ID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316382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STNG · USER_MSTR 는 CAST 리소스 ID(FS001, CA002 …)를 값으로 들고, MSTR 는 번호(001)만 PK 로 둔다</a:t>
            </a:r>
            <a:endParaRPr lang="en-US" sz="1200" dirty="0"/>
          </a:p>
        </p:txBody>
      </p:sp>
      <p:sp>
        <p:nvSpPr>
          <p:cNvPr id="16" name="scope key 4"/>
          <p:cNvSpPr/>
          <p:nvPr/>
        </p:nvSpPr>
        <p:spPr>
          <a:xfrm>
            <a:off x="457200" y="3730752"/>
            <a:ext cx="1645920" cy="4389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307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박스 표기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3730752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테이블명 / 용도, 키 컬럼만 표시. PK = 기본키, FK = 다른 테이블 키 참조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표기 예시</a:t>
            </a:r>
            <a:endParaRPr lang="en-US" sz="1200" dirty="0"/>
          </a:p>
        </p:txBody>
      </p:sp>
      <p:sp>
        <p:nvSpPr>
          <p:cNvPr id="20" name="tbl TN_PM_SMLT_STNG"/>
          <p:cNvSpPr/>
          <p:nvPr/>
        </p:nvSpPr>
        <p:spPr>
          <a:xfrm>
            <a:off x="457200" y="4800600"/>
            <a:ext cx="292608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1" name="hdr TN_PM_SMLT_STNG"/>
          <p:cNvSpPr/>
          <p:nvPr/>
        </p:nvSpPr>
        <p:spPr>
          <a:xfrm>
            <a:off x="457200" y="4800600"/>
            <a:ext cx="2926080" cy="457200"/>
          </a:xfrm>
          <a:prstGeom prst="rect">
            <a:avLst/>
          </a:prstGeom>
          <a:solidFill>
            <a:schemeClr val="accent1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" y="4837176"/>
            <a:ext cx="2798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TN_PM_SMLT_STNG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" y="5038344"/>
            <a:ext cx="2798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부모 테이블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" y="5294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78408" y="529437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SMLT_ID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" y="547725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SMLT_MDL_SN</a:t>
            </a:r>
            <a:endParaRPr lang="en-US" sz="1000" dirty="0"/>
          </a:p>
        </p:txBody>
      </p:sp>
      <p:sp>
        <p:nvSpPr>
          <p:cNvPr id="28" name="tbl TN_PM_SMLT_FCLT_WTNG_RSLT"/>
          <p:cNvSpPr/>
          <p:nvPr/>
        </p:nvSpPr>
        <p:spPr>
          <a:xfrm>
            <a:off x="4572000" y="4800600"/>
            <a:ext cx="310896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9" name="hdr TN_PM_SMLT_FCLT_WTNG_RSLT"/>
          <p:cNvSpPr/>
          <p:nvPr/>
        </p:nvSpPr>
        <p:spPr>
          <a:xfrm>
            <a:off x="4572000" y="4800600"/>
            <a:ext cx="3108960" cy="457200"/>
          </a:xfrm>
          <a:prstGeom prst="rect">
            <a:avLst/>
          </a:prstGeom>
          <a:solidFill>
            <a:schemeClr val="accent1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36008" y="4837176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TN_PM_SMLT_FCLT_WTNG_RSLT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636008" y="50383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자식 테이블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5294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093208" y="529437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SMLT_ID · SMLT_MDL_SN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636008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093208" y="547725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TMNL_ID · FCLT_TYPE_CD …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flipH="1">
            <a:off x="3383280" y="5248656"/>
            <a:ext cx="1188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52544" y="50292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3419856" y="50292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611880" y="49834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[FK]</a:t>
            </a:r>
            <a:endParaRPr lang="en-US" sz="1000" dirty="0"/>
          </a:p>
        </p:txBody>
      </p:sp>
      <p:sp>
        <p:nvSpPr>
          <p:cNvPr id="40" name="ref → ③ TN_PM_SMLT_SCHDL_MSTR"/>
          <p:cNvSpPr/>
          <p:nvPr/>
        </p:nvSpPr>
        <p:spPr>
          <a:xfrm>
            <a:off x="8595360" y="4800600"/>
            <a:ext cx="3108960" cy="640080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8668512" y="48463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→ ③ TN_PM_SMLT_SCHDL_MSTR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668512" y="50749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다른 그룹 테이블을 가리킬 때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87552" y="6464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키 관계 (PK 컬럼 상속 · FK)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46" name="Text 44"/>
          <p:cNvSpPr txBox="1"/>
          <p:nvPr/>
        </p:nvSpPr>
        <p:spPr>
          <a:xfrm>
            <a:off x="3730752" y="6464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값 참조 (키·제약 없음)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577840" y="64648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 / N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관계 차수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[FK]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DDL FK 제약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점선 박스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다른 그룹 테이블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그룹 구성과 그룹 간 관계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실행(①)이 CAST 입력 리소스(③④⑤)를 ID 로 참조하고, 사용자 조건(②)은 실행 시 리소스로 발행된다</a:t>
            </a:r>
            <a:endParaRPr lang="en-US" sz="1200" dirty="0"/>
          </a:p>
        </p:txBody>
      </p:sp>
      <p:sp>
        <p:nvSpPr>
          <p:cNvPr id="4" name="ov 2"/>
          <p:cNvSpPr/>
          <p:nvPr/>
        </p:nvSpPr>
        <p:spPr>
          <a:xfrm>
            <a:off x="457200" y="1371600"/>
            <a:ext cx="3566160" cy="1325880"/>
          </a:xfrm>
          <a:prstGeom prst="rect">
            <a:avLst/>
          </a:prstGeom>
          <a:solidFill>
            <a:schemeClr val="accent2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44752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② 사용자 시뮬레이션 현재상태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55648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6개 · 사용자·일자·터미널별 편집 상태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USER_CHKN_ISL / _OPER_HR / _BOOTH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USER_DPTGT / _OPER_HR · USER_FLT_PSG_AJMT</a:t>
            </a:r>
            <a:endParaRPr lang="en-US" sz="1000" dirty="0"/>
          </a:p>
        </p:txBody>
      </p:sp>
      <p:sp>
        <p:nvSpPr>
          <p:cNvPr id="7" name="ov 1"/>
          <p:cNvSpPr/>
          <p:nvPr/>
        </p:nvSpPr>
        <p:spPr>
          <a:xfrm>
            <a:off x="4343400" y="1371600"/>
            <a:ext cx="3566160" cy="1325880"/>
          </a:xfrm>
          <a:prstGeom prst="rect">
            <a:avLst/>
          </a:prstGeom>
          <a:solidFill>
            <a:schemeClr val="accent1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53128" y="1444752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① 시뮬레이션 실행·결과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53128" y="1755648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8개 · 실행 설정과 결과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USER_MSTR · STNG · RSLT_DTL(_REG_EXCL)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FCLT_WTNG_RSLT · SMLT_MDL · PSG_FCLT · ATFL</a:t>
            </a:r>
            <a:endParaRPr lang="en-US" sz="1000" dirty="0"/>
          </a:p>
        </p:txBody>
      </p:sp>
      <p:sp>
        <p:nvSpPr>
          <p:cNvPr id="10" name="ov 9"/>
          <p:cNvSpPr/>
          <p:nvPr/>
        </p:nvSpPr>
        <p:spPr>
          <a:xfrm>
            <a:off x="8229600" y="1371600"/>
            <a:ext cx="3502152" cy="1325880"/>
          </a:xfrm>
          <a:prstGeom prst="rect">
            <a:avLst/>
          </a:prstGeom>
          <a:solidFill>
            <a:schemeClr val="tx1">
              <a:alpha val="2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9328" y="1444752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⑨ 로그·시스템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1755648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4개 · 독립 테이블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CAST_LOG_STNG · TH_PM_SMLT_CAST_LOG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TH_PM_DW_DEL_KEY_HSTRY · DROP_TMP</a:t>
            </a:r>
            <a:endParaRPr lang="en-US" sz="1000" dirty="0"/>
          </a:p>
        </p:txBody>
      </p:sp>
      <p:sp>
        <p:nvSpPr>
          <p:cNvPr id="13" name="cast resource region"/>
          <p:cNvSpPr/>
          <p:nvPr/>
        </p:nvSpPr>
        <p:spPr>
          <a:xfrm>
            <a:off x="365760" y="3154680"/>
            <a:ext cx="11457432" cy="1691640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502920" y="32004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CAST 입력 리소스 — MSTR(번호) 1 : N ATRB(내용) 구조 · 001 = 일일 운영, 002~999 = 사용자 실행</a:t>
            </a:r>
            <a:endParaRPr lang="en-US" sz="1000" dirty="0"/>
          </a:p>
        </p:txBody>
      </p:sp>
      <p:sp>
        <p:nvSpPr>
          <p:cNvPr id="15" name="ov 3"/>
          <p:cNvSpPr/>
          <p:nvPr/>
        </p:nvSpPr>
        <p:spPr>
          <a:xfrm>
            <a:off x="548640" y="3493008"/>
            <a:ext cx="3474720" cy="1216152"/>
          </a:xfrm>
          <a:prstGeom prst="rect">
            <a:avLst/>
          </a:prstGeom>
          <a:solidFill>
            <a:schemeClr val="accent3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56616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③ CAST 리소스 – 운항·체크인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877056"/>
            <a:ext cx="32552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10개 · 5쌍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SCHDL(FS) · CKNCT(CA) · SBD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CKNCT_SRVC · CKNCT_TYPE</a:t>
            </a:r>
            <a:endParaRPr lang="en-US" sz="1000" dirty="0"/>
          </a:p>
        </p:txBody>
      </p:sp>
      <p:sp>
        <p:nvSpPr>
          <p:cNvPr id="18" name="ov 4"/>
          <p:cNvSpPr/>
          <p:nvPr/>
        </p:nvSpPr>
        <p:spPr>
          <a:xfrm>
            <a:off x="4434840" y="3493008"/>
            <a:ext cx="3474720" cy="1216152"/>
          </a:xfrm>
          <a:prstGeom prst="rect">
            <a:avLst/>
          </a:prstGeom>
          <a:solidFill>
            <a:schemeClr val="accent4">
              <a:alpha val="3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44568" y="356616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④ CAST 리소스 – 시설 운영표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44568" y="3877056"/>
            <a:ext cx="32552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12개 · 6쌍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DPTGT · DPTCNY · ENTCNY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SCRTY_CNTRL · TRNST_SCRTY_CNTRL · RPT_STNG</a:t>
            </a:r>
            <a:endParaRPr lang="en-US" sz="1000" dirty="0"/>
          </a:p>
        </p:txBody>
      </p:sp>
      <p:sp>
        <p:nvSpPr>
          <p:cNvPr id="21" name="ov 5"/>
          <p:cNvSpPr/>
          <p:nvPr/>
        </p:nvSpPr>
        <p:spPr>
          <a:xfrm>
            <a:off x="8321040" y="3493008"/>
            <a:ext cx="3319272" cy="1216152"/>
          </a:xfrm>
          <a:prstGeom prst="rect">
            <a:avLst/>
          </a:prstGeom>
          <a:solidFill>
            <a:schemeClr val="accent5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30768" y="356616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⑤ PropertySet 속성그룹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30768" y="3877056"/>
            <a:ext cx="30998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6개 · PS001 기준정보 / 999 전처리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FIX_ATRB_GROUP · PSG_ATRB · SHOW_UP_ATRB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SRVC_ATRB · 파라미터 코드 2종</a:t>
            </a:r>
            <a:endParaRPr lang="en-US" sz="1000" dirty="0"/>
          </a:p>
        </p:txBody>
      </p:sp>
      <p:sp>
        <p:nvSpPr>
          <p:cNvPr id="24" name="ov 7"/>
          <p:cNvSpPr/>
          <p:nvPr/>
        </p:nvSpPr>
        <p:spPr>
          <a:xfrm>
            <a:off x="457200" y="5257800"/>
            <a:ext cx="3566160" cy="1097280"/>
          </a:xfrm>
          <a:prstGeom prst="rect">
            <a:avLst/>
          </a:prstGeom>
          <a:solidFill>
            <a:schemeClr val="tx2">
              <a:alpha val="2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5330952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⑦ 운영 기준정보·정책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641848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6개 · 운영시간(INFO→ELMNT→MNG)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셀프체크인·SBD 정책 · 혼잡등급 기준</a:t>
            </a:r>
            <a:endParaRPr lang="en-US" sz="1000" dirty="0"/>
          </a:p>
        </p:txBody>
      </p:sp>
      <p:sp>
        <p:nvSpPr>
          <p:cNvPr id="27" name="ov 8"/>
          <p:cNvSpPr/>
          <p:nvPr/>
        </p:nvSpPr>
        <p:spPr>
          <a:xfrm>
            <a:off x="4343400" y="5257800"/>
            <a:ext cx="3566160" cy="1097280"/>
          </a:xfrm>
          <a:prstGeom prst="rect">
            <a:avLst/>
          </a:prstGeom>
          <a:solidFill>
            <a:schemeClr val="tx1">
              <a:alpha val="1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53128" y="5330952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⑧ 실측·실적 데이터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453128" y="5641848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3개 · 요약보기 실적 조회 (독립)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탑승객예고 · 출국처리실적 · 대기정보</a:t>
            </a:r>
            <a:endParaRPr lang="en-US" sz="1000" dirty="0"/>
          </a:p>
        </p:txBody>
      </p:sp>
      <p:sp>
        <p:nvSpPr>
          <p:cNvPr id="30" name="ov 6"/>
          <p:cNvSpPr/>
          <p:nvPr/>
        </p:nvSpPr>
        <p:spPr>
          <a:xfrm>
            <a:off x="8229600" y="5257800"/>
            <a:ext cx="3502152" cy="1097280"/>
          </a:xfrm>
          <a:prstGeom prst="rect">
            <a:avLst/>
          </a:prstGeom>
          <a:solidFill>
            <a:schemeClr val="accent6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39328" y="5330952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⑥ 속성 적용 이력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5641848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3개 · 운영 반영 이력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SET_HSTRY → HSTRY → HSTRY_DTL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23360" y="2029968"/>
            <a:ext cx="3200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40280" y="269748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2331720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실행 시 002~999 로 발행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269748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6217920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*_RSRC_ID 로 참조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 flipV="1">
            <a:off x="2240280" y="4846320"/>
            <a:ext cx="0" cy="41148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2331720" y="49377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001 발행 시 참조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 flipV="1">
            <a:off x="9966960" y="4846320"/>
            <a:ext cx="0" cy="41148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10058400" y="493776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카테고리 → 001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① 시뮬레이션 실행·결과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공통 SMLT_ID(SQ1_TN_PM_SMLT_RSLT) 아래 모델별 STNG 1행, 결과는 STNG 키(SMLT_ID · SMLT_MDL_SN)를 상속한다</a:t>
            </a:r>
            <a:endParaRPr lang="en-US" sz="1200" dirty="0"/>
          </a:p>
        </p:txBody>
      </p:sp>
      <p:sp>
        <p:nvSpPr>
          <p:cNvPr id="4" name="tbl TN_PM_SMLT_USER_MSTR"/>
          <p:cNvSpPr/>
          <p:nvPr/>
        </p:nvSpPr>
        <p:spPr>
          <a:xfrm>
            <a:off x="457200" y="1417320"/>
            <a:ext cx="3291840" cy="126187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" name="hdr TN_PM_SMLT_USER_MSTR"/>
          <p:cNvSpPr/>
          <p:nvPr/>
        </p:nvSpPr>
        <p:spPr>
          <a:xfrm>
            <a:off x="457200" y="1417320"/>
            <a:ext cx="3291840" cy="457200"/>
          </a:xfrm>
          <a:prstGeom prst="rect">
            <a:avLst/>
          </a:prstGeom>
          <a:solidFill>
            <a:schemeClr val="accent1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" y="1453896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TN_PM_SMLT_USER_MSTR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1655064"/>
            <a:ext cx="3163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사용자 실행 요청 (WhatIf) · 28컬럼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21208" y="1911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191109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SMLT_REQ_ID  (WI + 8자리)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09397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SMLT_ID  → STNG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227685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EXCN_YMD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" y="245973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리소스 참조 14종  → ③④⑤</a:t>
            </a:r>
            <a:endParaRPr lang="en-US" sz="1000" dirty="0"/>
          </a:p>
        </p:txBody>
      </p:sp>
      <p:sp>
        <p:nvSpPr>
          <p:cNvPr id="13" name="tbl TN_PM_SMLT_STNG"/>
          <p:cNvSpPr/>
          <p:nvPr/>
        </p:nvSpPr>
        <p:spPr>
          <a:xfrm>
            <a:off x="4434840" y="1417320"/>
            <a:ext cx="329184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" name="hdr TN_PM_SMLT_STNG"/>
          <p:cNvSpPr/>
          <p:nvPr/>
        </p:nvSpPr>
        <p:spPr>
          <a:xfrm>
            <a:off x="4434840" y="1417320"/>
            <a:ext cx="3291840" cy="457200"/>
          </a:xfrm>
          <a:prstGeom prst="rect">
            <a:avLst/>
          </a:prstGeom>
          <a:solidFill>
            <a:schemeClr val="accent1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98848" y="1453896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TN_PM_SMLT_STNG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1655064"/>
            <a:ext cx="3163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시뮬레이션 설정 (실행·모델별)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1911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48" y="191109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SMLT_ID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2093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956048" y="209397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SMLT_MDL_SN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956048" y="227685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*_RSRC_ID 13종  → ③④⑤</a:t>
            </a:r>
            <a:endParaRPr lang="en-US" sz="1000" dirty="0"/>
          </a:p>
        </p:txBody>
      </p:sp>
      <p:sp>
        <p:nvSpPr>
          <p:cNvPr id="22" name="tbl TN_PM_SMLT_MDL"/>
          <p:cNvSpPr/>
          <p:nvPr/>
        </p:nvSpPr>
        <p:spPr>
          <a:xfrm>
            <a:off x="8412480" y="1417320"/>
            <a:ext cx="329184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3" name="hdr TN_PM_SMLT_MDL"/>
          <p:cNvSpPr/>
          <p:nvPr/>
        </p:nvSpPr>
        <p:spPr>
          <a:xfrm>
            <a:off x="8412480" y="1417320"/>
            <a:ext cx="3291840" cy="457200"/>
          </a:xfrm>
          <a:prstGeom prst="rect">
            <a:avLst/>
          </a:prstGeom>
          <a:solidFill>
            <a:schemeClr val="accent1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76488" y="1453896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TN_PM_SMLT_MDL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476488" y="1655064"/>
            <a:ext cx="3163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시뮬레이션 모델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476488" y="1911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933688" y="191109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SMLT_MDL_SN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933688" y="209397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SMLT_MDL_EXPLN  (= MDL_RSRC_ID)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933688" y="227685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SMLT_MDL_FILE_PATH_NM</a:t>
            </a:r>
            <a:endParaRPr lang="en-US" sz="1000" dirty="0"/>
          </a:p>
        </p:txBody>
      </p:sp>
      <p:sp>
        <p:nvSpPr>
          <p:cNvPr id="30" name="tbl TN_PM_PSG_MNG_ATFL"/>
          <p:cNvSpPr/>
          <p:nvPr/>
        </p:nvSpPr>
        <p:spPr>
          <a:xfrm>
            <a:off x="8412480" y="3200400"/>
            <a:ext cx="329184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1" name="hdr TN_PM_PSG_MNG_ATFL"/>
          <p:cNvSpPr/>
          <p:nvPr/>
        </p:nvSpPr>
        <p:spPr>
          <a:xfrm>
            <a:off x="8412480" y="3200400"/>
            <a:ext cx="3291840" cy="457200"/>
          </a:xfrm>
          <a:prstGeom prst="rect">
            <a:avLst/>
          </a:prstGeom>
          <a:solidFill>
            <a:schemeClr val="accent1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76488" y="3236976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TN_PM_PSG_MNG_ATFL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476488" y="3438144"/>
            <a:ext cx="3163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첨부파일 (모델 파일)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476488" y="36941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933688" y="369417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ATCH_FILE_ID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476488" y="3877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933688" y="387705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ATCH_FILE_SN</a:t>
            </a:r>
            <a:endParaRPr lang="en-US" sz="1000" dirty="0"/>
          </a:p>
        </p:txBody>
      </p:sp>
      <p:sp>
        <p:nvSpPr>
          <p:cNvPr id="38" name="tbl TN_PM_SMLT_RSLT_DTL"/>
          <p:cNvSpPr/>
          <p:nvPr/>
        </p:nvSpPr>
        <p:spPr>
          <a:xfrm>
            <a:off x="4434840" y="3291840"/>
            <a:ext cx="3291840" cy="126187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9" name="hdr TN_PM_SMLT_RSLT_DTL"/>
          <p:cNvSpPr/>
          <p:nvPr/>
        </p:nvSpPr>
        <p:spPr>
          <a:xfrm>
            <a:off x="4434840" y="3291840"/>
            <a:ext cx="3291840" cy="457200"/>
          </a:xfrm>
          <a:prstGeom prst="rect">
            <a:avLst/>
          </a:prstGeom>
          <a:solidFill>
            <a:schemeClr val="accent1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98848" y="3328416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TN_PM_SMLT_RSLT_DTL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498848" y="3529584"/>
            <a:ext cx="3163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시뮬레이션 결과 상세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498848" y="37856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956048" y="378561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SMLT_ID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498848" y="3968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956048" y="396849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SMLT_MDL_SN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4498848" y="4151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956048" y="415137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SMLT_EXCN_DT · SMLT_ACTL_DT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4498848" y="4334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4956048" y="433425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PSG_FCLT_CD</a:t>
            </a:r>
            <a:endParaRPr lang="en-US" sz="1000" dirty="0"/>
          </a:p>
        </p:txBody>
      </p:sp>
      <p:sp>
        <p:nvSpPr>
          <p:cNvPr id="50" name="tbl TN_PM_SMLT_PSG_FCLT"/>
          <p:cNvSpPr/>
          <p:nvPr/>
        </p:nvSpPr>
        <p:spPr>
          <a:xfrm>
            <a:off x="8412480" y="4709160"/>
            <a:ext cx="329184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1" name="hdr TN_PM_SMLT_PSG_FCLT"/>
          <p:cNvSpPr/>
          <p:nvPr/>
        </p:nvSpPr>
        <p:spPr>
          <a:xfrm>
            <a:off x="8412480" y="4709160"/>
            <a:ext cx="3291840" cy="457200"/>
          </a:xfrm>
          <a:prstGeom prst="rect">
            <a:avLst/>
          </a:prstGeom>
          <a:solidFill>
            <a:schemeClr val="accent1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476488" y="4745736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TN_PM_SMLT_PSG_FCLT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8476488" y="4946904"/>
            <a:ext cx="3163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여객 시설 코드 (계층)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8476488" y="52029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8933688" y="520293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PSG_FCLT_CD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933688" y="538581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UP_PSG_FCLT_CD  (상위 시설)</a:t>
            </a:r>
            <a:endParaRPr lang="en-US" sz="1000" dirty="0"/>
          </a:p>
        </p:txBody>
      </p:sp>
      <p:sp>
        <p:nvSpPr>
          <p:cNvPr id="57" name="tbl TN_PM_SMLT_RSLT_DTL_REG_EXCL"/>
          <p:cNvSpPr/>
          <p:nvPr/>
        </p:nvSpPr>
        <p:spPr>
          <a:xfrm>
            <a:off x="457200" y="3291840"/>
            <a:ext cx="329184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8" name="hdr TN_PM_SMLT_RSLT_DTL_REG_EXCL"/>
          <p:cNvSpPr/>
          <p:nvPr/>
        </p:nvSpPr>
        <p:spPr>
          <a:xfrm>
            <a:off x="457200" y="3291840"/>
            <a:ext cx="3291840" cy="457200"/>
          </a:xfrm>
          <a:prstGeom prst="rect">
            <a:avLst/>
          </a:prstGeom>
          <a:solidFill>
            <a:schemeClr val="accent1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21208" y="3328416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TN_PM_SMLT_RSLT_DTL_REG_EXCL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521208" y="3529584"/>
            <a:ext cx="3163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결과 미매핑 시설 (등록 제외)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521208" y="37856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978408" y="378561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SMLT_ID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521208" y="3968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978408" y="396849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SMLT_SN</a:t>
            </a:r>
            <a:endParaRPr lang="en-US" sz="1000" dirty="0"/>
          </a:p>
        </p:txBody>
      </p:sp>
      <p:sp>
        <p:nvSpPr>
          <p:cNvPr id="65" name="tbl TN_PM_SMLT_FCLT_WTNG_RSLT"/>
          <p:cNvSpPr/>
          <p:nvPr/>
        </p:nvSpPr>
        <p:spPr>
          <a:xfrm>
            <a:off x="457200" y="4617720"/>
            <a:ext cx="329184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6" name="hdr TN_PM_SMLT_FCLT_WTNG_RSLT"/>
          <p:cNvSpPr/>
          <p:nvPr/>
        </p:nvSpPr>
        <p:spPr>
          <a:xfrm>
            <a:off x="457200" y="4617720"/>
            <a:ext cx="3291840" cy="457200"/>
          </a:xfrm>
          <a:prstGeom prst="rect">
            <a:avLst/>
          </a:prstGeom>
          <a:solidFill>
            <a:schemeClr val="accent1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21208" y="4654296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TN_PM_SMLT_FCLT_WTNG_RSLT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521208" y="4855464"/>
            <a:ext cx="3163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시설 10분 대기 결과 · 25컬럼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521208" y="5111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978408" y="511149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SMLT_ID · SMLT_MDL_SN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521208" y="5294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978408" y="529437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TMNL_ID · FCLT_TYPE_CD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521208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978408" y="547725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FCLT_UNIT_CD · SEC_BGNG_DT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749040" y="1795882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76" name="Text 74"/>
          <p:cNvSpPr txBox="1"/>
          <p:nvPr/>
        </p:nvSpPr>
        <p:spPr>
          <a:xfrm>
            <a:off x="3785616" y="157642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4215384" y="157642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 flipH="1">
            <a:off x="7726680" y="1956816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193024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7763256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 flipV="1">
            <a:off x="10058400" y="2496312"/>
            <a:ext cx="0" cy="70408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82" name="Text 80"/>
          <p:cNvSpPr txBox="1"/>
          <p:nvPr/>
        </p:nvSpPr>
        <p:spPr>
          <a:xfrm>
            <a:off x="10104120" y="29809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10104120" y="2514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9784080" y="2724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FILE_PATH_NM = ATCH_FILE_ID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 flipV="1">
            <a:off x="6080760" y="2496312"/>
            <a:ext cx="0" cy="79552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126480" y="307238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6126480" y="2514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749040" y="3739896"/>
            <a:ext cx="320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4069080" y="2971800"/>
            <a:ext cx="0" cy="768096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069080" y="2971800"/>
            <a:ext cx="7315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4800600" y="2496312"/>
            <a:ext cx="0" cy="47548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3785616" y="35204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749040" y="5049317"/>
            <a:ext cx="320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4069080" y="2971800"/>
            <a:ext cx="0" cy="2077517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069080" y="2971800"/>
            <a:ext cx="7315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4800600" y="2496312"/>
            <a:ext cx="0" cy="47548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3785616" y="4829861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98" name="Text 96"/>
          <p:cNvSpPr txBox="1"/>
          <p:nvPr/>
        </p:nvSpPr>
        <p:spPr>
          <a:xfrm>
            <a:off x="4846320" y="2514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99" name="Text 97"/>
          <p:cNvSpPr txBox="1"/>
          <p:nvPr/>
        </p:nvSpPr>
        <p:spPr>
          <a:xfrm>
            <a:off x="4114800" y="45262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[FK]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726680" y="4279392"/>
            <a:ext cx="36576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92440" y="4279392"/>
            <a:ext cx="0" cy="74980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92440" y="5029200"/>
            <a:ext cx="320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7763256" y="40599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104" name="Text 102"/>
          <p:cNvSpPr txBox="1"/>
          <p:nvPr/>
        </p:nvSpPr>
        <p:spPr>
          <a:xfrm>
            <a:off x="8193024" y="48097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1704320" y="5495544"/>
            <a:ext cx="13716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 flipV="1">
            <a:off x="11841480" y="4937760"/>
            <a:ext cx="0" cy="557784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 flipH="1">
            <a:off x="11704320" y="4937760"/>
            <a:ext cx="13716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108" name="Text 106"/>
          <p:cNvSpPr txBox="1"/>
          <p:nvPr/>
        </p:nvSpPr>
        <p:spPr>
          <a:xfrm>
            <a:off x="10927080" y="4480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자기참조</a:t>
            </a:r>
            <a:endParaRPr lang="en-US" sz="1000" dirty="0"/>
          </a:p>
        </p:txBody>
      </p:sp>
      <p:sp>
        <p:nvSpPr>
          <p:cNvPr id="109" name="ref *_RSRC_ID → CAST 리소스 MSTR"/>
          <p:cNvSpPr/>
          <p:nvPr/>
        </p:nvSpPr>
        <p:spPr>
          <a:xfrm>
            <a:off x="4434840" y="5120640"/>
            <a:ext cx="3291840" cy="777240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110" name="Text 108"/>
          <p:cNvSpPr txBox="1"/>
          <p:nvPr/>
        </p:nvSpPr>
        <p:spPr>
          <a:xfrm>
            <a:off x="4507992" y="5166360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*_RSRC_ID → CAST 리소스 MSTR</a:t>
            </a:r>
            <a:endParaRPr lang="en-US" sz="1000" dirty="0"/>
          </a:p>
        </p:txBody>
      </p:sp>
      <p:sp>
        <p:nvSpPr>
          <p:cNvPr id="111" name="Text 109"/>
          <p:cNvSpPr txBox="1"/>
          <p:nvPr/>
        </p:nvSpPr>
        <p:spPr>
          <a:xfrm>
            <a:off x="4507992" y="539496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FS·CA·SBD·시설운영표·PS 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③ ④ ⑤ 그룹 장표 참고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572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987552" y="6464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키 관계 (PK 컬럼 상속 · FK)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32004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115" name="Text 113"/>
          <p:cNvSpPr txBox="1"/>
          <p:nvPr/>
        </p:nvSpPr>
        <p:spPr>
          <a:xfrm>
            <a:off x="3730752" y="6464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값 참조 (키·제약 없음)</a:t>
            </a:r>
            <a:endParaRPr lang="en-US" sz="1000" dirty="0"/>
          </a:p>
        </p:txBody>
      </p:sp>
      <p:sp>
        <p:nvSpPr>
          <p:cNvPr id="116" name="Text 114"/>
          <p:cNvSpPr txBox="1"/>
          <p:nvPr/>
        </p:nvSpPr>
        <p:spPr>
          <a:xfrm>
            <a:off x="5577840" y="64648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 / N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관계 차수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[FK]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DDL FK 제약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점선 박스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다른 그룹 테이블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② 사용자 시뮬레이션 현재상태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편집용 테이블. 키 선두 (OWNER_USER_ID · EXCN_YMD · TMNL_ID) 는 세션 사용자·일자·터미널이며 실행 시 리소스로 복사된다</a:t>
            </a:r>
            <a:endParaRPr lang="en-US" sz="1200" dirty="0"/>
          </a:p>
        </p:txBody>
      </p:sp>
      <p:sp>
        <p:nvSpPr>
          <p:cNvPr id="4" name="tbl TN_PM_SMLT_USER_CHKN_ISL"/>
          <p:cNvSpPr/>
          <p:nvPr/>
        </p:nvSpPr>
        <p:spPr>
          <a:xfrm>
            <a:off x="457200" y="1417320"/>
            <a:ext cx="356616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" name="hdr TN_PM_SMLT_USER_CHKN_ISL"/>
          <p:cNvSpPr/>
          <p:nvPr/>
        </p:nvSpPr>
        <p:spPr>
          <a:xfrm>
            <a:off x="457200" y="1417320"/>
            <a:ext cx="3566160" cy="457200"/>
          </a:xfrm>
          <a:prstGeom prst="rect">
            <a:avLst/>
          </a:prstGeom>
          <a:solidFill>
            <a:schemeClr val="accent2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" y="1453896"/>
            <a:ext cx="3438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TN_PM_SMLT_USER_CHKN_ISL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1655064"/>
            <a:ext cx="3438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사용자 체크인 아일랜드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21208" y="1911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191109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OWNER_USER_ID · EXCN_YMD · TMNL_ID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21208" y="2093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209397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CHKN_ISL_CD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" y="227685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BOOTH_CNT · KOS_CNT · SBD_CNT</a:t>
            </a:r>
            <a:endParaRPr lang="en-US" sz="1000" dirty="0"/>
          </a:p>
        </p:txBody>
      </p:sp>
      <p:sp>
        <p:nvSpPr>
          <p:cNvPr id="13" name="tbl TN_PM_SMLT_USER_CHKN_OPER_HR"/>
          <p:cNvSpPr/>
          <p:nvPr/>
        </p:nvSpPr>
        <p:spPr>
          <a:xfrm>
            <a:off x="457200" y="3017520"/>
            <a:ext cx="356616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" name="hdr TN_PM_SMLT_USER_CHKN_OPER_HR"/>
          <p:cNvSpPr/>
          <p:nvPr/>
        </p:nvSpPr>
        <p:spPr>
          <a:xfrm>
            <a:off x="457200" y="3017520"/>
            <a:ext cx="3566160" cy="457200"/>
          </a:xfrm>
          <a:prstGeom prst="rect">
            <a:avLst/>
          </a:prstGeom>
          <a:solidFill>
            <a:schemeClr val="accent2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" y="3054096"/>
            <a:ext cx="3438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TN_PM_SMLT_USER_CHKN_OPER_HR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" y="3255264"/>
            <a:ext cx="3438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사용자 체크인 운영시간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" y="35112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351129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OWNER_USER_ID · EXCN_YMD · TMNL_ID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" y="36941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78408" y="369417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CHKN_ISL_CD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" y="3877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387705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OPER_HR_SN</a:t>
            </a:r>
            <a:endParaRPr lang="en-US" sz="1000" dirty="0"/>
          </a:p>
        </p:txBody>
      </p:sp>
      <p:sp>
        <p:nvSpPr>
          <p:cNvPr id="23" name="tbl TN_PM_SMLT_USER_CHKN_BOOTH"/>
          <p:cNvSpPr/>
          <p:nvPr/>
        </p:nvSpPr>
        <p:spPr>
          <a:xfrm>
            <a:off x="457200" y="4434840"/>
            <a:ext cx="356616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4" name="hdr TN_PM_SMLT_USER_CHKN_BOOTH"/>
          <p:cNvSpPr/>
          <p:nvPr/>
        </p:nvSpPr>
        <p:spPr>
          <a:xfrm>
            <a:off x="457200" y="4434840"/>
            <a:ext cx="3566160" cy="457200"/>
          </a:xfrm>
          <a:prstGeom prst="rect">
            <a:avLst/>
          </a:prstGeom>
          <a:solidFill>
            <a:schemeClr val="accent2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1208" y="4471416"/>
            <a:ext cx="3438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TN_PM_SMLT_USER_CHKN_BOOTH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" y="4672584"/>
            <a:ext cx="3438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사용자 체크인 부스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" y="49286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" y="492861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OWNER_USER_ID · EXCN_YMD · TMNL_ID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" y="5111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" y="511149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CHKN_ISL_CD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" y="5294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78408" y="529437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BOOTH_NO</a:t>
            </a:r>
            <a:endParaRPr lang="en-US" sz="1000" dirty="0"/>
          </a:p>
        </p:txBody>
      </p:sp>
      <p:sp>
        <p:nvSpPr>
          <p:cNvPr id="33" name="tbl TN_PM_SMLT_USER_DPTGT"/>
          <p:cNvSpPr/>
          <p:nvPr/>
        </p:nvSpPr>
        <p:spPr>
          <a:xfrm>
            <a:off x="4343400" y="1417320"/>
            <a:ext cx="356616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4" name="hdr TN_PM_SMLT_USER_DPTGT"/>
          <p:cNvSpPr/>
          <p:nvPr/>
        </p:nvSpPr>
        <p:spPr>
          <a:xfrm>
            <a:off x="4343400" y="1417320"/>
            <a:ext cx="3566160" cy="457200"/>
          </a:xfrm>
          <a:prstGeom prst="rect">
            <a:avLst/>
          </a:prstGeom>
          <a:solidFill>
            <a:schemeClr val="accent2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07408" y="1453896"/>
            <a:ext cx="3438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TN_PM_SMLT_USER_DPTGT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407408" y="1655064"/>
            <a:ext cx="3438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사용자 출국장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407408" y="1911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864608" y="191109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OWNER_USER_ID · EXCN_YMD · TMNL_ID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407408" y="2093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864608" y="209397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DPTGT_NO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864608" y="227685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OPER_YN · SCSH_CNTOM · *_SRCH_CNTOM</a:t>
            </a:r>
            <a:endParaRPr lang="en-US" sz="1000" dirty="0"/>
          </a:p>
        </p:txBody>
      </p:sp>
      <p:sp>
        <p:nvSpPr>
          <p:cNvPr id="42" name="tbl TN_PM_SMLT_USER_DPTGT_OPER_HR"/>
          <p:cNvSpPr/>
          <p:nvPr/>
        </p:nvSpPr>
        <p:spPr>
          <a:xfrm>
            <a:off x="4343400" y="3017520"/>
            <a:ext cx="356616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3" name="hdr TN_PM_SMLT_USER_DPTGT_OPER_HR"/>
          <p:cNvSpPr/>
          <p:nvPr/>
        </p:nvSpPr>
        <p:spPr>
          <a:xfrm>
            <a:off x="4343400" y="3017520"/>
            <a:ext cx="3566160" cy="457200"/>
          </a:xfrm>
          <a:prstGeom prst="rect">
            <a:avLst/>
          </a:prstGeom>
          <a:solidFill>
            <a:schemeClr val="accent2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07408" y="3054096"/>
            <a:ext cx="3438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TN_PM_SMLT_USER_DPTGT_OPER_HR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407408" y="3255264"/>
            <a:ext cx="3438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사용자 출국장 운영시간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4407408" y="35112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864608" y="351129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OWNER_USER_ID · EXCN_YMD · TMNL_ID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4407408" y="36941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4864608" y="369417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DPTGT_NO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407408" y="3877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864608" y="387705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OPER_HR_SN</a:t>
            </a:r>
            <a:endParaRPr lang="en-US" sz="1000" dirty="0"/>
          </a:p>
        </p:txBody>
      </p:sp>
      <p:sp>
        <p:nvSpPr>
          <p:cNvPr id="52" name="tbl TN_PM_SMLT_USER_FLT_PSG_AJMT"/>
          <p:cNvSpPr/>
          <p:nvPr/>
        </p:nvSpPr>
        <p:spPr>
          <a:xfrm>
            <a:off x="8229600" y="1417320"/>
            <a:ext cx="3502152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3" name="hdr TN_PM_SMLT_USER_FLT_PSG_AJMT"/>
          <p:cNvSpPr/>
          <p:nvPr/>
        </p:nvSpPr>
        <p:spPr>
          <a:xfrm>
            <a:off x="8229600" y="1417320"/>
            <a:ext cx="3502152" cy="457200"/>
          </a:xfrm>
          <a:prstGeom prst="rect">
            <a:avLst/>
          </a:prstGeom>
          <a:solidFill>
            <a:schemeClr val="accent2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293608" y="1453896"/>
            <a:ext cx="3374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TN_PM_SMLT_USER_FLT_PSG_AJMT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8293608" y="1655064"/>
            <a:ext cx="3374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사용자 운항여객 조정률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293608" y="1911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8750808" y="1911096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OWNER_USER_ID · EXCN_YMD · TMNL_ID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8750808" y="2093976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AJMT_TYPE_CD · AJMT_RT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 flipV="1">
            <a:off x="2240280" y="2496312"/>
            <a:ext cx="0" cy="52120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286000" y="279806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2286000" y="2514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2377440" y="2514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[FK]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 flipH="1">
            <a:off x="274320" y="4812487"/>
            <a:ext cx="1828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274320" y="1737360"/>
            <a:ext cx="0" cy="3075127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1737360"/>
            <a:ext cx="1828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37744" y="4593031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237744" y="151790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45720" y="3840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[FK]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 flipV="1">
            <a:off x="6126480" y="2496312"/>
            <a:ext cx="0" cy="52120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172200" y="279806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6172200" y="2514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6263640" y="2514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[FK]</a:t>
            </a:r>
            <a:endParaRPr lang="en-US" sz="1000" dirty="0"/>
          </a:p>
        </p:txBody>
      </p:sp>
      <p:sp>
        <p:nvSpPr>
          <p:cNvPr id="73" name="ref → ③ CKNCT_ATRB · SBD_ATRB (CA·SBD)"/>
          <p:cNvSpPr/>
          <p:nvPr/>
        </p:nvSpPr>
        <p:spPr>
          <a:xfrm>
            <a:off x="457200" y="5623560"/>
            <a:ext cx="3566160" cy="566928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74" name="Text 72"/>
          <p:cNvSpPr txBox="1"/>
          <p:nvPr/>
        </p:nvSpPr>
        <p:spPr>
          <a:xfrm>
            <a:off x="530352" y="5669280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→ ③ CKNCT_ATRB · SBD_ATRB (CA·SBD)</a:t>
            </a:r>
            <a:endParaRPr lang="en-US" sz="1000" dirty="0"/>
          </a:p>
        </p:txBody>
      </p:sp>
      <p:sp>
        <p:nvSpPr>
          <p:cNvPr id="75" name="ref → ④ DPTGT_ATRB · SCRTY_CNTRL_ATRB"/>
          <p:cNvSpPr/>
          <p:nvPr/>
        </p:nvSpPr>
        <p:spPr>
          <a:xfrm>
            <a:off x="4343400" y="5623560"/>
            <a:ext cx="3566160" cy="566928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76" name="Text 74"/>
          <p:cNvSpPr txBox="1"/>
          <p:nvPr/>
        </p:nvSpPr>
        <p:spPr>
          <a:xfrm>
            <a:off x="4416552" y="5669280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→ ④ DPTGT_ATRB · SCRTY_CNTRL_ATRB</a:t>
            </a:r>
            <a:endParaRPr lang="en-US" sz="1000" dirty="0"/>
          </a:p>
        </p:txBody>
      </p:sp>
      <p:sp>
        <p:nvSpPr>
          <p:cNvPr id="77" name="ref → ③ SCHDL_ATRB (FS)"/>
          <p:cNvSpPr/>
          <p:nvPr/>
        </p:nvSpPr>
        <p:spPr>
          <a:xfrm>
            <a:off x="8229600" y="5623560"/>
            <a:ext cx="3502152" cy="566928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78" name="Text 76"/>
          <p:cNvSpPr txBox="1"/>
          <p:nvPr/>
        </p:nvSpPr>
        <p:spPr>
          <a:xfrm>
            <a:off x="8302752" y="5669280"/>
            <a:ext cx="3355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→ ③ SCHDL_ATRB (FS)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240280" y="5513832"/>
            <a:ext cx="0" cy="109728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6126480" y="4096512"/>
            <a:ext cx="0" cy="1527048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9966960" y="2313432"/>
            <a:ext cx="0" cy="3310128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tailEnd type="triangle"/>
          </a:ln>
        </p:spPr>
      </p:sp>
      <p:sp>
        <p:nvSpPr>
          <p:cNvPr id="82" name="Text 80"/>
          <p:cNvSpPr txBox="1"/>
          <p:nvPr/>
        </p:nvSpPr>
        <p:spPr>
          <a:xfrm>
            <a:off x="10058400" y="3566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실행 시 리소스(002~999)로 발행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987552" y="6464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키 관계 (PK 컬럼 상속 · FK)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2004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86" name="Text 84"/>
          <p:cNvSpPr txBox="1"/>
          <p:nvPr/>
        </p:nvSpPr>
        <p:spPr>
          <a:xfrm>
            <a:off x="3730752" y="6464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값 참조 (키·제약 없음)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5577840" y="64648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 / N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관계 차수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[FK]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DDL FK 제약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점선 박스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다른 그룹 테이블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③ CAST 리소스 – 운항·체크인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MSTR PK(번호)를 ATRB 가 키 선두로 상속한다. FS·CA·SBD 의 ATRB 는 공통으로 SCHDL_ATRB_GROUP_ID 컬럼에 번호를 둔다</a:t>
            </a:r>
            <a:endParaRPr lang="en-US" sz="1200" dirty="0"/>
          </a:p>
        </p:txBody>
      </p:sp>
      <p:sp>
        <p:nvSpPr>
          <p:cNvPr id="4" name="ref ① STNG / USER_MSTR 리소스 ID 컬럼"/>
          <p:cNvSpPr/>
          <p:nvPr/>
        </p:nvSpPr>
        <p:spPr>
          <a:xfrm>
            <a:off x="457200" y="1280160"/>
            <a:ext cx="3108960" cy="4992624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30352" y="132588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① STNG / USER_MSTR 리소스 ID 컬럼</a:t>
            </a:r>
            <a:endParaRPr lang="en-US" sz="1000" dirty="0"/>
          </a:p>
        </p:txBody>
      </p:sp>
      <p:sp>
        <p:nvSpPr>
          <p:cNvPr id="6" name="tbl TN_PM_SMLT_SCHDL_MSTR"/>
          <p:cNvSpPr/>
          <p:nvPr/>
        </p:nvSpPr>
        <p:spPr>
          <a:xfrm>
            <a:off x="3977640" y="1600200"/>
            <a:ext cx="301752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" name="hdr TN_PM_SMLT_SCHDL_MSTR"/>
          <p:cNvSpPr/>
          <p:nvPr/>
        </p:nvSpPr>
        <p:spPr>
          <a:xfrm>
            <a:off x="3977640" y="1600200"/>
            <a:ext cx="3017520" cy="457200"/>
          </a:xfrm>
          <a:prstGeom prst="rect">
            <a:avLst/>
          </a:prstGeom>
          <a:solidFill>
            <a:schemeClr val="accent3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41648" y="1636776"/>
            <a:ext cx="2889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TN_PM_SMLT_SCHDL_MSTR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041648" y="1837944"/>
            <a:ext cx="2889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운항스케줄 (FS)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041648" y="2093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093976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SCHDL_ATRB_ID</a:t>
            </a:r>
            <a:endParaRPr lang="en-US" sz="1000" dirty="0"/>
          </a:p>
        </p:txBody>
      </p:sp>
      <p:sp>
        <p:nvSpPr>
          <p:cNvPr id="12" name="tbl TN_PM_SMLT_SCHDL_ATRB"/>
          <p:cNvSpPr/>
          <p:nvPr/>
        </p:nvSpPr>
        <p:spPr>
          <a:xfrm>
            <a:off x="7525512" y="1600200"/>
            <a:ext cx="420624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" name="hdr TN_PM_SMLT_SCHDL_ATRB"/>
          <p:cNvSpPr/>
          <p:nvPr/>
        </p:nvSpPr>
        <p:spPr>
          <a:xfrm>
            <a:off x="7525512" y="1600200"/>
            <a:ext cx="4206240" cy="457200"/>
          </a:xfrm>
          <a:prstGeom prst="rect">
            <a:avLst/>
          </a:prstGeom>
          <a:solidFill>
            <a:schemeClr val="accent3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0" y="1636776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TN_PM_SMLT_SCHDL_ATRB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1837944"/>
            <a:ext cx="40782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운항스케줄 속성 (편별)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2093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09397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SCHDL_ATRB_GROUP_ID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2768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227685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ARR_DEP_SE_CD · FLTNM · DEP_ARR_YMD · DEP_ARR_HM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75564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FLT_SCHDL_RSRC_ID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예) FS001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1956816"/>
            <a:ext cx="411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3602736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758184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H="1">
            <a:off x="6995160" y="1956816"/>
            <a:ext cx="53035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06056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031736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tbl TN_PM_SMLT_CKNCT_MSTR"/>
          <p:cNvSpPr/>
          <p:nvPr/>
        </p:nvSpPr>
        <p:spPr>
          <a:xfrm>
            <a:off x="3977640" y="2532888"/>
            <a:ext cx="301752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8" name="hdr TN_PM_SMLT_CKNCT_MSTR"/>
          <p:cNvSpPr/>
          <p:nvPr/>
        </p:nvSpPr>
        <p:spPr>
          <a:xfrm>
            <a:off x="3977640" y="2532888"/>
            <a:ext cx="3017520" cy="457200"/>
          </a:xfrm>
          <a:prstGeom prst="rect">
            <a:avLst/>
          </a:prstGeom>
          <a:solidFill>
            <a:schemeClr val="accent3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41648" y="2569464"/>
            <a:ext cx="2889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TN_PM_SMLT_CKNCT_MSTR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041648" y="2770632"/>
            <a:ext cx="2889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체크인카운터 배정 (CA)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041648" y="3026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498848" y="3026664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CKNCT_ATRB_ID</a:t>
            </a:r>
            <a:endParaRPr lang="en-US" sz="1000" dirty="0"/>
          </a:p>
        </p:txBody>
      </p:sp>
      <p:sp>
        <p:nvSpPr>
          <p:cNvPr id="33" name="tbl TN_PM_SMLT_CKNCT_ATRB"/>
          <p:cNvSpPr/>
          <p:nvPr/>
        </p:nvSpPr>
        <p:spPr>
          <a:xfrm>
            <a:off x="7525512" y="2532888"/>
            <a:ext cx="420624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4" name="hdr TN_PM_SMLT_CKNCT_ATRB"/>
          <p:cNvSpPr/>
          <p:nvPr/>
        </p:nvSpPr>
        <p:spPr>
          <a:xfrm>
            <a:off x="7525512" y="2532888"/>
            <a:ext cx="4206240" cy="457200"/>
          </a:xfrm>
          <a:prstGeom prst="rect">
            <a:avLst/>
          </a:prstGeom>
          <a:solidFill>
            <a:schemeClr val="accent3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89520" y="2569464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TN_PM_SMLT_CKNCT_ATRB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589520" y="2770632"/>
            <a:ext cx="40782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체크인카운터 배정 속성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0" y="3026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3026664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SCHDL_ATRB_GROUP_ID  (= CKNCT_ATRB_ID)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589520" y="3209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046720" y="3209544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BLCK_ID · TMNL_ID · CKNCT_ID · CRTR_YMD · 오픈·마감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2688336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CKNCT_ALCTN_RSRC_ID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예) CA001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566160" y="2889504"/>
            <a:ext cx="411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3602736" y="26700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758184" y="26700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 flipH="1">
            <a:off x="6995160" y="2889504"/>
            <a:ext cx="53035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306056" y="26700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031736" y="26700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48" name="tbl TN_PM_SMLT_SBD_MSTR"/>
          <p:cNvSpPr/>
          <p:nvPr/>
        </p:nvSpPr>
        <p:spPr>
          <a:xfrm>
            <a:off x="3977640" y="3465576"/>
            <a:ext cx="301752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9" name="hdr TN_PM_SMLT_SBD_MSTR"/>
          <p:cNvSpPr/>
          <p:nvPr/>
        </p:nvSpPr>
        <p:spPr>
          <a:xfrm>
            <a:off x="3977640" y="3465576"/>
            <a:ext cx="3017520" cy="457200"/>
          </a:xfrm>
          <a:prstGeom prst="rect">
            <a:avLst/>
          </a:prstGeom>
          <a:solidFill>
            <a:schemeClr val="accent3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041648" y="3502152"/>
            <a:ext cx="2889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TN_PM_SMLT_SBD_MSTR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041648" y="3703320"/>
            <a:ext cx="2889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셀프백드롭 배정 (SBD)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4041648" y="3959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4498848" y="395935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SBD_ATRB_ID</a:t>
            </a:r>
            <a:endParaRPr lang="en-US" sz="1000" dirty="0"/>
          </a:p>
        </p:txBody>
      </p:sp>
      <p:sp>
        <p:nvSpPr>
          <p:cNvPr id="54" name="tbl TN_PM_SMLT_SBD_ATRB"/>
          <p:cNvSpPr/>
          <p:nvPr/>
        </p:nvSpPr>
        <p:spPr>
          <a:xfrm>
            <a:off x="7525512" y="3465576"/>
            <a:ext cx="420624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5" name="hdr TN_PM_SMLT_SBD_ATRB"/>
          <p:cNvSpPr/>
          <p:nvPr/>
        </p:nvSpPr>
        <p:spPr>
          <a:xfrm>
            <a:off x="7525512" y="3465576"/>
            <a:ext cx="4206240" cy="457200"/>
          </a:xfrm>
          <a:prstGeom prst="rect">
            <a:avLst/>
          </a:prstGeom>
          <a:solidFill>
            <a:schemeClr val="accent3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589520" y="3502152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TN_PM_SMLT_SBD_ATRB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7589520" y="3703320"/>
            <a:ext cx="40782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셀프백드롭 배정 속성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7589520" y="3959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8046720" y="3959352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SCHDL_ATRB_GROUP_ID  (= SBD_ATRB_ID)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589520" y="4142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8046720" y="4142232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BLCK_ID · TMNL_ID · CKNCT_ID · CRTR_YMD · 시작·종료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362102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SBD_CNTRL_ALCTN_ID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예) SBD001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566160" y="3822192"/>
            <a:ext cx="411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64" name="Text 62"/>
          <p:cNvSpPr txBox="1"/>
          <p:nvPr/>
        </p:nvSpPr>
        <p:spPr>
          <a:xfrm>
            <a:off x="3602736" y="3602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3758184" y="3602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 flipH="1">
            <a:off x="6995160" y="3822192"/>
            <a:ext cx="53035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306056" y="3602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7031736" y="3602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69" name="tbl TN_PM_SMLT_CKNCT_SRVC_MSTR"/>
          <p:cNvSpPr/>
          <p:nvPr/>
        </p:nvSpPr>
        <p:spPr>
          <a:xfrm>
            <a:off x="3977640" y="4398264"/>
            <a:ext cx="301752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0" name="hdr TN_PM_SMLT_CKNCT_SRVC_MSTR"/>
          <p:cNvSpPr/>
          <p:nvPr/>
        </p:nvSpPr>
        <p:spPr>
          <a:xfrm>
            <a:off x="3977640" y="4398264"/>
            <a:ext cx="3017520" cy="457200"/>
          </a:xfrm>
          <a:prstGeom prst="rect">
            <a:avLst/>
          </a:prstGeom>
          <a:solidFill>
            <a:schemeClr val="accent3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041648" y="4434840"/>
            <a:ext cx="2889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TN_PM_SMLT_CKNCT_SRVC_MSTR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4041648" y="4636008"/>
            <a:ext cx="2889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체크인 서비스시간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4041648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4498848" y="489204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CKNCT_SRVC_ATRB_ID</a:t>
            </a:r>
            <a:endParaRPr lang="en-US" sz="1000" dirty="0"/>
          </a:p>
        </p:txBody>
      </p:sp>
      <p:sp>
        <p:nvSpPr>
          <p:cNvPr id="75" name="tbl TN_PM_SMLT_CKNCT_SRVC_ATRB"/>
          <p:cNvSpPr/>
          <p:nvPr/>
        </p:nvSpPr>
        <p:spPr>
          <a:xfrm>
            <a:off x="7525512" y="4398264"/>
            <a:ext cx="420624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6" name="hdr TN_PM_SMLT_CKNCT_SRVC_ATRB"/>
          <p:cNvSpPr/>
          <p:nvPr/>
        </p:nvSpPr>
        <p:spPr>
          <a:xfrm>
            <a:off x="7525512" y="4398264"/>
            <a:ext cx="4206240" cy="457200"/>
          </a:xfrm>
          <a:prstGeom prst="rect">
            <a:avLst/>
          </a:prstGeom>
          <a:solidFill>
            <a:schemeClr val="accent3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589520" y="4434840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TN_PM_SMLT_CKNCT_SRVC_ATRB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7589520" y="4636008"/>
            <a:ext cx="40782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체크인 서비스시간 속성 (항공사별)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75895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8046720" y="4892040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CKNCT_SRVC_ATRB_ID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7589520" y="5074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8046720" y="5074920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ALN_CD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548640" y="455371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CKNCT_SRVC_HR_RSRC_ID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예) CheckinCounterServiceTime001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566160" y="4754880"/>
            <a:ext cx="411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85" name="Text 83"/>
          <p:cNvSpPr txBox="1"/>
          <p:nvPr/>
        </p:nvSpPr>
        <p:spPr>
          <a:xfrm>
            <a:off x="3602736" y="45354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3758184" y="45354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 flipH="1">
            <a:off x="6995160" y="4754880"/>
            <a:ext cx="53035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306056" y="45354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7031736" y="45354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90" name="tbl TN_PM_SMLT_CKNCT_TYPE_MSTR"/>
          <p:cNvSpPr/>
          <p:nvPr/>
        </p:nvSpPr>
        <p:spPr>
          <a:xfrm>
            <a:off x="3977640" y="5330952"/>
            <a:ext cx="301752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1" name="hdr TN_PM_SMLT_CKNCT_TYPE_MSTR"/>
          <p:cNvSpPr/>
          <p:nvPr/>
        </p:nvSpPr>
        <p:spPr>
          <a:xfrm>
            <a:off x="3977640" y="5330952"/>
            <a:ext cx="3017520" cy="457200"/>
          </a:xfrm>
          <a:prstGeom prst="rect">
            <a:avLst/>
          </a:prstGeom>
          <a:solidFill>
            <a:schemeClr val="accent3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041648" y="5367528"/>
            <a:ext cx="2889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TN_PM_SMLT_CKNCT_TYPE_MSTR</a:t>
            </a:r>
            <a:endParaRPr lang="en-US" sz="1000" dirty="0"/>
          </a:p>
        </p:txBody>
      </p:sp>
      <p:sp>
        <p:nvSpPr>
          <p:cNvPr id="93" name="Text 91"/>
          <p:cNvSpPr txBox="1"/>
          <p:nvPr/>
        </p:nvSpPr>
        <p:spPr>
          <a:xfrm>
            <a:off x="4041648" y="5568696"/>
            <a:ext cx="2889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체크인 유형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4041648" y="5824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95" name="Text 93"/>
          <p:cNvSpPr txBox="1"/>
          <p:nvPr/>
        </p:nvSpPr>
        <p:spPr>
          <a:xfrm>
            <a:off x="4498848" y="582472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CKNCT_TYPE_ATRB_ID</a:t>
            </a:r>
            <a:endParaRPr lang="en-US" sz="1000" dirty="0"/>
          </a:p>
        </p:txBody>
      </p:sp>
      <p:sp>
        <p:nvSpPr>
          <p:cNvPr id="96" name="tbl TN_PM_SMLT_CKNCT_TYPE_ATRB"/>
          <p:cNvSpPr/>
          <p:nvPr/>
        </p:nvSpPr>
        <p:spPr>
          <a:xfrm>
            <a:off x="7525512" y="5330952"/>
            <a:ext cx="420624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7" name="hdr TN_PM_SMLT_CKNCT_TYPE_ATRB"/>
          <p:cNvSpPr/>
          <p:nvPr/>
        </p:nvSpPr>
        <p:spPr>
          <a:xfrm>
            <a:off x="7525512" y="5330952"/>
            <a:ext cx="4206240" cy="457200"/>
          </a:xfrm>
          <a:prstGeom prst="rect">
            <a:avLst/>
          </a:prstGeom>
          <a:solidFill>
            <a:schemeClr val="accent3">
              <a:alpha val="2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7589520" y="5367528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TN_PM_SMLT_CKNCT_TYPE_ATRB</a:t>
            </a:r>
            <a:endParaRPr lang="en-US" sz="1000" dirty="0"/>
          </a:p>
        </p:txBody>
      </p:sp>
      <p:sp>
        <p:nvSpPr>
          <p:cNvPr id="99" name="Text 97"/>
          <p:cNvSpPr txBox="1"/>
          <p:nvPr/>
        </p:nvSpPr>
        <p:spPr>
          <a:xfrm>
            <a:off x="7589520" y="5568696"/>
            <a:ext cx="40782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체크인 유형 속성 (항공사별 비율)</a:t>
            </a:r>
            <a:endParaRPr lang="en-US" sz="1000" dirty="0"/>
          </a:p>
        </p:txBody>
      </p:sp>
      <p:sp>
        <p:nvSpPr>
          <p:cNvPr id="100" name="Text 98"/>
          <p:cNvSpPr txBox="1"/>
          <p:nvPr/>
        </p:nvSpPr>
        <p:spPr>
          <a:xfrm>
            <a:off x="7589520" y="5824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101" name="Text 99"/>
          <p:cNvSpPr txBox="1"/>
          <p:nvPr/>
        </p:nvSpPr>
        <p:spPr>
          <a:xfrm>
            <a:off x="8046720" y="5824728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CKNCT_TYPE_ATRB_ID  (001 · 999)</a:t>
            </a:r>
            <a:endParaRPr lang="en-US" sz="1000" dirty="0"/>
          </a:p>
        </p:txBody>
      </p:sp>
      <p:sp>
        <p:nvSpPr>
          <p:cNvPr id="102" name="Text 100"/>
          <p:cNvSpPr txBox="1"/>
          <p:nvPr/>
        </p:nvSpPr>
        <p:spPr>
          <a:xfrm>
            <a:off x="7589520" y="6007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103" name="Text 101"/>
          <p:cNvSpPr txBox="1"/>
          <p:nvPr/>
        </p:nvSpPr>
        <p:spPr>
          <a:xfrm>
            <a:off x="8046720" y="6007608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ALN_CD</a:t>
            </a:r>
            <a:endParaRPr lang="en-US" sz="1000" dirty="0"/>
          </a:p>
        </p:txBody>
      </p:sp>
      <p:sp>
        <p:nvSpPr>
          <p:cNvPr id="104" name="Text 102"/>
          <p:cNvSpPr txBox="1"/>
          <p:nvPr/>
        </p:nvSpPr>
        <p:spPr>
          <a:xfrm>
            <a:off x="548640" y="548640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CHKN_TYPE_RSRC_ID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예) CheckinType001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3566160" y="5687568"/>
            <a:ext cx="411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106" name="Text 104"/>
          <p:cNvSpPr txBox="1"/>
          <p:nvPr/>
        </p:nvSpPr>
        <p:spPr>
          <a:xfrm>
            <a:off x="3602736" y="54681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107" name="Text 105"/>
          <p:cNvSpPr txBox="1"/>
          <p:nvPr/>
        </p:nvSpPr>
        <p:spPr>
          <a:xfrm>
            <a:off x="3758184" y="54681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 flipH="1">
            <a:off x="6995160" y="5687568"/>
            <a:ext cx="53035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306056" y="54681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110" name="Text 108"/>
          <p:cNvSpPr txBox="1"/>
          <p:nvPr/>
        </p:nvSpPr>
        <p:spPr>
          <a:xfrm>
            <a:off x="7031736" y="54681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572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987552" y="6464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키 관계 (PK 컬럼 상속 · FK)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32004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114" name="Text 112"/>
          <p:cNvSpPr txBox="1"/>
          <p:nvPr/>
        </p:nvSpPr>
        <p:spPr>
          <a:xfrm>
            <a:off x="3730752" y="6464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값 참조 (키·제약 없음)</a:t>
            </a:r>
            <a:endParaRPr lang="en-US" sz="1000" dirty="0"/>
          </a:p>
        </p:txBody>
      </p:sp>
      <p:sp>
        <p:nvSpPr>
          <p:cNvPr id="115" name="Text 113"/>
          <p:cNvSpPr txBox="1"/>
          <p:nvPr/>
        </p:nvSpPr>
        <p:spPr>
          <a:xfrm>
            <a:off x="5577840" y="64648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 / N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관계 차수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[FK]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DDL FK 제약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점선 박스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다른 그룹 테이블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④ CAST 리소스 – 시설 운영표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ATRB 키 선두 = MSTR PK (FK). 운영표 번호는 FS 번호와 공유한다 (같은 번호의 SCHDL_ATRB 일자 사용). 왼쪽 컬럼명은 STNG / USER_MSTR 순</a:t>
            </a:r>
            <a:endParaRPr lang="en-US" sz="1200" dirty="0"/>
          </a:p>
        </p:txBody>
      </p:sp>
      <p:sp>
        <p:nvSpPr>
          <p:cNvPr id="4" name="ref ① STNG / USER_MSTR 리소스 ID 컬럼"/>
          <p:cNvSpPr/>
          <p:nvPr/>
        </p:nvSpPr>
        <p:spPr>
          <a:xfrm>
            <a:off x="457200" y="1280160"/>
            <a:ext cx="2788920" cy="5010912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30352" y="1325880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① STNG / USER_MSTR 리소스 ID 컬럼</a:t>
            </a:r>
            <a:endParaRPr lang="en-US" sz="1000" dirty="0"/>
          </a:p>
        </p:txBody>
      </p:sp>
      <p:sp>
        <p:nvSpPr>
          <p:cNvPr id="6" name="tbl TN_PM_SMLT_FCLTY_OPNG_DPTGT_MSTR"/>
          <p:cNvSpPr/>
          <p:nvPr/>
        </p:nvSpPr>
        <p:spPr>
          <a:xfrm>
            <a:off x="3657600" y="1600200"/>
            <a:ext cx="361188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" name="hdr TN_PM_SMLT_FCLTY_OPNG_DPTGT_MSTR"/>
          <p:cNvSpPr/>
          <p:nvPr/>
        </p:nvSpPr>
        <p:spPr>
          <a:xfrm>
            <a:off x="3657600" y="1600200"/>
            <a:ext cx="3611880" cy="457200"/>
          </a:xfrm>
          <a:prstGeom prst="rect">
            <a:avLst/>
          </a:prstGeom>
          <a:solidFill>
            <a:schemeClr val="accent4">
              <a:alpha val="3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608" y="1636776"/>
            <a:ext cx="3483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TN_PM_SMLT_FCLTY_OPNG_DPTGT_MSTR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21608" y="1837944"/>
            <a:ext cx="34838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출국장 운영표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21608" y="2093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78808" y="2093976"/>
            <a:ext cx="3026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DPTGT_ATRB_ID</a:t>
            </a:r>
            <a:endParaRPr lang="en-US" sz="1000" dirty="0"/>
          </a:p>
        </p:txBody>
      </p:sp>
      <p:sp>
        <p:nvSpPr>
          <p:cNvPr id="12" name="tbl TN_PM_SMLT_FCLTY_OPNG_DPTGT_ATRB"/>
          <p:cNvSpPr/>
          <p:nvPr/>
        </p:nvSpPr>
        <p:spPr>
          <a:xfrm>
            <a:off x="7799832" y="1600200"/>
            <a:ext cx="393192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" name="hdr TN_PM_SMLT_FCLTY_OPNG_DPTGT_ATRB"/>
          <p:cNvSpPr/>
          <p:nvPr/>
        </p:nvSpPr>
        <p:spPr>
          <a:xfrm>
            <a:off x="7799832" y="1600200"/>
            <a:ext cx="3931920" cy="457200"/>
          </a:xfrm>
          <a:prstGeom prst="rect">
            <a:avLst/>
          </a:prstGeom>
          <a:solidFill>
            <a:schemeClr val="accent4">
              <a:alpha val="3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1636776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TN_PM_SMLT_FCLTY_OPNG_DPTGT_ATRB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1837944"/>
            <a:ext cx="38039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출국장 운영표 속성 (레인·시각)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2093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093976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DPTGT_ATRB_ID · FCLTY_OPNG_SN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7556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FCLTY_OPNG_DPTCNY_SRNG_RSRC_ID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DepartureGate001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956816"/>
            <a:ext cx="411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3282696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38144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flipH="1">
            <a:off x="7269480" y="1956816"/>
            <a:ext cx="53035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0376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306056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tbl TN_PM_SMLT_FCLTY_OPNG_DPTCNY_MSTR"/>
          <p:cNvSpPr/>
          <p:nvPr/>
        </p:nvSpPr>
        <p:spPr>
          <a:xfrm>
            <a:off x="3657600" y="2386584"/>
            <a:ext cx="361188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6" name="hdr TN_PM_SMLT_FCLTY_OPNG_DPTCNY_MSTR"/>
          <p:cNvSpPr/>
          <p:nvPr/>
        </p:nvSpPr>
        <p:spPr>
          <a:xfrm>
            <a:off x="3657600" y="2386584"/>
            <a:ext cx="3611880" cy="457200"/>
          </a:xfrm>
          <a:prstGeom prst="rect">
            <a:avLst/>
          </a:prstGeom>
          <a:solidFill>
            <a:schemeClr val="accent4">
              <a:alpha val="3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21608" y="2423160"/>
            <a:ext cx="3483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TN_PM_SMLT_FCLTY_OPNG_DPTCNY_MSTR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721608" y="2624328"/>
            <a:ext cx="34838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출국심사 운영표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721608" y="2880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2880360"/>
            <a:ext cx="3026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DPTCNY_ATRB_ID</a:t>
            </a:r>
            <a:endParaRPr lang="en-US" sz="1000" dirty="0"/>
          </a:p>
        </p:txBody>
      </p:sp>
      <p:sp>
        <p:nvSpPr>
          <p:cNvPr id="31" name="tbl TN_PM_SMLT_FCLTY_OPNG_DPTCNY_ATRB"/>
          <p:cNvSpPr/>
          <p:nvPr/>
        </p:nvSpPr>
        <p:spPr>
          <a:xfrm>
            <a:off x="7799832" y="2386584"/>
            <a:ext cx="393192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2" name="hdr TN_PM_SMLT_FCLTY_OPNG_DPTCNY_ATRB"/>
          <p:cNvSpPr/>
          <p:nvPr/>
        </p:nvSpPr>
        <p:spPr>
          <a:xfrm>
            <a:off x="7799832" y="2386584"/>
            <a:ext cx="3931920" cy="457200"/>
          </a:xfrm>
          <a:prstGeom prst="rect">
            <a:avLst/>
          </a:prstGeom>
          <a:solidFill>
            <a:schemeClr val="accent4">
              <a:alpha val="3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63840" y="2423160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TN_PM_SMLT_FCLTY_OPNG_DPTCNY_ATRB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2624328"/>
            <a:ext cx="38039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출국심사 운영표 속성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2880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321040" y="2880360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DPTCNY_ATRB_ID · FCLTY_OPNG_SN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25420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FCLTY_OPNG_EMI / _DPTCNY_RSRC_ID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Emigration001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46120" y="2743200"/>
            <a:ext cx="411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3282696" y="25237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3438144" y="25237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H="1">
            <a:off x="7269480" y="2743200"/>
            <a:ext cx="53035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80376" y="25237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306056" y="25237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44" name="tbl TN_PM_SMLT_FCLTY_OPNG_ENTCNY_MSTR"/>
          <p:cNvSpPr/>
          <p:nvPr/>
        </p:nvSpPr>
        <p:spPr>
          <a:xfrm>
            <a:off x="3657600" y="3172968"/>
            <a:ext cx="361188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5" name="hdr TN_PM_SMLT_FCLTY_OPNG_ENTCNY_MSTR"/>
          <p:cNvSpPr/>
          <p:nvPr/>
        </p:nvSpPr>
        <p:spPr>
          <a:xfrm>
            <a:off x="3657600" y="3172968"/>
            <a:ext cx="3611880" cy="457200"/>
          </a:xfrm>
          <a:prstGeom prst="rect">
            <a:avLst/>
          </a:prstGeom>
          <a:solidFill>
            <a:schemeClr val="accent4">
              <a:alpha val="3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721608" y="3209544"/>
            <a:ext cx="3483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TN_PM_SMLT_FCLTY_OPNG_ENTCNY_MSTR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3721608" y="3410712"/>
            <a:ext cx="34838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입국심사 운영표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3721608" y="36667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4178808" y="3666744"/>
            <a:ext cx="3026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ENTCNY_ATRB_ID</a:t>
            </a:r>
            <a:endParaRPr lang="en-US" sz="1000" dirty="0"/>
          </a:p>
        </p:txBody>
      </p:sp>
      <p:sp>
        <p:nvSpPr>
          <p:cNvPr id="50" name="tbl TN_PM_SMLT_FCLTY_OPNG_ENTCNY_ATRB"/>
          <p:cNvSpPr/>
          <p:nvPr/>
        </p:nvSpPr>
        <p:spPr>
          <a:xfrm>
            <a:off x="7799832" y="3172968"/>
            <a:ext cx="393192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1" name="hdr TN_PM_SMLT_FCLTY_OPNG_ENTCNY_ATRB"/>
          <p:cNvSpPr/>
          <p:nvPr/>
        </p:nvSpPr>
        <p:spPr>
          <a:xfrm>
            <a:off x="7799832" y="3172968"/>
            <a:ext cx="3931920" cy="457200"/>
          </a:xfrm>
          <a:prstGeom prst="rect">
            <a:avLst/>
          </a:prstGeom>
          <a:solidFill>
            <a:schemeClr val="accent4">
              <a:alpha val="3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863840" y="3209544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TN_PM_SMLT_FCLTY_OPNG_ENTCNY_ATRB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7863840" y="3410712"/>
            <a:ext cx="38039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입국심사 운영표 속성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7863840" y="36667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8321040" y="3666744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ENTCNY_ATRB_ID · FCLTY_OPNG_SN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33284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FCLTY_OPNG_IMMI / _ENTCNY_RSRC_ID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Immigration001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46120" y="3529584"/>
            <a:ext cx="411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58" name="Text 56"/>
          <p:cNvSpPr txBox="1"/>
          <p:nvPr/>
        </p:nvSpPr>
        <p:spPr>
          <a:xfrm>
            <a:off x="3282696" y="33101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3438144" y="33101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 flipH="1">
            <a:off x="7269480" y="3529584"/>
            <a:ext cx="53035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580376" y="33101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7306056" y="33101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63" name="tbl TN_PM_SMLT_FCLTY_OPNG_SCRTY_CNTRL_MSTR"/>
          <p:cNvSpPr/>
          <p:nvPr/>
        </p:nvSpPr>
        <p:spPr>
          <a:xfrm>
            <a:off x="3657600" y="3959352"/>
            <a:ext cx="361188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4" name="hdr TN_PM_SMLT_FCLTY_OPNG_SCRTY_CNTRL_MSTR"/>
          <p:cNvSpPr/>
          <p:nvPr/>
        </p:nvSpPr>
        <p:spPr>
          <a:xfrm>
            <a:off x="3657600" y="3959352"/>
            <a:ext cx="3611880" cy="457200"/>
          </a:xfrm>
          <a:prstGeom prst="rect">
            <a:avLst/>
          </a:prstGeom>
          <a:solidFill>
            <a:schemeClr val="accent4">
              <a:alpha val="3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721608" y="3995928"/>
            <a:ext cx="3483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TN_PM_SMLT_FCLTY_OPNG_SCRTY_CNTRL_MSTR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3721608" y="4197096"/>
            <a:ext cx="34838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보안검색 운영표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3721608" y="4453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4178808" y="4453128"/>
            <a:ext cx="3026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SCRTY_CNTRL_ATRB_ID</a:t>
            </a:r>
            <a:endParaRPr lang="en-US" sz="1000" dirty="0"/>
          </a:p>
        </p:txBody>
      </p:sp>
      <p:sp>
        <p:nvSpPr>
          <p:cNvPr id="69" name="tbl TN_PM_SMLT_FCLTY_OPNG_SCRTY_CNTRL_ATRB"/>
          <p:cNvSpPr/>
          <p:nvPr/>
        </p:nvSpPr>
        <p:spPr>
          <a:xfrm>
            <a:off x="7799832" y="3959352"/>
            <a:ext cx="393192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0" name="hdr TN_PM_SMLT_FCLTY_OPNG_SCRTY_CNTRL_ATRB"/>
          <p:cNvSpPr/>
          <p:nvPr/>
        </p:nvSpPr>
        <p:spPr>
          <a:xfrm>
            <a:off x="7799832" y="3959352"/>
            <a:ext cx="3931920" cy="457200"/>
          </a:xfrm>
          <a:prstGeom prst="rect">
            <a:avLst/>
          </a:prstGeom>
          <a:solidFill>
            <a:schemeClr val="accent4">
              <a:alpha val="3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863840" y="3995928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TN_PM_SMLT_FCLTY_OPNG_SCRTY_CNTRL_ATRB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7863840" y="4197096"/>
            <a:ext cx="38039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보안검색 운영표 속성 (수량)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7863840" y="4453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8321040" y="4453128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SCRTY_CNTRL_ATRB_ID · FCLTY_OPNG_SN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548640" y="41148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FCLTY_OPNG_SCRTY_CNTRL_RSRC_ID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SecurityControl001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246120" y="4315968"/>
            <a:ext cx="411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77" name="Text 75"/>
          <p:cNvSpPr txBox="1"/>
          <p:nvPr/>
        </p:nvSpPr>
        <p:spPr>
          <a:xfrm>
            <a:off x="3282696" y="40965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3438144" y="40965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 flipH="1">
            <a:off x="7269480" y="4315968"/>
            <a:ext cx="53035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580376" y="40965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7306056" y="40965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82" name="tbl TN_PM_SMLT_FCLTY_OPNG_TRNST_SCRTY_CNTRL_MSTR"/>
          <p:cNvSpPr/>
          <p:nvPr/>
        </p:nvSpPr>
        <p:spPr>
          <a:xfrm>
            <a:off x="3657600" y="4745736"/>
            <a:ext cx="361188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3" name="hdr TN_PM_SMLT_FCLTY_OPNG_TRNST_SCRTY_CNTRL_MSTR"/>
          <p:cNvSpPr/>
          <p:nvPr/>
        </p:nvSpPr>
        <p:spPr>
          <a:xfrm>
            <a:off x="3657600" y="4745736"/>
            <a:ext cx="3611880" cy="457200"/>
          </a:xfrm>
          <a:prstGeom prst="rect">
            <a:avLst/>
          </a:prstGeom>
          <a:solidFill>
            <a:schemeClr val="accent4">
              <a:alpha val="3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721608" y="4782312"/>
            <a:ext cx="3483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TN_PM_SMLT_FCLTY_OPNG_TRNST_SCRTY_CNTRL_MSTR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3721608" y="4983480"/>
            <a:ext cx="34838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환승보안검색 운영표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3721608" y="52395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4178808" y="5239512"/>
            <a:ext cx="3026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TRNST_SCRTY_CNTRL_ATRB_ID</a:t>
            </a:r>
            <a:endParaRPr lang="en-US" sz="1000" dirty="0"/>
          </a:p>
        </p:txBody>
      </p:sp>
      <p:sp>
        <p:nvSpPr>
          <p:cNvPr id="88" name="tbl TN_PM_SMLT_FCLTY_OPNG_TRNST_SCRTY_CNTRL_ATRB"/>
          <p:cNvSpPr/>
          <p:nvPr/>
        </p:nvSpPr>
        <p:spPr>
          <a:xfrm>
            <a:off x="7799832" y="4745736"/>
            <a:ext cx="393192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9" name="hdr TN_PM_SMLT_FCLTY_OPNG_TRNST_SCRTY_CNTRL_ATRB"/>
          <p:cNvSpPr/>
          <p:nvPr/>
        </p:nvSpPr>
        <p:spPr>
          <a:xfrm>
            <a:off x="7799832" y="4745736"/>
            <a:ext cx="3931920" cy="457200"/>
          </a:xfrm>
          <a:prstGeom prst="rect">
            <a:avLst/>
          </a:prstGeom>
          <a:solidFill>
            <a:schemeClr val="accent4">
              <a:alpha val="3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863840" y="47823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TN_PM_SMLT_FCLTY_OPNG_TRNST_SCRTY_CNTRL_ATRB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7863840" y="4983480"/>
            <a:ext cx="38039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환승보안검색 운영표 속성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7863840" y="52395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93" name="Text 91"/>
          <p:cNvSpPr txBox="1"/>
          <p:nvPr/>
        </p:nvSpPr>
        <p:spPr>
          <a:xfrm>
            <a:off x="8321040" y="5239512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TRNST_SCRTY_CNTRL_ATRB_ID · FCLTY_OPNG_SN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548640" y="490118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FCLTY_OPNG_TR_SCRTY_CNTRL_RSRC_ID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TransferSecurityControl001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246120" y="5102352"/>
            <a:ext cx="411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96" name="Text 94"/>
          <p:cNvSpPr txBox="1"/>
          <p:nvPr/>
        </p:nvSpPr>
        <p:spPr>
          <a:xfrm>
            <a:off x="3282696" y="48828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3438144" y="48828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 flipH="1">
            <a:off x="7269480" y="5102352"/>
            <a:ext cx="53035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7580376" y="48828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100" name="Text 98"/>
          <p:cNvSpPr txBox="1"/>
          <p:nvPr/>
        </p:nvSpPr>
        <p:spPr>
          <a:xfrm>
            <a:off x="7306056" y="48828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101" name="tbl TN_PM_SMLT_RPT_STNG_HR_GROUP_MSTR"/>
          <p:cNvSpPr/>
          <p:nvPr/>
        </p:nvSpPr>
        <p:spPr>
          <a:xfrm>
            <a:off x="3657600" y="5532120"/>
            <a:ext cx="361188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2" name="hdr TN_PM_SMLT_RPT_STNG_HR_GROUP_MSTR"/>
          <p:cNvSpPr/>
          <p:nvPr/>
        </p:nvSpPr>
        <p:spPr>
          <a:xfrm>
            <a:off x="3657600" y="5532120"/>
            <a:ext cx="3611880" cy="457200"/>
          </a:xfrm>
          <a:prstGeom prst="rect">
            <a:avLst/>
          </a:prstGeom>
          <a:solidFill>
            <a:schemeClr val="accent4">
              <a:alpha val="3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3721608" y="5568696"/>
            <a:ext cx="3483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TN_PM_SMLT_RPT_STNG_HR_GROUP_MSTR</a:t>
            </a:r>
            <a:endParaRPr lang="en-US" sz="1000" dirty="0"/>
          </a:p>
        </p:txBody>
      </p:sp>
      <p:sp>
        <p:nvSpPr>
          <p:cNvPr id="104" name="Text 102"/>
          <p:cNvSpPr txBox="1"/>
          <p:nvPr/>
        </p:nvSpPr>
        <p:spPr>
          <a:xfrm>
            <a:off x="3721608" y="5769864"/>
            <a:ext cx="34838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리포팅 시간대 그룹</a:t>
            </a:r>
            <a:endParaRPr lang="en-US" sz="1000" dirty="0"/>
          </a:p>
        </p:txBody>
      </p:sp>
      <p:sp>
        <p:nvSpPr>
          <p:cNvPr id="105" name="Text 103"/>
          <p:cNvSpPr txBox="1"/>
          <p:nvPr/>
        </p:nvSpPr>
        <p:spPr>
          <a:xfrm>
            <a:off x="3721608" y="60258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106" name="Text 104"/>
          <p:cNvSpPr txBox="1"/>
          <p:nvPr/>
        </p:nvSpPr>
        <p:spPr>
          <a:xfrm>
            <a:off x="4178808" y="6025896"/>
            <a:ext cx="3026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RPT_STNG_ATRB_ID</a:t>
            </a:r>
            <a:endParaRPr lang="en-US" sz="1000" dirty="0"/>
          </a:p>
        </p:txBody>
      </p:sp>
      <p:sp>
        <p:nvSpPr>
          <p:cNvPr id="107" name="tbl TN_PM_SMLT_RPT_STNG_HR_GROUP_ATRB"/>
          <p:cNvSpPr/>
          <p:nvPr/>
        </p:nvSpPr>
        <p:spPr>
          <a:xfrm>
            <a:off x="7799832" y="5532120"/>
            <a:ext cx="393192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8" name="hdr TN_PM_SMLT_RPT_STNG_HR_GROUP_ATRB"/>
          <p:cNvSpPr/>
          <p:nvPr/>
        </p:nvSpPr>
        <p:spPr>
          <a:xfrm>
            <a:off x="7799832" y="5532120"/>
            <a:ext cx="3931920" cy="457200"/>
          </a:xfrm>
          <a:prstGeom prst="rect">
            <a:avLst/>
          </a:prstGeom>
          <a:solidFill>
            <a:schemeClr val="accent4">
              <a:alpha val="3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863840" y="5568696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TN_PM_SMLT_RPT_STNG_HR_GROUP_ATRB</a:t>
            </a:r>
            <a:endParaRPr lang="en-US" sz="1000" dirty="0"/>
          </a:p>
        </p:txBody>
      </p:sp>
      <p:sp>
        <p:nvSpPr>
          <p:cNvPr id="110" name="Text 108"/>
          <p:cNvSpPr txBox="1"/>
          <p:nvPr/>
        </p:nvSpPr>
        <p:spPr>
          <a:xfrm>
            <a:off x="7863840" y="5769864"/>
            <a:ext cx="38039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리포팅 시간대 그룹 속성</a:t>
            </a:r>
            <a:endParaRPr lang="en-US" sz="1000" dirty="0"/>
          </a:p>
        </p:txBody>
      </p:sp>
      <p:sp>
        <p:nvSpPr>
          <p:cNvPr id="111" name="Text 109"/>
          <p:cNvSpPr txBox="1"/>
          <p:nvPr/>
        </p:nvSpPr>
        <p:spPr>
          <a:xfrm>
            <a:off x="7863840" y="60258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112" name="Text 110"/>
          <p:cNvSpPr txBox="1"/>
          <p:nvPr/>
        </p:nvSpPr>
        <p:spPr>
          <a:xfrm>
            <a:off x="8321040" y="6025896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RPT_STNG_ATRB_ID · SCHDL_HR</a:t>
            </a:r>
            <a:endParaRPr lang="en-US" sz="1000" dirty="0"/>
          </a:p>
        </p:txBody>
      </p:sp>
      <p:sp>
        <p:nvSpPr>
          <p:cNvPr id="113" name="Text 111"/>
          <p:cNvSpPr txBox="1"/>
          <p:nvPr/>
        </p:nvSpPr>
        <p:spPr>
          <a:xfrm>
            <a:off x="548640" y="56875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RPT_STNG_ATRB_ID (USER_MSTR)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ReportingProfilesTimeGroups001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3246120" y="5888736"/>
            <a:ext cx="411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115" name="Text 113"/>
          <p:cNvSpPr txBox="1"/>
          <p:nvPr/>
        </p:nvSpPr>
        <p:spPr>
          <a:xfrm>
            <a:off x="3282696" y="5669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116" name="Text 114"/>
          <p:cNvSpPr txBox="1"/>
          <p:nvPr/>
        </p:nvSpPr>
        <p:spPr>
          <a:xfrm>
            <a:off x="3438144" y="5669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 flipH="1">
            <a:off x="7269480" y="5888736"/>
            <a:ext cx="53035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7580376" y="5669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119" name="Text 117"/>
          <p:cNvSpPr txBox="1"/>
          <p:nvPr/>
        </p:nvSpPr>
        <p:spPr>
          <a:xfrm>
            <a:off x="7306056" y="5669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4572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987552" y="6464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키 관계 (PK 컬럼 상속 · FK)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32004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123" name="Text 121"/>
          <p:cNvSpPr txBox="1"/>
          <p:nvPr/>
        </p:nvSpPr>
        <p:spPr>
          <a:xfrm>
            <a:off x="3730752" y="6464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값 참조 (키·제약 없음)</a:t>
            </a:r>
            <a:endParaRPr lang="en-US" sz="1000" dirty="0"/>
          </a:p>
        </p:txBody>
      </p:sp>
      <p:sp>
        <p:nvSpPr>
          <p:cNvPr id="124" name="Text 122"/>
          <p:cNvSpPr txBox="1"/>
          <p:nvPr/>
        </p:nvSpPr>
        <p:spPr>
          <a:xfrm>
            <a:off x="5577840" y="64648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 / N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관계 차수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[FK]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DDL FK 제약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점선 박스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다른 그룹 테이블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⑤ PropertySet 속성그룹 · ⑥ 속성 적용 이력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속성그룹(카테고리)이 3개 속성 테이블의 1차 축. 운영 반영(카테고리 → 001)은 적용 직전 값을 이력에 스냅샷한다</a:t>
            </a:r>
            <a:endParaRPr lang="en-US" sz="1200" dirty="0"/>
          </a:p>
        </p:txBody>
      </p:sp>
      <p:sp>
        <p:nvSpPr>
          <p:cNvPr id="4" name="group 5"/>
          <p:cNvSpPr/>
          <p:nvPr/>
        </p:nvSpPr>
        <p:spPr>
          <a:xfrm>
            <a:off x="365760" y="1325880"/>
            <a:ext cx="7772400" cy="4937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389888"/>
            <a:ext cx="7552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⑤ PropertySet 속성그룹</a:t>
            </a:r>
            <a:endParaRPr lang="en-US" sz="1200" dirty="0"/>
          </a:p>
        </p:txBody>
      </p:sp>
      <p:sp>
        <p:nvSpPr>
          <p:cNvPr id="6" name="group 6"/>
          <p:cNvSpPr/>
          <p:nvPr/>
        </p:nvSpPr>
        <p:spPr>
          <a:xfrm>
            <a:off x="8366760" y="1325880"/>
            <a:ext cx="3456432" cy="4937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76488" y="1389888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⑥ 속성 적용 이력</a:t>
            </a:r>
            <a:endParaRPr lang="en-US" sz="1200" dirty="0"/>
          </a:p>
        </p:txBody>
      </p:sp>
      <p:sp>
        <p:nvSpPr>
          <p:cNvPr id="8" name="tbl TN_PM_SMLT_FIX_ATRB_GROUP"/>
          <p:cNvSpPr/>
          <p:nvPr/>
        </p:nvSpPr>
        <p:spPr>
          <a:xfrm>
            <a:off x="2834640" y="1737360"/>
            <a:ext cx="274320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" name="hdr TN_PM_SMLT_FIX_ATRB_GROUP"/>
          <p:cNvSpPr/>
          <p:nvPr/>
        </p:nvSpPr>
        <p:spPr>
          <a:xfrm>
            <a:off x="2834640" y="1737360"/>
            <a:ext cx="2743200" cy="457200"/>
          </a:xfrm>
          <a:prstGeom prst="rect">
            <a:avLst/>
          </a:prstGeom>
          <a:solidFill>
            <a:schemeClr val="accent5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98648" y="1773936"/>
            <a:ext cx="2615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TN_PM_SMLT_FIX_ATRB_GROUP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898648" y="1975104"/>
            <a:ext cx="2615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속성그룹 (PropertySet)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22311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223113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FIX_ATRB_GROUP_ID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241401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001 기준 · 999 전처리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355848" y="259689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002~499 카테고리</a:t>
            </a:r>
            <a:endParaRPr lang="en-US" sz="1000" dirty="0"/>
          </a:p>
        </p:txBody>
      </p:sp>
      <p:sp>
        <p:nvSpPr>
          <p:cNvPr id="16" name="tbl TN_PM_SMLT_PSG_ATRB"/>
          <p:cNvSpPr/>
          <p:nvPr/>
        </p:nvSpPr>
        <p:spPr>
          <a:xfrm>
            <a:off x="548640" y="3429000"/>
            <a:ext cx="237744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" name="hdr TN_PM_SMLT_PSG_ATRB"/>
          <p:cNvSpPr/>
          <p:nvPr/>
        </p:nvSpPr>
        <p:spPr>
          <a:xfrm>
            <a:off x="548640" y="3429000"/>
            <a:ext cx="2377440" cy="457200"/>
          </a:xfrm>
          <a:prstGeom prst="rect">
            <a:avLst/>
          </a:prstGeom>
          <a:solidFill>
            <a:schemeClr val="accent5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" y="3465576"/>
            <a:ext cx="2249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TN_PM_SMLT_PSG_ATRB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" y="3666744"/>
            <a:ext cx="22494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여객 속성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" y="3922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69848" y="392277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FIX_ATRB_GROUP_ID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41056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69848" y="410565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PSG_ATRB_CD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" y="4288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69848" y="42885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PSG_DTL_SE_CD</a:t>
            </a:r>
            <a:endParaRPr lang="en-US" sz="1000" dirty="0"/>
          </a:p>
        </p:txBody>
      </p:sp>
      <p:sp>
        <p:nvSpPr>
          <p:cNvPr id="26" name="tbl TN_PM_SMLT_SHOW_UP_ATRB"/>
          <p:cNvSpPr/>
          <p:nvPr/>
        </p:nvSpPr>
        <p:spPr>
          <a:xfrm>
            <a:off x="3017520" y="3429000"/>
            <a:ext cx="237744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7" name="hdr TN_PM_SMLT_SHOW_UP_ATRB"/>
          <p:cNvSpPr/>
          <p:nvPr/>
        </p:nvSpPr>
        <p:spPr>
          <a:xfrm>
            <a:off x="3017520" y="3429000"/>
            <a:ext cx="2377440" cy="457200"/>
          </a:xfrm>
          <a:prstGeom prst="rect">
            <a:avLst/>
          </a:prstGeom>
          <a:solidFill>
            <a:schemeClr val="accent5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81528" y="3465576"/>
            <a:ext cx="2249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TN_PM_SMLT_SHOW_UP_ATRB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081528" y="3666744"/>
            <a:ext cx="22494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쇼업(출현) 속성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081528" y="3922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538728" y="392277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FIX_ATRB_GROUP_ID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081528" y="41056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538728" y="410565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PSG_ATRB_CD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081528" y="4288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538728" y="42885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PSG_DTL_SE_CD</a:t>
            </a:r>
            <a:endParaRPr lang="en-US" sz="1000" dirty="0"/>
          </a:p>
        </p:txBody>
      </p:sp>
      <p:sp>
        <p:nvSpPr>
          <p:cNvPr id="36" name="tbl TN_PM_SMLT_SRVC_ATRB"/>
          <p:cNvSpPr/>
          <p:nvPr/>
        </p:nvSpPr>
        <p:spPr>
          <a:xfrm>
            <a:off x="5486400" y="3429000"/>
            <a:ext cx="246888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7" name="hdr TN_PM_SMLT_SRVC_ATRB"/>
          <p:cNvSpPr/>
          <p:nvPr/>
        </p:nvSpPr>
        <p:spPr>
          <a:xfrm>
            <a:off x="5486400" y="3429000"/>
            <a:ext cx="2468880" cy="457200"/>
          </a:xfrm>
          <a:prstGeom prst="rect">
            <a:avLst/>
          </a:prstGeom>
          <a:solidFill>
            <a:schemeClr val="accent5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50408" y="3465576"/>
            <a:ext cx="2340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TN_PM_SMLT_SRVC_ATRB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550408" y="3666744"/>
            <a:ext cx="23408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시설 서비스 속성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550408" y="3922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007608" y="3922776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FIX_ATRB_GROUP_ID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550408" y="41056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007608" y="4105656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FCLTY_SE_CD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550408" y="4288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007608" y="4288536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FCLTY_DTL_CD</a:t>
            </a:r>
            <a:endParaRPr lang="en-US" sz="1000" dirty="0"/>
          </a:p>
        </p:txBody>
      </p:sp>
      <p:sp>
        <p:nvSpPr>
          <p:cNvPr id="46" name="tbl TN_PM_SMLT_PSG_FIX_PARA_CD"/>
          <p:cNvSpPr/>
          <p:nvPr/>
        </p:nvSpPr>
        <p:spPr>
          <a:xfrm>
            <a:off x="1600200" y="5074920"/>
            <a:ext cx="260604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7" name="hdr TN_PM_SMLT_PSG_FIX_PARA_CD"/>
          <p:cNvSpPr/>
          <p:nvPr/>
        </p:nvSpPr>
        <p:spPr>
          <a:xfrm>
            <a:off x="1600200" y="5074920"/>
            <a:ext cx="2606040" cy="457200"/>
          </a:xfrm>
          <a:prstGeom prst="rect">
            <a:avLst/>
          </a:prstGeom>
          <a:solidFill>
            <a:schemeClr val="accent5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664208" y="5111496"/>
            <a:ext cx="2478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TN_PM_SMLT_PSG_FIX_PARA_CD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664208" y="5312664"/>
            <a:ext cx="2478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여객 고정 파라미터 코드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664208" y="55686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2121408" y="5568696"/>
            <a:ext cx="2020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PSG_FIX_PARA_CD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2121408" y="5751576"/>
            <a:ext cx="2020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PSG_FIX_PARA_GROUP_CD</a:t>
            </a:r>
            <a:endParaRPr lang="en-US" sz="1000" dirty="0"/>
          </a:p>
        </p:txBody>
      </p:sp>
      <p:sp>
        <p:nvSpPr>
          <p:cNvPr id="53" name="tbl TN_PM_SMLT_PSG_SRVC_PARA_CD"/>
          <p:cNvSpPr/>
          <p:nvPr/>
        </p:nvSpPr>
        <p:spPr>
          <a:xfrm>
            <a:off x="5349240" y="5074920"/>
            <a:ext cx="260604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4" name="hdr TN_PM_SMLT_PSG_SRVC_PARA_CD"/>
          <p:cNvSpPr/>
          <p:nvPr/>
        </p:nvSpPr>
        <p:spPr>
          <a:xfrm>
            <a:off x="5349240" y="5074920"/>
            <a:ext cx="2606040" cy="457200"/>
          </a:xfrm>
          <a:prstGeom prst="rect">
            <a:avLst/>
          </a:prstGeom>
          <a:solidFill>
            <a:schemeClr val="accent5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13248" y="5111496"/>
            <a:ext cx="2478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TN_PM_SMLT_PSG_SRVC_PARA_CD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5413248" y="5312664"/>
            <a:ext cx="2478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서비스 파라미터 코드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5413248" y="55686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5870448" y="5568696"/>
            <a:ext cx="2020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PSG_SRVC_PARA_CD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 flipV="1">
            <a:off x="1737360" y="3154680"/>
            <a:ext cx="0" cy="2743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37360" y="3154680"/>
            <a:ext cx="24688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4206240" y="2816352"/>
            <a:ext cx="0" cy="33832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783080" y="32095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 flipV="1">
            <a:off x="4206240" y="2816352"/>
            <a:ext cx="0" cy="61264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251960" y="32095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4251960" y="28346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 flipV="1">
            <a:off x="6720840" y="3154680"/>
            <a:ext cx="0" cy="2743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4206240" y="3154680"/>
            <a:ext cx="2514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4206240" y="2816352"/>
            <a:ext cx="0" cy="33832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766560" y="32095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212848" y="4507992"/>
            <a:ext cx="0" cy="56692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71" name="Text 69"/>
          <p:cNvSpPr txBox="1"/>
          <p:nvPr/>
        </p:nvSpPr>
        <p:spPr>
          <a:xfrm>
            <a:off x="2258568" y="4526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2258568" y="485546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457200" y="4800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PSG_ATRB_CD · DTL_SE_CD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11880" y="4507992"/>
            <a:ext cx="0" cy="56692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75" name="Text 73"/>
          <p:cNvSpPr txBox="1"/>
          <p:nvPr/>
        </p:nvSpPr>
        <p:spPr>
          <a:xfrm>
            <a:off x="3657600" y="4526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3657600" y="485546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720840" y="4507992"/>
            <a:ext cx="0" cy="56692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78" name="Text 76"/>
          <p:cNvSpPr txBox="1"/>
          <p:nvPr/>
        </p:nvSpPr>
        <p:spPr>
          <a:xfrm>
            <a:off x="6766560" y="4526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6766560" y="485546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681228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FCLTY_SE_CD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206240" y="5861304"/>
            <a:ext cx="2743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V="1">
            <a:off x="4480560" y="5303520"/>
            <a:ext cx="0" cy="557784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H="1">
            <a:off x="4206240" y="5303520"/>
            <a:ext cx="2743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84" name="Text 82"/>
          <p:cNvSpPr txBox="1"/>
          <p:nvPr/>
        </p:nvSpPr>
        <p:spPr>
          <a:xfrm>
            <a:off x="4553712" y="5394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자기참조</a:t>
            </a:r>
            <a:endParaRPr lang="en-US" sz="1000" dirty="0"/>
          </a:p>
        </p:txBody>
      </p:sp>
      <p:sp>
        <p:nvSpPr>
          <p:cNvPr id="85" name="tbl TH_PM_SMLT_ATRB_APLY_SET_HSTRY"/>
          <p:cNvSpPr/>
          <p:nvPr/>
        </p:nvSpPr>
        <p:spPr>
          <a:xfrm>
            <a:off x="8549640" y="1737360"/>
            <a:ext cx="310896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6" name="hdr TH_PM_SMLT_ATRB_APLY_SET_HSTRY"/>
          <p:cNvSpPr/>
          <p:nvPr/>
        </p:nvSpPr>
        <p:spPr>
          <a:xfrm>
            <a:off x="8549640" y="1737360"/>
            <a:ext cx="3108960" cy="457200"/>
          </a:xfrm>
          <a:prstGeom prst="rect">
            <a:avLst/>
          </a:prstGeom>
          <a:solidFill>
            <a:schemeClr val="accent6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613648" y="1773936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TH_PM_SMLT_ATRB_APLY_SET_HSTRY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8613648" y="197510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속성 적용 세트 이력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8613648" y="22311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90" name="Text 88"/>
          <p:cNvSpPr txBox="1"/>
          <p:nvPr/>
        </p:nvSpPr>
        <p:spPr>
          <a:xfrm>
            <a:off x="9070848" y="223113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APLY_SET_SN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9070848" y="241401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SRC / TGT_FIX_ATRB_GROUP_ID</a:t>
            </a:r>
            <a:endParaRPr lang="en-US" sz="1000" dirty="0"/>
          </a:p>
        </p:txBody>
      </p:sp>
      <p:sp>
        <p:nvSpPr>
          <p:cNvPr id="92" name="tbl TH_PM_SMLT_ATRB_APLY_HSTRY"/>
          <p:cNvSpPr/>
          <p:nvPr/>
        </p:nvSpPr>
        <p:spPr>
          <a:xfrm>
            <a:off x="8549640" y="3429000"/>
            <a:ext cx="310896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3" name="hdr TH_PM_SMLT_ATRB_APLY_HSTRY"/>
          <p:cNvSpPr/>
          <p:nvPr/>
        </p:nvSpPr>
        <p:spPr>
          <a:xfrm>
            <a:off x="8549640" y="3429000"/>
            <a:ext cx="3108960" cy="457200"/>
          </a:xfrm>
          <a:prstGeom prst="rect">
            <a:avLst/>
          </a:prstGeom>
          <a:solidFill>
            <a:schemeClr val="accent6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613648" y="3465576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TH_PM_SMLT_ATRB_APLY_HSTRY</a:t>
            </a:r>
            <a:endParaRPr lang="en-US" sz="1000" dirty="0"/>
          </a:p>
        </p:txBody>
      </p:sp>
      <p:sp>
        <p:nvSpPr>
          <p:cNvPr id="95" name="Text 93"/>
          <p:cNvSpPr txBox="1"/>
          <p:nvPr/>
        </p:nvSpPr>
        <p:spPr>
          <a:xfrm>
            <a:off x="8613648" y="36667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속성 적용 이력 (시트별)</a:t>
            </a:r>
            <a:endParaRPr lang="en-US" sz="1000" dirty="0"/>
          </a:p>
        </p:txBody>
      </p:sp>
      <p:sp>
        <p:nvSpPr>
          <p:cNvPr id="96" name="Text 94"/>
          <p:cNvSpPr txBox="1"/>
          <p:nvPr/>
        </p:nvSpPr>
        <p:spPr>
          <a:xfrm>
            <a:off x="8613648" y="3922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9070848" y="392277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APLY_SN</a:t>
            </a:r>
            <a:endParaRPr lang="en-US" sz="1000" dirty="0"/>
          </a:p>
        </p:txBody>
      </p:sp>
      <p:sp>
        <p:nvSpPr>
          <p:cNvPr id="98" name="Text 96"/>
          <p:cNvSpPr txBox="1"/>
          <p:nvPr/>
        </p:nvSpPr>
        <p:spPr>
          <a:xfrm>
            <a:off x="8613648" y="41056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FK</a:t>
            </a:r>
            <a:endParaRPr lang="en-US" sz="1000" dirty="0"/>
          </a:p>
        </p:txBody>
      </p:sp>
      <p:sp>
        <p:nvSpPr>
          <p:cNvPr id="99" name="Text 97"/>
          <p:cNvSpPr txBox="1"/>
          <p:nvPr/>
        </p:nvSpPr>
        <p:spPr>
          <a:xfrm>
            <a:off x="9070848" y="410565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APLY_SET_SN</a:t>
            </a:r>
            <a:endParaRPr lang="en-US" sz="1000" dirty="0"/>
          </a:p>
        </p:txBody>
      </p:sp>
      <p:sp>
        <p:nvSpPr>
          <p:cNvPr id="100" name="Text 98"/>
          <p:cNvSpPr txBox="1"/>
          <p:nvPr/>
        </p:nvSpPr>
        <p:spPr>
          <a:xfrm>
            <a:off x="9070848" y="428853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SRC / TGT_FIX_ATRB_GROUP_ID</a:t>
            </a:r>
            <a:endParaRPr lang="en-US" sz="1000" dirty="0"/>
          </a:p>
        </p:txBody>
      </p:sp>
      <p:sp>
        <p:nvSpPr>
          <p:cNvPr id="101" name="tbl TH_PM_SMLT_ATRB_APLY_HSTRY_DTL"/>
          <p:cNvSpPr/>
          <p:nvPr/>
        </p:nvSpPr>
        <p:spPr>
          <a:xfrm>
            <a:off x="8549640" y="5074920"/>
            <a:ext cx="310896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2" name="hdr TH_PM_SMLT_ATRB_APLY_HSTRY_DTL"/>
          <p:cNvSpPr/>
          <p:nvPr/>
        </p:nvSpPr>
        <p:spPr>
          <a:xfrm>
            <a:off x="8549640" y="5074920"/>
            <a:ext cx="3108960" cy="457200"/>
          </a:xfrm>
          <a:prstGeom prst="rect">
            <a:avLst/>
          </a:prstGeom>
          <a:solidFill>
            <a:schemeClr val="accent6">
              <a:alpha val="2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613648" y="5111496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TH_PM_SMLT_ATRB_APLY_HSTRY_DTL</a:t>
            </a:r>
            <a:endParaRPr lang="en-US" sz="1000" dirty="0"/>
          </a:p>
        </p:txBody>
      </p:sp>
      <p:sp>
        <p:nvSpPr>
          <p:cNvPr id="104" name="Text 102"/>
          <p:cNvSpPr txBox="1"/>
          <p:nvPr/>
        </p:nvSpPr>
        <p:spPr>
          <a:xfrm>
            <a:off x="8613648" y="531266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적용 이력 상세 (전/후 값)</a:t>
            </a:r>
            <a:endParaRPr lang="en-US" sz="1000" dirty="0"/>
          </a:p>
        </p:txBody>
      </p:sp>
      <p:sp>
        <p:nvSpPr>
          <p:cNvPr id="105" name="Text 103"/>
          <p:cNvSpPr txBox="1"/>
          <p:nvPr/>
        </p:nvSpPr>
        <p:spPr>
          <a:xfrm>
            <a:off x="8613648" y="55686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106" name="Text 104"/>
          <p:cNvSpPr txBox="1"/>
          <p:nvPr/>
        </p:nvSpPr>
        <p:spPr>
          <a:xfrm>
            <a:off x="9070848" y="556869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APLY_SN</a:t>
            </a:r>
            <a:endParaRPr lang="en-US" sz="1000" dirty="0"/>
          </a:p>
        </p:txBody>
      </p:sp>
      <p:sp>
        <p:nvSpPr>
          <p:cNvPr id="107" name="Text 105"/>
          <p:cNvSpPr txBox="1"/>
          <p:nvPr/>
        </p:nvSpPr>
        <p:spPr>
          <a:xfrm>
            <a:off x="8613648" y="5751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108" name="Text 106"/>
          <p:cNvSpPr txBox="1"/>
          <p:nvPr/>
        </p:nvSpPr>
        <p:spPr>
          <a:xfrm>
            <a:off x="9070848" y="575157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ATRB_CD · DTL_SE_CD · COLUMN_NM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 flipV="1">
            <a:off x="10104120" y="2633472"/>
            <a:ext cx="0" cy="79552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10149840" y="32095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111" name="Text 109"/>
          <p:cNvSpPr txBox="1"/>
          <p:nvPr/>
        </p:nvSpPr>
        <p:spPr>
          <a:xfrm>
            <a:off x="10149840" y="26517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112" name="Text 110"/>
          <p:cNvSpPr txBox="1"/>
          <p:nvPr/>
        </p:nvSpPr>
        <p:spPr>
          <a:xfrm>
            <a:off x="10195560" y="3017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[FK]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 flipV="1">
            <a:off x="10104120" y="4507992"/>
            <a:ext cx="0" cy="56692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0149840" y="485546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115" name="Text 113"/>
          <p:cNvSpPr txBox="1"/>
          <p:nvPr/>
        </p:nvSpPr>
        <p:spPr>
          <a:xfrm>
            <a:off x="10149840" y="4526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116" name="Text 114"/>
          <p:cNvSpPr txBox="1"/>
          <p:nvPr/>
        </p:nvSpPr>
        <p:spPr>
          <a:xfrm>
            <a:off x="10195560" y="4663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[FK]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 flipH="1">
            <a:off x="5577840" y="205740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118" name="Text 116"/>
          <p:cNvSpPr txBox="1"/>
          <p:nvPr/>
        </p:nvSpPr>
        <p:spPr>
          <a:xfrm>
            <a:off x="8330184" y="18379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119" name="Text 117"/>
          <p:cNvSpPr txBox="1"/>
          <p:nvPr/>
        </p:nvSpPr>
        <p:spPr>
          <a:xfrm>
            <a:off x="5614416" y="18379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120" name="Text 118"/>
          <p:cNvSpPr txBox="1"/>
          <p:nvPr/>
        </p:nvSpPr>
        <p:spPr>
          <a:xfrm>
            <a:off x="5806440" y="1828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SRC / TGT_FIX_ATRB_GROUP_ID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4572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987552" y="6464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키 관계 (PK 컬럼 상속 · FK)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32004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124" name="Text 122"/>
          <p:cNvSpPr txBox="1"/>
          <p:nvPr/>
        </p:nvSpPr>
        <p:spPr>
          <a:xfrm>
            <a:off x="3730752" y="6464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값 참조 (키·제약 없음)</a:t>
            </a:r>
            <a:endParaRPr lang="en-US" sz="1000" dirty="0"/>
          </a:p>
        </p:txBody>
      </p:sp>
      <p:sp>
        <p:nvSpPr>
          <p:cNvPr id="125" name="Text 123"/>
          <p:cNvSpPr txBox="1"/>
          <p:nvPr/>
        </p:nvSpPr>
        <p:spPr>
          <a:xfrm>
            <a:off x="5577840" y="64648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 / N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관계 차수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[FK]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DDL FK 제약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점선 박스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다른 그룹 테이블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⑦ 운영 기준정보·정책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일일(001) 리소스를 발행할 때와 혼잡등급을 판정할 때 읽는 기준 테이블. 리소스와는 키가 아닌 값으로 연결된다</a:t>
            </a:r>
            <a:endParaRPr lang="en-US" sz="1200" dirty="0"/>
          </a:p>
        </p:txBody>
      </p:sp>
      <p:sp>
        <p:nvSpPr>
          <p:cNvPr id="4" name="tbl TN_PM_ENTGT_DPTGT_OPER_HR_INFO"/>
          <p:cNvSpPr/>
          <p:nvPr/>
        </p:nvSpPr>
        <p:spPr>
          <a:xfrm>
            <a:off x="457200" y="1417320"/>
            <a:ext cx="356616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" name="hdr TN_PM_ENTGT_DPTGT_OPER_HR_INFO"/>
          <p:cNvSpPr/>
          <p:nvPr/>
        </p:nvSpPr>
        <p:spPr>
          <a:xfrm>
            <a:off x="457200" y="1417320"/>
            <a:ext cx="3566160" cy="457200"/>
          </a:xfrm>
          <a:prstGeom prst="rect">
            <a:avLst/>
          </a:prstGeom>
          <a:solidFill>
            <a:schemeClr val="tx2">
              <a:alpha val="2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" y="1453896"/>
            <a:ext cx="3438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TN_PM_ENTGT_DPTGT_OPER_HR_INFO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1655064"/>
            <a:ext cx="3438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입출국장 운영시간 마스터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21208" y="1911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191109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OPER_HR_CRLTN_SN</a:t>
            </a:r>
            <a:endParaRPr lang="en-US" sz="1000" dirty="0"/>
          </a:p>
        </p:txBody>
      </p:sp>
      <p:sp>
        <p:nvSpPr>
          <p:cNvPr id="10" name="tbl TN_PM_ENTGT_DPTGT_OPER_HR_ELMNT"/>
          <p:cNvSpPr/>
          <p:nvPr/>
        </p:nvSpPr>
        <p:spPr>
          <a:xfrm>
            <a:off x="457200" y="2697480"/>
            <a:ext cx="356616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" name="hdr TN_PM_ENTGT_DPTGT_OPER_HR_ELMNT"/>
          <p:cNvSpPr/>
          <p:nvPr/>
        </p:nvSpPr>
        <p:spPr>
          <a:xfrm>
            <a:off x="457200" y="2697480"/>
            <a:ext cx="3566160" cy="457200"/>
          </a:xfrm>
          <a:prstGeom prst="rect">
            <a:avLst/>
          </a:prstGeom>
          <a:solidFill>
            <a:schemeClr val="tx2">
              <a:alpha val="2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" y="2734056"/>
            <a:ext cx="3438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TN_PM_ENTGT_DPTGT_OPER_HR_ELMNT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" y="2935224"/>
            <a:ext cx="3438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운영시간 구성요소 (터미널·시설)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" y="3191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319125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OPER_HR_CRLTN_SN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" y="33741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337413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ELMNT_SN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355701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TMNL_ID · FCLT_SE_CD</a:t>
            </a:r>
            <a:endParaRPr lang="en-US" sz="1000" dirty="0"/>
          </a:p>
        </p:txBody>
      </p:sp>
      <p:sp>
        <p:nvSpPr>
          <p:cNvPr id="19" name="tbl TN_PM_ENTGT_DPTGT_OPER_HR_MNG"/>
          <p:cNvSpPr/>
          <p:nvPr/>
        </p:nvSpPr>
        <p:spPr>
          <a:xfrm>
            <a:off x="457200" y="4251960"/>
            <a:ext cx="356616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0" name="hdr TN_PM_ENTGT_DPTGT_OPER_HR_MNG"/>
          <p:cNvSpPr/>
          <p:nvPr/>
        </p:nvSpPr>
        <p:spPr>
          <a:xfrm>
            <a:off x="457200" y="4251960"/>
            <a:ext cx="3566160" cy="457200"/>
          </a:xfrm>
          <a:prstGeom prst="rect">
            <a:avLst/>
          </a:prstGeom>
          <a:solidFill>
            <a:schemeClr val="tx2">
              <a:alpha val="2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" y="4288536"/>
            <a:ext cx="3438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TN_PM_ENTGT_DPTGT_OPER_HR_MNG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" y="4489704"/>
            <a:ext cx="3438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운영시간 관리 (기간·시간대)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" y="4745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PK,FK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78408" y="474573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OPER_HR_CRLTN_SN · ELMNT_SN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" y="49286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78408" y="492861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PRD_SN · FCLTY_TYPE_ID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" y="511149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OPER_BGNG/END_YMD · 1~3 시간대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 flipV="1">
            <a:off x="2240280" y="2130552"/>
            <a:ext cx="0" cy="56692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86000" y="24780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2286000" y="21488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V="1">
            <a:off x="2240280" y="3776472"/>
            <a:ext cx="0" cy="47548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286000" y="403250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286000" y="37947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34" name="ref → ④ 시설 운영표 ATRB"/>
          <p:cNvSpPr/>
          <p:nvPr/>
        </p:nvSpPr>
        <p:spPr>
          <a:xfrm>
            <a:off x="4572000" y="4343400"/>
            <a:ext cx="3200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4645152" y="438912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→ ④ 시설 운영표 ATRB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645152" y="4617720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DPTGT · ENTCNY · TRNST_SCRTY_CNTRL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TMNL_ID · FCLT_SE_CD · FCLTY_TYPE_ID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023360" y="4800600"/>
            <a:ext cx="5486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4059936" y="45811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352544" y="45811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40" name="tbl TN_PM_SLF_CHKN_OPER_PLCY"/>
          <p:cNvSpPr/>
          <p:nvPr/>
        </p:nvSpPr>
        <p:spPr>
          <a:xfrm>
            <a:off x="8229600" y="1417320"/>
            <a:ext cx="3502152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1" name="hdr TN_PM_SLF_CHKN_OPER_PLCY"/>
          <p:cNvSpPr/>
          <p:nvPr/>
        </p:nvSpPr>
        <p:spPr>
          <a:xfrm>
            <a:off x="8229600" y="1417320"/>
            <a:ext cx="3502152" cy="457200"/>
          </a:xfrm>
          <a:prstGeom prst="rect">
            <a:avLst/>
          </a:prstGeom>
          <a:solidFill>
            <a:schemeClr val="tx2">
              <a:alpha val="2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93608" y="1453896"/>
            <a:ext cx="3374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TN_PM_SLF_CHKN_OPER_PLCY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293608" y="1655064"/>
            <a:ext cx="3374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셀프체크인 운영정책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293608" y="1911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750808" y="1911096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TMNL_ID · SLF_CHKN_ISTR_ID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8293608" y="2093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750808" y="2093976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ALN_CD · PLCY_BGNG_YMD</a:t>
            </a:r>
            <a:endParaRPr lang="en-US" sz="1000" dirty="0"/>
          </a:p>
        </p:txBody>
      </p:sp>
      <p:sp>
        <p:nvSpPr>
          <p:cNvPr id="48" name="tbl TN_PM_SBD_OPER_PLCY"/>
          <p:cNvSpPr/>
          <p:nvPr/>
        </p:nvSpPr>
        <p:spPr>
          <a:xfrm>
            <a:off x="8229600" y="2697480"/>
            <a:ext cx="3502152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9" name="hdr TN_PM_SBD_OPER_PLCY"/>
          <p:cNvSpPr/>
          <p:nvPr/>
        </p:nvSpPr>
        <p:spPr>
          <a:xfrm>
            <a:off x="8229600" y="2697480"/>
            <a:ext cx="3502152" cy="457200"/>
          </a:xfrm>
          <a:prstGeom prst="rect">
            <a:avLst/>
          </a:prstGeom>
          <a:solidFill>
            <a:schemeClr val="tx2">
              <a:alpha val="2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93608" y="2734056"/>
            <a:ext cx="3374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TN_PM_SBD_OPER_PLCY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293608" y="2935224"/>
            <a:ext cx="3374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셀프백드롭 운영정책 (DDL 미보유)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8750808" y="3191256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TMNL_ID · SBD_CTR_NM · ALN_CD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8750808" y="3374136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PLCY_BGNG_DT · PLCY_END_DT</a:t>
            </a:r>
            <a:endParaRPr lang="en-US" sz="1000" dirty="0"/>
          </a:p>
        </p:txBody>
      </p:sp>
      <p:sp>
        <p:nvSpPr>
          <p:cNvPr id="54" name="ref → ③ CA·SBD 리소스 발행"/>
          <p:cNvSpPr/>
          <p:nvPr/>
        </p:nvSpPr>
        <p:spPr>
          <a:xfrm>
            <a:off x="4572000" y="1417320"/>
            <a:ext cx="3200400" cy="2176272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4645152" y="146304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→ ③ CA·SBD 리소스 발행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4645152" y="1691640"/>
            <a:ext cx="305409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CKNCT_ATRB · SBD_ATRB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+ CAOWN.TN_CA_CKNCT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조인: TMNL_ID · ALN_CD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셀프체크인 → 키오스크 수량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SBD → 항공사 · 운영시간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 flipH="1">
            <a:off x="7772400" y="1865376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 flipH="1">
            <a:off x="7772400" y="3145536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59" name="tbl TN_PM_PSG_PRCS_GRD"/>
          <p:cNvSpPr/>
          <p:nvPr/>
        </p:nvSpPr>
        <p:spPr>
          <a:xfrm>
            <a:off x="8229600" y="4251960"/>
            <a:ext cx="3502152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0" name="hdr TN_PM_PSG_PRCS_GRD"/>
          <p:cNvSpPr/>
          <p:nvPr/>
        </p:nvSpPr>
        <p:spPr>
          <a:xfrm>
            <a:off x="8229600" y="4251960"/>
            <a:ext cx="3502152" cy="457200"/>
          </a:xfrm>
          <a:prstGeom prst="rect">
            <a:avLst/>
          </a:prstGeom>
          <a:solidFill>
            <a:schemeClr val="tx2">
              <a:alpha val="2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293608" y="4288536"/>
            <a:ext cx="3374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TN_PM_PSG_PRCS_GRD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8293608" y="4489704"/>
            <a:ext cx="3374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혼잡등급 기준 (DDL 미보유)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8750808" y="4745736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FCLT_GROUP_CD  (02 체크인 · 04 출국장)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8750808" y="4928616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PSG_PRCS_GRD_CD · MIN_VL · MAX_VL (분)</a:t>
            </a:r>
            <a:endParaRPr lang="en-US" sz="1000" dirty="0"/>
          </a:p>
        </p:txBody>
      </p:sp>
      <p:sp>
        <p:nvSpPr>
          <p:cNvPr id="65" name="ref → ① FCLT_WTNG_RSLT 대기시간 판정"/>
          <p:cNvSpPr/>
          <p:nvPr/>
        </p:nvSpPr>
        <p:spPr>
          <a:xfrm>
            <a:off x="8229600" y="5623560"/>
            <a:ext cx="3502152" cy="548640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66" name="Text 64"/>
          <p:cNvSpPr txBox="1"/>
          <p:nvPr/>
        </p:nvSpPr>
        <p:spPr>
          <a:xfrm>
            <a:off x="8302752" y="5669280"/>
            <a:ext cx="3355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→ ① FCLT_WTNG_RSLT 대기시간 판정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966960" y="5148072"/>
            <a:ext cx="0" cy="475488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4572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87552" y="6464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키 관계 (PK 컬럼 상속 · FK)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2004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71" name="Text 69"/>
          <p:cNvSpPr txBox="1"/>
          <p:nvPr/>
        </p:nvSpPr>
        <p:spPr>
          <a:xfrm>
            <a:off x="3730752" y="6464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값 참조 (키·제약 없음)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5577840" y="64648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 / N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관계 차수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[FK]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DDL FK 제약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점선 박스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다른 그룹 테이블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⑧ 실측·실적 데이터 · ⑨ 로그·시스템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다른 PM 테이블과 키로 묶이지 않는 독립 테이블. ⑧ 은 요약보기 실적, ⑨ 는 CAST 연계 로그·보조 테이블</a:t>
            </a:r>
            <a:endParaRPr lang="en-US" sz="1200" dirty="0"/>
          </a:p>
        </p:txBody>
      </p:sp>
      <p:sp>
        <p:nvSpPr>
          <p:cNvPr id="4" name="group 8"/>
          <p:cNvSpPr/>
          <p:nvPr/>
        </p:nvSpPr>
        <p:spPr>
          <a:xfrm>
            <a:off x="365760" y="1325880"/>
            <a:ext cx="5669280" cy="4937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389888"/>
            <a:ext cx="5449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⑧ 실측·실적 데이터</a:t>
            </a:r>
            <a:endParaRPr lang="en-US" sz="1200" dirty="0"/>
          </a:p>
        </p:txBody>
      </p:sp>
      <p:sp>
        <p:nvSpPr>
          <p:cNvPr id="6" name="group 9"/>
          <p:cNvSpPr/>
          <p:nvPr/>
        </p:nvSpPr>
        <p:spPr>
          <a:xfrm>
            <a:off x="6263640" y="1325880"/>
            <a:ext cx="5559552" cy="4937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73368" y="1389888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⑨ 로그·시스템</a:t>
            </a:r>
            <a:endParaRPr lang="en-US" sz="1200" dirty="0"/>
          </a:p>
        </p:txBody>
      </p:sp>
      <p:sp>
        <p:nvSpPr>
          <p:cNvPr id="8" name="tbl TN_PM_BDPSG_ANCE_RSLT"/>
          <p:cNvSpPr/>
          <p:nvPr/>
        </p:nvSpPr>
        <p:spPr>
          <a:xfrm>
            <a:off x="548640" y="1737360"/>
            <a:ext cx="338328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" name="hdr TN_PM_BDPSG_ANCE_RSLT"/>
          <p:cNvSpPr/>
          <p:nvPr/>
        </p:nvSpPr>
        <p:spPr>
          <a:xfrm>
            <a:off x="548640" y="1737360"/>
            <a:ext cx="3383280" cy="457200"/>
          </a:xfrm>
          <a:prstGeom prst="rect">
            <a:avLst/>
          </a:prstGeom>
          <a:solidFill>
            <a:schemeClr val="tx1">
              <a:alpha val="1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1773936"/>
            <a:ext cx="3255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TN_PM_BDPSG_ANCE_RSLT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1975104"/>
            <a:ext cx="32552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탑승객 예고 결과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2231136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BDPSG_ANCE_YMD · BDPSG_ANCE_HOUR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" y="2414016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TMNL_ID · BDPSG_ANCE_SE_CD</a:t>
            </a:r>
            <a:endParaRPr lang="en-US" sz="1000" dirty="0"/>
          </a:p>
        </p:txBody>
      </p:sp>
      <p:sp>
        <p:nvSpPr>
          <p:cNvPr id="14" name="tbl TN_PM_PSG_DPTCNY_TRNS_PRFMNC"/>
          <p:cNvSpPr/>
          <p:nvPr/>
        </p:nvSpPr>
        <p:spPr>
          <a:xfrm>
            <a:off x="548640" y="2926080"/>
            <a:ext cx="338328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" name="hdr TN_PM_PSG_DPTCNY_TRNS_PRFMNC"/>
          <p:cNvSpPr/>
          <p:nvPr/>
        </p:nvSpPr>
        <p:spPr>
          <a:xfrm>
            <a:off x="548640" y="2926080"/>
            <a:ext cx="3383280" cy="457200"/>
          </a:xfrm>
          <a:prstGeom prst="rect">
            <a:avLst/>
          </a:prstGeom>
          <a:solidFill>
            <a:schemeClr val="tx1">
              <a:alpha val="1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" y="2962656"/>
            <a:ext cx="3255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TN_PM_PSG_DPTCNY_TRNS_PRFMNC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3163824"/>
            <a:ext cx="32552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출국 여객 처리 실적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69848" y="3419856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TOT_YMD · TOT_HOUR · TMNL_ID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" y="3602736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PSG_FCLT_CD</a:t>
            </a:r>
            <a:endParaRPr lang="en-US" sz="1000" dirty="0"/>
          </a:p>
        </p:txBody>
      </p:sp>
      <p:sp>
        <p:nvSpPr>
          <p:cNvPr id="20" name="tbl TN_PM_PSG_WTNG_INFO"/>
          <p:cNvSpPr/>
          <p:nvPr/>
        </p:nvSpPr>
        <p:spPr>
          <a:xfrm>
            <a:off x="548640" y="4114800"/>
            <a:ext cx="338328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1" name="hdr TN_PM_PSG_WTNG_INFO"/>
          <p:cNvSpPr/>
          <p:nvPr/>
        </p:nvSpPr>
        <p:spPr>
          <a:xfrm>
            <a:off x="548640" y="4114800"/>
            <a:ext cx="3383280" cy="457200"/>
          </a:xfrm>
          <a:prstGeom prst="rect">
            <a:avLst/>
          </a:prstGeom>
          <a:solidFill>
            <a:schemeClr val="tx1">
              <a:alpha val="12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" y="4151376"/>
            <a:ext cx="3255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TN_PM_PSG_WTNG_INFO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" y="4352544"/>
            <a:ext cx="32552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여객 대기 정보 (실측)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69848" y="4608576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PSG_FLOW_DATA_CRT_DT · TMNL_ID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69848" y="4791456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CHKN_ISL_CD · FCLT_TYPE_CD</a:t>
            </a:r>
            <a:endParaRPr lang="en-US" sz="1000" dirty="0"/>
          </a:p>
        </p:txBody>
      </p:sp>
      <p:sp>
        <p:nvSpPr>
          <p:cNvPr id="26" name="ref → ① PSG_FCLT"/>
          <p:cNvSpPr/>
          <p:nvPr/>
        </p:nvSpPr>
        <p:spPr>
          <a:xfrm>
            <a:off x="4251960" y="2926080"/>
            <a:ext cx="1645920" cy="896112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4325112" y="29718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→ ① PSG_FCLT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325112" y="3200400"/>
            <a:ext cx="14996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PSG_FCLT_CD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31920" y="3639312"/>
            <a:ext cx="320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3968496" y="34198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032504" y="34198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349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세 테이블 모두 DDL 미보유 — 매퍼가 조회하는 컬럼만 표시, PK 미확인</a:t>
            </a:r>
            <a:endParaRPr lang="en-US" sz="1000" dirty="0"/>
          </a:p>
        </p:txBody>
      </p:sp>
      <p:sp>
        <p:nvSpPr>
          <p:cNvPr id="33" name="tbl TN_PM_SMLT_CAST_LOG_STNG"/>
          <p:cNvSpPr/>
          <p:nvPr/>
        </p:nvSpPr>
        <p:spPr>
          <a:xfrm>
            <a:off x="6446520" y="1737360"/>
            <a:ext cx="297180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4" name="hdr TN_PM_SMLT_CAST_LOG_STNG"/>
          <p:cNvSpPr/>
          <p:nvPr/>
        </p:nvSpPr>
        <p:spPr>
          <a:xfrm>
            <a:off x="6446520" y="1737360"/>
            <a:ext cx="2971800" cy="457200"/>
          </a:xfrm>
          <a:prstGeom prst="rect">
            <a:avLst/>
          </a:prstGeom>
          <a:solidFill>
            <a:schemeClr val="tx1">
              <a:alpha val="2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10528" y="1773936"/>
            <a:ext cx="2843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TN_PM_SMLT_CAST_LOG_STNG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510528" y="1975104"/>
            <a:ext cx="2843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CAST API 로그 설정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510528" y="22311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967728" y="2231136"/>
            <a:ext cx="238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CAST_API_TYPE_CD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510528" y="24140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967728" y="2414016"/>
            <a:ext cx="238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CAST_LOG_TYPE_CD</a:t>
            </a:r>
            <a:endParaRPr lang="en-US" sz="1000" dirty="0"/>
          </a:p>
        </p:txBody>
      </p:sp>
      <p:sp>
        <p:nvSpPr>
          <p:cNvPr id="41" name="tbl TH_PM_SMLT_CAST_LOG"/>
          <p:cNvSpPr/>
          <p:nvPr/>
        </p:nvSpPr>
        <p:spPr>
          <a:xfrm>
            <a:off x="6446520" y="3246120"/>
            <a:ext cx="2971800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2" name="hdr TH_PM_SMLT_CAST_LOG"/>
          <p:cNvSpPr/>
          <p:nvPr/>
        </p:nvSpPr>
        <p:spPr>
          <a:xfrm>
            <a:off x="6446520" y="3246120"/>
            <a:ext cx="2971800" cy="457200"/>
          </a:xfrm>
          <a:prstGeom prst="rect">
            <a:avLst/>
          </a:prstGeom>
          <a:solidFill>
            <a:schemeClr val="tx1">
              <a:alpha val="2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10528" y="3282696"/>
            <a:ext cx="2843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TH_PM_SMLT_CAST_LOG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510528" y="3483864"/>
            <a:ext cx="2843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CAST API 로그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967728" y="3739896"/>
            <a:ext cx="238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CAST_API_TYPE_CD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967728" y="3922776"/>
            <a:ext cx="238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CAST_LOG_TYPE_CD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967728" y="4105656"/>
            <a:ext cx="238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LOG_CN · FRST_REG_DT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 flipV="1">
            <a:off x="7932420" y="2633472"/>
            <a:ext cx="0" cy="61264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7978140" y="302666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7978140" y="26517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51" name="tbl TH_PM_DW_DEL_KEY_HSTRY"/>
          <p:cNvSpPr/>
          <p:nvPr/>
        </p:nvSpPr>
        <p:spPr>
          <a:xfrm>
            <a:off x="9601200" y="1737360"/>
            <a:ext cx="2057400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2" name="hdr TH_PM_DW_DEL_KEY_HSTRY"/>
          <p:cNvSpPr/>
          <p:nvPr/>
        </p:nvSpPr>
        <p:spPr>
          <a:xfrm>
            <a:off x="9601200" y="1737360"/>
            <a:ext cx="2057400" cy="457200"/>
          </a:xfrm>
          <a:prstGeom prst="rect">
            <a:avLst/>
          </a:prstGeom>
          <a:solidFill>
            <a:schemeClr val="tx1">
              <a:alpha val="2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665208" y="1773936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TH_PM_DW_DEL_KEY_HSTRY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665208" y="1975104"/>
            <a:ext cx="1929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DW 삭제 키 이력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9665208" y="22311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10122408" y="2231136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DEL_YMD · TBL_NM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9665208" y="24140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PK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10122408" y="2414016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DEL_SN</a:t>
            </a:r>
            <a:endParaRPr lang="en-US" sz="1000" dirty="0"/>
          </a:p>
        </p:txBody>
      </p:sp>
      <p:sp>
        <p:nvSpPr>
          <p:cNvPr id="59" name="tbl DROP_TMP"/>
          <p:cNvSpPr/>
          <p:nvPr/>
        </p:nvSpPr>
        <p:spPr>
          <a:xfrm>
            <a:off x="9601200" y="3246120"/>
            <a:ext cx="2057400" cy="7132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0" name="hdr DROP_TMP"/>
          <p:cNvSpPr/>
          <p:nvPr/>
        </p:nvSpPr>
        <p:spPr>
          <a:xfrm>
            <a:off x="9601200" y="3246120"/>
            <a:ext cx="2057400" cy="457200"/>
          </a:xfrm>
          <a:prstGeom prst="rect">
            <a:avLst/>
          </a:prstGeom>
          <a:solidFill>
            <a:schemeClr val="tx1">
              <a:alpha val="2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665208" y="3282696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DROP_TMP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9665208" y="3483864"/>
            <a:ext cx="1929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보정 기준일 임시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10122408" y="3739896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BASE_DT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446520" y="457200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시퀀스 (참고)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SQ1_TN_PM_SMLT_RSLT → 공통 SMLT_ID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SQ1_TN_PM_SMLT_ATRB_APLY → APLY_SN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SQ1_TN_PM_SMLT_ATRB_APLY_SET → APLY_SET_SN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SQ1_TH_PX_DW_DEL_KEY_VAL_HST → DEL_SN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87552" y="6464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키 관계 (PK 컬럼 상속 · FK)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200400" y="6565392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68" name="Text 66"/>
          <p:cNvSpPr txBox="1"/>
          <p:nvPr/>
        </p:nvSpPr>
        <p:spPr>
          <a:xfrm>
            <a:off x="3730752" y="6464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값 참조 (키·제약 없음)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5577840" y="64648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 / N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관계 차수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[FK]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DDL FK 제약   </a:t>
            </a:r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점선 박스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다른 그룹 테이블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부록 — 테이블 목록 (1/3)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사용 패키지: cast = aoms.pm.cast 매퍼, castapi = aoms.pm.castapi 매퍼.  * = DDL 미보유 (매퍼 사용 컬럼만 확인)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06040"/>
                <a:gridCol w="4206240"/>
                <a:gridCol w="2724912"/>
                <a:gridCol w="594360"/>
                <a:gridCol w="685800"/>
              </a:tblGrid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그룹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테이블명 (PMOWN.)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용도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cast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castapi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① 시뮬레이션 실행·결과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TN_PM_SMLT_USER_MSTR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사용자 실행 요청 (WhatIf)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① 시뮬레이션 실행·결과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TN_PM_SMLT_STNG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시뮬레이션 설정 (실행·모델별)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① 시뮬레이션 실행·결과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TN_PM_SMLT_RSLT_DTL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시뮬레이션 결과 상세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① 시뮬레이션 실행·결과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TN_PM_SMLT_RSLT_DTL_REG_EXCL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결과 미매핑 시설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① 시뮬레이션 실행·결과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TN_PM_SMLT_FCLT_WTNG_RSLT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시설 10분 대기 결과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① 시뮬레이션 실행·결과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TN_PM_SMLT_MDL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시뮬레이션 모델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① 시뮬레이션 실행·결과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TN_PM_PSG_MNG_ATFL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첨부파일 (모델 파일)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① 시뮬레이션 실행·결과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TN_PM_SMLT_PSG_FCLT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여객 시설 코드 (계층)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② 사용자 시뮬레이션 현재상태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TN_PM_SMLT_USER_CHKN_ISL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사용자 체크인 아일랜드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② 사용자 시뮬레이션 현재상태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TN_PM_SMLT_USER_CHKN_OPER_HR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사용자 체크인 운영시간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② 사용자 시뮬레이션 현재상태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TN_PM_SMLT_USER_CHKN_BOOTH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사용자 체크인 부스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② 사용자 시뮬레이션 현재상태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TN_PM_SMLT_USER_DPTGT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사용자 출국장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② 사용자 시뮬레이션 현재상태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TN_PM_SMLT_USER_DPTGT_OPER_HR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사용자 출국장 운영시간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② 사용자 시뮬레이션 현재상태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TN_PM_SMLT_USER_FLT_PSG_AJMT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사용자 운항여객 조정률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③ CAST 리소스 – 운항·체크인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TN_PM_SMLT_SCHDL_MSTR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운항스케줄 (FS) 마스터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③ CAST 리소스 – 운항·체크인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TN_PM_SMLT_SCHDL_ATRB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운항스케줄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③ CAST 리소스 – 운항·체크인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TN_PM_SMLT_CKNCT_MSTR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체크인카운터 배정 (CA) 마스터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③ CAST 리소스 – 운항·체크인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TN_PM_SMLT_CKNCT_ATRB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체크인카운터 배정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③ CAST 리소스 – 운항·체크인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TN_PM_SMLT_SBD_MSTR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셀프백드롭 배정 (SBD) 마스터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③ CAST 리소스 – 운항·체크인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TN_PM_SMLT_SBD_ATRB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셀프백드롭 배정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부록 — 테이블 목록 (2/3)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사용 패키지: cast = aoms.pm.cast 매퍼, castapi = aoms.pm.castapi 매퍼.  * = DDL 미보유 (매퍼 사용 컬럼만 확인)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06040"/>
                <a:gridCol w="4206240"/>
                <a:gridCol w="2724912"/>
                <a:gridCol w="594360"/>
                <a:gridCol w="685800"/>
              </a:tblGrid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그룹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테이블명 (PMOWN.)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용도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cast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castapi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③ CAST 리소스 – 운항·체크인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TN_PM_SMLT_CKNCT_SRVC_MSTR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체크인 서비스시간 마스터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③ CAST 리소스 – 운항·체크인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TN_PM_SMLT_CKNCT_SRVC_ATRB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체크인 서비스시간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③ CAST 리소스 – 운항·체크인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TN_PM_SMLT_CKNCT_TYPE_MSTR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체크인 유형 마스터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③ CAST 리소스 – 운항·체크인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TN_PM_SMLT_CKNCT_TYPE_ATRB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체크인 유형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④ CAST 리소스 – 시설 운영표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TN_PM_SMLT_FCLTY_OPNG_DPTGT_MSTR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출국장 운영표 마스터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④ CAST 리소스 – 시설 운영표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TN_PM_SMLT_FCLTY_OPNG_DPTGT_ATRB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출국장 운영표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④ CAST 리소스 – 시설 운영표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TN_PM_SMLT_FCLTY_OPNG_DPTCNY_MSTR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출국심사 운영표 마스터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④ CAST 리소스 – 시설 운영표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TN_PM_SMLT_FCLTY_OPNG_DPTCNY_ATRB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출국심사 운영표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④ CAST 리소스 – 시설 운영표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TN_PM_SMLT_FCLTY_OPNG_ENTCNY_MSTR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입국심사 운영표 마스터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④ CAST 리소스 – 시설 운영표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TN_PM_SMLT_FCLTY_OPNG_ENTCNY_ATRB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입국심사 운영표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④ CAST 리소스 – 시설 운영표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TN_PM_SMLT_FCLTY_OPNG_SCRTY_CNTRL_MSTR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보안검색 운영표 마스터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④ CAST 리소스 – 시설 운영표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TN_PM_SMLT_FCLTY_OPNG_SCRTY_CNTRL_ATRB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보안검색 운영표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④ CAST 리소스 – 시설 운영표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TN_PM_SMLT_FCLTY_OPNG_TRNST_SCRTY_CNTRL_MSTR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환승보안검색 운영표 마스터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④ CAST 리소스 – 시설 운영표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TN_PM_SMLT_FCLTY_OPNG_TRNST_SCRTY_CNTRL_ATRB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환승보안검색 운영표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④ CAST 리소스 – 시설 운영표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TN_PM_SMLT_RPT_STNG_HR_GROUP_MSTR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리포팅 시간대 그룹 마스터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④ CAST 리소스 – 시설 운영표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TN_PM_SMLT_RPT_STNG_HR_GROUP_ATRB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리포팅 시간대 그룹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⑤ PropertySet 속성그룹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TN_PM_SMLT_FIX_ATRB_GROUP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속성그룹 (PropertySet · 카테고리)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⑤ PropertySet 속성그룹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TN_PM_SMLT_PSG_ATRB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여객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⑤ PropertySet 속성그룹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TN_PM_SMLT_SHOW_UP_ATRB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쇼업(출현)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⑤ PropertySet 속성그룹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TN_PM_SMLT_SRVC_ATRB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시설 서비스 속성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부록 — 테이블 목록 (3/3)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사용 패키지: cast = aoms.pm.cast 매퍼, castapi = aoms.pm.castapi 매퍼.  * = DDL 미보유 (매퍼 사용 컬럼만 확인)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06040"/>
                <a:gridCol w="4206240"/>
                <a:gridCol w="2724912"/>
                <a:gridCol w="594360"/>
                <a:gridCol w="685800"/>
              </a:tblGrid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그룹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테이블명 (PMOWN.)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용도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cast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castapi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⑤ PropertySet 속성그룹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TN_PM_SMLT_PSG_FIX_PARA_CD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여객 고정 파라미터 코드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⑤ PropertySet 속성그룹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TN_PM_SMLT_PSG_SRVC_PARA_CD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서비스 파라미터 코드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⑥ 속성 적용 이력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TH_PM_SMLT_ATRB_APLY_SET_HSTRY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속성 적용 세트 이력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⑥ 속성 적용 이력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TH_PM_SMLT_ATRB_APLY_HSTRY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속성 적용 이력 (시트별)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⑥ 속성 적용 이력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TH_PM_SMLT_ATRB_APLY_HSTRY_DTL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속성 적용 이력 상세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⑦ 운영 기준정보·정책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TN_PM_ENTGT_DPTGT_OPER_HR_INFO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입출국장 운영시간 마스터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47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⑦ 운영 기준정보·정책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TN_PM_ENTGT_DPTGT_OPER_HR_ELMNT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입출국장 운영시간 구성요소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⑦ 운영 기준정보·정책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TN_PM_ENTGT_DPTGT_OPER_HR_MNG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입출국장 운영시간 관리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⑦ 운영 기준정보·정책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TN_PM_SLF_CHKN_OPER_PLCY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셀프체크인 운영정책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⑦ 운영 기준정보·정책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TN_PM_SBD_OPER_PLCY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셀프백드롭 운영정책 *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⑦ 운영 기준정보·정책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TN_PM_PSG_PRCS_GRD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혼잡등급 기준 *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52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⑧ 실측·실적 데이터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TN_PM_BDPSG_ANCE_RSLT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탑승객 예고 결과 *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53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⑧ 실측·실적 데이터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TN_PM_PSG_DPTCNY_TRNS_PRFMNC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출국 여객 처리 실적 *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⑧ 실측·실적 데이터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TN_PM_PSG_WTNG_INFO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여객 대기 정보 (실측) *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⑨ 로그·시스템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TN_PM_SMLT_CAST_LOG_STNG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CAST API 로그 설정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⑨ 로그·시스템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TH_PM_SMLT_CAST_LOG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CAST API 로그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⑨ 로그·시스템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TH_PM_DW_DEL_KEY_HSTRY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DW 삭제 키 이력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58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⑨ 로그·시스템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DROP_TMP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보정 기준일 임시 *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부록 — TN_PM_SMLT_USER_MSTR (1/2)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PM_시뮬레이션사용자마스터 · 총 28컬럼 (1~14) | NULL: Y 허용 / N 불가 | DDL 2026-10-26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4480560"/>
        </p:xfrm>
        <a:graphic>
          <a:graphicData uri="http://schemas.openxmlformats.org/drawingml/2006/table">
            <a:tbl>
              <a:tblPr/>
              <a:tblGrid>
                <a:gridCol w="384048"/>
                <a:gridCol w="3337560"/>
                <a:gridCol w="1234440"/>
                <a:gridCol w="502920"/>
                <a:gridCol w="502920"/>
                <a:gridCol w="5312664"/>
              </a:tblGrid>
              <a:tr h="256032">
                <a:tc>
                  <a:txBody>
                    <a:bodyPr/>
                    <a:lstStyle/>
                    <a:p>
                      <a:pPr indent="0" marL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컬럼명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타입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키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Comment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SMLT_REQ_ID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시뮬레이션실행요청아이디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SMLT_ID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VARCHAR2(8)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UK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시뮬레이션아이디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EXCN_YMD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VARCHAR2(8)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실행연월일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MDL_RSRC_ID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모델리소스아이디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FLT_SCHDL_RSRC_ID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항공편스케줄리소스아이디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CKNCT_ALCTN_RSRC_ID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체크인카운터배정리소스아이디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SBD_CNTRL_ALCTN_ID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탑승구관리배정아이디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PRPT_STNG_RSRC_ID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속성설정리소스아이디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FCLTY_OPNG_DPTCNY_SRNG_RSRC_ID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시설물운영출국심사리소스아이디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FCLTY_OPNG_DPTCNY_RSRC_ID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시설물운영출국리소스아이디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FCLTY_OPNG_ENTCNY_RSRC_ID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시설물운영입국리소스아이디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FCLTY_OPNG_SCRTY_CNTRL_RSRC_ID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시설물운영보안검색리소스아이디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FCLTY_OPNG_TR_SCRTY_CNTRL_RSRC_ID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시설물운영환승보안검색리소스아이디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CKNCT_SRVC_HR_RSRC_ID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체크인카운터서비스시간리소스아이디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부록 — TN_PM_SMLT_USER_MSTR (2/2)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PM_시뮬레이션사용자마스터 · 총 28컬럼 (15~28) | NULL: Y 허용 / N 불가 | DDL 2026-10-26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4480560"/>
        </p:xfrm>
        <a:graphic>
          <a:graphicData uri="http://schemas.openxmlformats.org/drawingml/2006/table">
            <a:tbl>
              <a:tblPr/>
              <a:tblGrid>
                <a:gridCol w="384048"/>
                <a:gridCol w="3337560"/>
                <a:gridCol w="1234440"/>
                <a:gridCol w="502920"/>
                <a:gridCol w="502920"/>
                <a:gridCol w="5312664"/>
              </a:tblGrid>
              <a:tr h="256032">
                <a:tc>
                  <a:txBody>
                    <a:bodyPr/>
                    <a:lstStyle/>
                    <a:p>
                      <a:pPr indent="0" marL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컬럼명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타입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키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Comment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CKNCT_TYPE_CNTRL_RSRC_ID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체크인카운터유형관리리소스아이디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CHKN_TYPE_RSRC_ID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체크인유형리소스아이디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RPT_STNG_ATRB_ID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근접시간대그룹속성ID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SMLT_STTS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VARCHAR2(20)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시뮬레이션상태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QUEUE_DT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TIMESTAMP(6)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대기등록일시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EXCT_DT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TIMESTAMP(6)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실행일시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END_DT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TIMESTAMP(6)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종료일시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ERR_MSG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VARCHAR2(1000)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오류메시지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FRST_RGTR_ID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VARCHAR2(40)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최초등록자아이디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FRST_RGTR_IP_ADDR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VARCHAR2(40)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최초등록자IP주소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FRST_REG_DT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TIMESTAMP(6)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최초등록일시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LAST_MDFR_ID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VARCHAR2(40)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최종수정자아이디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LAST_MDFR_IP_ADDR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VARCHAR2(40)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최종수정자IP주소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LAST_MDFCN_DT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TIMESTAMP(6)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최종수정일시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부록 — TN_PM_SMLT_FCLT_WTNG_RSLT (1/2)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PM_시뮬레이션시설대기결과 · 총 25컬럼 (1~13) | NULL: Y 허용 / N 불가 | DDL 2026-10-26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4178808"/>
        </p:xfrm>
        <a:graphic>
          <a:graphicData uri="http://schemas.openxmlformats.org/drawingml/2006/table">
            <a:tbl>
              <a:tblPr/>
              <a:tblGrid>
                <a:gridCol w="384048"/>
                <a:gridCol w="3337560"/>
                <a:gridCol w="1234440"/>
                <a:gridCol w="502920"/>
                <a:gridCol w="502920"/>
                <a:gridCol w="5312664"/>
              </a:tblGrid>
              <a:tr h="256032">
                <a:tc>
                  <a:txBody>
                    <a:bodyPr/>
                    <a:lstStyle/>
                    <a:p>
                      <a:pPr indent="0" marL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컬럼명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타입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키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Comment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SMLT_ID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VARCHAR2(8)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PK,FK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시뮬레이션아이디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SMLT_MDL_SN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NUMBER(5,0)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PK,FK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시뮬레이션모델일련번호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TMNL_ID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VARCHAR2(3)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터미널아이디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FCLT_TYPE_CD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VARCHAR2(4)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시설유형코드(CHKN:CC공용큐,DEP:SC및SR합산)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FCLT_UNIT_CD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VARCHAR2(8)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시설단위코드(체크인:아일랜드,출국장:출국장코드)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SEC_BGNG_DT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TIMESTAMP(0)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구간시작일시(Asia/Seoul,포함)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END_WTNG_PSG_CNT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NUMBER(12,0)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종료대기여객수(NULL:미확인)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PRCS_PSG_CNT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NUMBER(12,0)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처리여객수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WTNG_PSEC_SUM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NUMBER(12,0)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대기초단위합계(유효처리여객대기시간합,초)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WTNG_VLD_PSG_CNT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NUMBER(12,0)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대기유효여객수(대기시간합계분모)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PRCS_PSEC_SUM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NUMBER(12,0)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처리초단위합계(유효여객처리시간합,초)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PRCS_VLD_PSG_CNT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NUMBER(12,0)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처리유효여객수(처리시간합계분모)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WTNG_PSG_CNT_SUM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NUMBER(12,0)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대기여객수합계(큐표본값합,누적여객수아님)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부록 — TN_PM_SMLT_FCLT_WTNG_RSLT (2/2)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PM_시뮬레이션시설대기결과 · 총 25컬럼 (14~25) | NULL: Y 허용 / N 불가 | DDL 2026-10-26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3877056"/>
        </p:xfrm>
        <a:graphic>
          <a:graphicData uri="http://schemas.openxmlformats.org/drawingml/2006/table">
            <a:tbl>
              <a:tblPr/>
              <a:tblGrid>
                <a:gridCol w="384048"/>
                <a:gridCol w="3337560"/>
                <a:gridCol w="1234440"/>
                <a:gridCol w="502920"/>
                <a:gridCol w="502920"/>
                <a:gridCol w="5312664"/>
              </a:tblGrid>
              <a:tr h="256032">
                <a:tc>
                  <a:txBody>
                    <a:bodyPr/>
                    <a:lstStyle/>
                    <a:p>
                      <a:pPr indent="0" marL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컬럼명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타입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키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Comment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WTNG_NOCS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NUMBER(2,0)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대기건수(큐표본수,CHKN:최대10,DEP:최대1)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MAX_WTNG_PSG_CNT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NUMBER(12,0)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최대대기여객수(보존표본최대값)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END_OPER_CNTOM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NUMBER(12,0)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종료운영대수(구간마지막분적용수량,NULL:미확인)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PRCS_CPCT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NUMBER(12,0)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처리수용량(CHKN:10분처리용량합,DEP:NULL)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PRCS_VLD_OPER_CNTOM_SUM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NUMBER(12,0)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처리유효운영대수합계(CHKN:분별처리용량양수인분운영대수합,대분)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OBSRVN_YN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VARCHAR2(1)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관측여부(Y:10분전체관측,N:부분또는미관측)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FRST_RGTR_ID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VARCHAR2(40)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최초등록자아이디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FRST_RGTR_IP_ADDR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VARCHAR2(23)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최초등록자IP주소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FRST_REG_DT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TIMESTAMP(6)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최초등록일시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LAST_MDFR_ID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VARCHAR2(40)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최종수정자아이디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LAST_MDFR_IP_ADDR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VARCHAR2(23)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최종수정자IP주소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LAST_MDFCN_DT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TIMESTAMP(6)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최종수정일시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M ERD">
  <a:themeElements>
    <a:clrScheme name="PM ERD">
      <a:dk1>
        <a:srgbClr val="222222"/>
      </a:dk1>
      <a:lt1>
        <a:srgbClr val="FFFFFF"/>
      </a:lt1>
      <a:dk2>
        <a:srgbClr val="44546A"/>
      </a:dk2>
      <a:lt2>
        <a:srgbClr val="F2F2F2"/>
      </a:lt2>
      <a:accent1>
        <a:srgbClr val="4472C4"/>
      </a:accent1>
      <a:accent2>
        <a:srgbClr val="70AD47"/>
      </a:accent2>
      <a:accent3>
        <a:srgbClr val="ED7D31"/>
      </a:accent3>
      <a:accent4>
        <a:srgbClr val="FFC000"/>
      </a:accent4>
      <a:accent5>
        <a:srgbClr val="7E57C2"/>
      </a:accent5>
      <a:accent6>
        <a:srgbClr val="C0504D"/>
      </a:accent6>
      <a:hlink>
        <a:srgbClr val="0563C1"/>
      </a:hlink>
      <a:folHlink>
        <a:srgbClr val="954F72"/>
      </a:folHlink>
    </a:clrScheme>
    <a:fontScheme name="PM ERD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부록 — TN_PM_SMLT_USER_MSTR (1/2)</vt:lpstr>
      <vt:lpstr>부록 — TN_PM_SMLT_USER_MSTR (2/2)</vt:lpstr>
      <vt:lpstr>부록 — TN_PM_SMLT_FCLT_WTNG_RSLT (1/2)</vt:lpstr>
      <vt:lpstr>부록 — TN_PM_SMLT_FCLT_WTNG_RSLT (2/2)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PMOWN 테이블 ERD</dc:title>
  <dc:subject>PptxGenJS Presentation</dc:subject>
  <dc:creator>PptxGenJS</dc:creator>
  <cp:lastModifiedBy>PptxGenJS</cp:lastModifiedBy>
  <cp:revision>1</cp:revision>
  <dcterms:created xsi:type="dcterms:W3CDTF">2026-10-25T12:47:33Z</dcterms:created>
  <dcterms:modified xsi:type="dcterms:W3CDTF">2026-10-25T12:47:33Z</dcterms:modified>
</cp:coreProperties>
</file>